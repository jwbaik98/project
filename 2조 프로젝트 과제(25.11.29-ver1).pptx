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81" r:id="rId2"/>
    <p:sldId id="256" r:id="rId3"/>
    <p:sldId id="257" r:id="rId4"/>
    <p:sldId id="258" r:id="rId5"/>
    <p:sldId id="279" r:id="rId6"/>
    <p:sldId id="259" r:id="rId7"/>
    <p:sldId id="260" r:id="rId8"/>
    <p:sldId id="261" r:id="rId9"/>
    <p:sldId id="262" r:id="rId10"/>
    <p:sldId id="280" r:id="rId11"/>
    <p:sldId id="264" r:id="rId12"/>
    <p:sldId id="265" r:id="rId13"/>
    <p:sldId id="266" r:id="rId14"/>
    <p:sldId id="263" r:id="rId15"/>
    <p:sldId id="267" r:id="rId16"/>
    <p:sldId id="268" r:id="rId17"/>
    <p:sldId id="269" r:id="rId18"/>
    <p:sldId id="270" r:id="rId19"/>
    <p:sldId id="272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E6EEE3"/>
    <a:srgbClr val="95B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6B-4214-95B7-5E5E63C36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base</c:v>
                </c:pt>
                <c:pt idx="1">
                  <c:v>index</c:v>
                </c:pt>
                <c:pt idx="2">
                  <c:v>register</c:v>
                </c:pt>
                <c:pt idx="3">
                  <c:v>login</c:v>
                </c:pt>
                <c:pt idx="4">
                  <c:v>cart</c:v>
                </c:pt>
                <c:pt idx="5">
                  <c:v>product</c:v>
                </c:pt>
                <c:pt idx="6">
                  <c:v>checkout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4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E0-47D3-9CFB-C144942E9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5B7A1-F27C-4F97-A3C4-EF92E3293E7C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10F4BF-B131-4CA0-A505-78F72BC462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39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10F4BF-B131-4CA0-A505-78F72BC4623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96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3D8DF94-25AE-BD02-89DA-5709572D8F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F691E6F-673E-E79A-545C-5206BEDF69CC}"/>
              </a:ext>
            </a:extLst>
          </p:cNvPr>
          <p:cNvCxnSpPr>
            <a:cxnSpLocks/>
          </p:cNvCxnSpPr>
          <p:nvPr/>
        </p:nvCxnSpPr>
        <p:spPr>
          <a:xfrm>
            <a:off x="372670" y="3893172"/>
            <a:ext cx="7927268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ECE118-7D51-63D5-79E3-8454280254E7}"/>
              </a:ext>
            </a:extLst>
          </p:cNvPr>
          <p:cNvSpPr txBox="1"/>
          <p:nvPr/>
        </p:nvSpPr>
        <p:spPr>
          <a:xfrm>
            <a:off x="465221" y="1373833"/>
            <a:ext cx="7792518" cy="243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조 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SW </a:t>
            </a:r>
            <a:r>
              <a:rPr lang="ko-KR" altLang="en-US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테스팅 프로젝트</a:t>
            </a:r>
            <a:endParaRPr lang="en-US" altLang="ko-KR" sz="5500" b="1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(</a:t>
            </a:r>
            <a:r>
              <a:rPr lang="en-US" altLang="ko-KR" sz="5500" b="1" spc="-150" dirty="0" err="1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lang="en-US" altLang="ko-KR" sz="5500" b="1" spc="-15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)</a:t>
            </a:r>
            <a:endParaRPr lang="ko-KR" altLang="en-US" sz="5500" spc="-150" dirty="0"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09190-4A3F-9DD5-342B-CF3C30F3DC81}"/>
              </a:ext>
            </a:extLst>
          </p:cNvPr>
          <p:cNvSpPr txBox="1"/>
          <p:nvPr/>
        </p:nvSpPr>
        <p:spPr>
          <a:xfrm>
            <a:off x="6696221" y="4224956"/>
            <a:ext cx="2419643" cy="2326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백종우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조장</a:t>
            </a:r>
            <a:r>
              <a:rPr lang="en-US" altLang="ko-KR" sz="2500" b="1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박서아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>
                <a:solidFill>
                  <a:schemeClr val="bg1"/>
                </a:solidFill>
                <a:latin typeface="+mj-ea"/>
                <a:ea typeface="+mj-ea"/>
              </a:rPr>
              <a:t>안재원</a:t>
            </a:r>
            <a:endParaRPr lang="en-US" altLang="ko-KR" sz="25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2500" b="1" dirty="0" err="1">
                <a:solidFill>
                  <a:schemeClr val="bg1"/>
                </a:solidFill>
                <a:latin typeface="+mj-ea"/>
                <a:ea typeface="+mj-ea"/>
              </a:rPr>
              <a:t>오예림</a:t>
            </a:r>
            <a:endParaRPr lang="ko-KR" altLang="en-US" sz="25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17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91B532A-E7ED-E6A6-5ED0-8606627AF0D0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238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Catshop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E2E Test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lang="en-US" dirty="0" err="1"/>
              <a:t>P</a:t>
            </a:r>
            <a:r>
              <a:rPr dirty="0" err="1"/>
              <a:t>ytest</a:t>
            </a:r>
            <a:r>
              <a:rPr lang="en-US" dirty="0"/>
              <a:t> + selenium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Gradient Startup Template (Clean Ver.)</a:t>
            </a:r>
          </a:p>
          <a:p>
            <a:pPr>
              <a:lnSpc>
                <a:spcPct val="150000"/>
              </a:lnSpc>
              <a:defRPr sz="2000">
                <a:solidFill>
                  <a:srgbClr val="1E1E1E"/>
                </a:solidFill>
              </a:defRPr>
            </a:pPr>
            <a:r>
              <a:rPr dirty="0"/>
              <a:t>Actual UI + Test Case 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C487CF8-9867-B0EE-5351-F288988E2301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21499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프로젝트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개요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ea"/>
                <a:ea typeface="+mj-ea"/>
              </a:rPr>
              <a:t>□ 대상 사이트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 err="1">
                <a:latin typeface="+mj-ea"/>
                <a:ea typeface="+mj-ea"/>
              </a:rPr>
              <a:t>catshop</a:t>
            </a:r>
            <a:r>
              <a:rPr lang="en-US" altLang="ko-KR" dirty="0">
                <a:latin typeface="+mj-ea"/>
                <a:ea typeface="+mj-ea"/>
              </a:rPr>
              <a:t>(local)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목표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실무 수준의 </a:t>
            </a:r>
            <a:r>
              <a:rPr lang="en-US" altLang="ko-KR" dirty="0">
                <a:latin typeface="+mj-ea"/>
                <a:ea typeface="+mj-ea"/>
              </a:rPr>
              <a:t>E2E </a:t>
            </a:r>
            <a:r>
              <a:rPr lang="ko-KR" altLang="en-US" dirty="0">
                <a:latin typeface="+mj-ea"/>
                <a:ea typeface="+mj-ea"/>
              </a:rPr>
              <a:t>자동화 테스트 구축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산출물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테스트 스위트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en-US" altLang="ko-KR" dirty="0" err="1">
                <a:latin typeface="+mj-ea"/>
                <a:ea typeface="+mj-ea"/>
              </a:rPr>
              <a:t>pytest</a:t>
            </a:r>
            <a:r>
              <a:rPr lang="en-US" altLang="ko-KR" dirty="0">
                <a:latin typeface="+mj-ea"/>
                <a:ea typeface="+mj-ea"/>
              </a:rPr>
              <a:t> + Selenium), </a:t>
            </a:r>
            <a:r>
              <a:rPr lang="ko-KR" altLang="en-US" dirty="0">
                <a:latin typeface="+mj-ea"/>
                <a:ea typeface="+mj-ea"/>
              </a:rPr>
              <a:t>테스트 리포트</a:t>
            </a:r>
          </a:p>
          <a:p>
            <a:endParaRPr lang="en-US" altLang="ko-KR" b="1" dirty="0">
              <a:latin typeface="+mj-ea"/>
              <a:ea typeface="+mj-ea"/>
            </a:endParaRPr>
          </a:p>
          <a:p>
            <a:endParaRPr lang="en-US" altLang="ko-KR" b="1" dirty="0">
              <a:latin typeface="+mj-ea"/>
              <a:ea typeface="+mj-ea"/>
            </a:endParaRPr>
          </a:p>
          <a:p>
            <a:r>
              <a:rPr lang="ko-KR" altLang="en-US" b="1" dirty="0">
                <a:latin typeface="+mj-ea"/>
                <a:ea typeface="+mj-ea"/>
              </a:rPr>
              <a:t>□ 프로젝트 기간 </a:t>
            </a:r>
            <a:r>
              <a:rPr lang="en-US" altLang="ko-KR" b="1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2</a:t>
            </a:r>
            <a:r>
              <a:rPr lang="ko-KR" altLang="en-US" dirty="0">
                <a:latin typeface="+mj-ea"/>
                <a:ea typeface="+mj-ea"/>
              </a:rPr>
              <a:t>주 팀 프로젝트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562C942-5DE9-CCF1-D516-02CABC7086EF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43733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2. 팀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구성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역할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(Team Project)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789920" cy="4063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□ 팀장 </a:t>
            </a:r>
            <a:r>
              <a:rPr lang="en-US" altLang="ko-KR" b="1" dirty="0"/>
              <a:t>(Team Lead)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전체 일정 관리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E2E </a:t>
            </a:r>
            <a:r>
              <a:rPr lang="ko-KR" altLang="en-US" dirty="0"/>
              <a:t>테스트 구축 및 운영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   최종 품질 검토</a:t>
            </a:r>
            <a:endParaRPr lang="en-US" altLang="ko-KR" dirty="0"/>
          </a:p>
          <a:p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□ 팀원 </a:t>
            </a:r>
            <a:r>
              <a:rPr lang="en-US" altLang="ko-KR" b="1" dirty="0"/>
              <a:t>(Team Members)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QA1:</a:t>
            </a:r>
            <a:r>
              <a:rPr lang="ko-KR" altLang="en-US" dirty="0"/>
              <a:t> 테스트 케이스 설계</a:t>
            </a:r>
            <a:r>
              <a:rPr lang="en-US" altLang="ko-KR" dirty="0"/>
              <a:t>, </a:t>
            </a:r>
            <a:r>
              <a:rPr lang="ko-KR" altLang="en-US" dirty="0"/>
              <a:t>커버리지 매핑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QA2: </a:t>
            </a:r>
            <a:r>
              <a:rPr lang="ko-KR" altLang="en-US" dirty="0"/>
              <a:t>테스트 아키텍처 및 통합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  QA3:</a:t>
            </a:r>
            <a:r>
              <a:rPr lang="ko-KR" altLang="en-US" dirty="0"/>
              <a:t> 테스트 스크립트 구현</a:t>
            </a:r>
            <a:r>
              <a:rPr lang="en-US" altLang="ko-KR" dirty="0"/>
              <a:t>, </a:t>
            </a:r>
            <a:r>
              <a:rPr lang="ko-KR" altLang="en-US" dirty="0"/>
              <a:t>예외</a:t>
            </a:r>
            <a:r>
              <a:rPr lang="en-US" altLang="ko-KR" dirty="0"/>
              <a:t>·</a:t>
            </a:r>
            <a:r>
              <a:rPr lang="ko-KR" altLang="en-US" dirty="0"/>
              <a:t>실패 케이스 처리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   QA4:</a:t>
            </a:r>
            <a:r>
              <a:rPr lang="ko-KR" altLang="en-US" dirty="0"/>
              <a:t> 결과 분석</a:t>
            </a:r>
            <a:r>
              <a:rPr lang="en-US" altLang="ko-KR" dirty="0"/>
              <a:t>, </a:t>
            </a:r>
            <a:r>
              <a:rPr lang="ko-KR" altLang="en-US" dirty="0"/>
              <a:t>보고서 및 발표 자료 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E5E5C-48C6-7B1F-281B-070F8F836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51EC81-B8E6-FE22-9FCC-CC771D21B5DC}"/>
              </a:ext>
            </a:extLst>
          </p:cNvPr>
          <p:cNvSpPr txBox="1"/>
          <p:nvPr/>
        </p:nvSpPr>
        <p:spPr>
          <a:xfrm>
            <a:off x="640080" y="274320"/>
            <a:ext cx="342112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786B61F-F921-0909-0B30-933B95B69892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12DA42-FA05-E286-3EA3-644C724F4CC4}"/>
              </a:ext>
            </a:extLst>
          </p:cNvPr>
          <p:cNvSpPr txBox="1"/>
          <p:nvPr/>
        </p:nvSpPr>
        <p:spPr>
          <a:xfrm>
            <a:off x="1062182" y="1280160"/>
            <a:ext cx="737061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lphaUcPeriod"/>
            </a:pPr>
            <a:r>
              <a:rPr lang="ko-KR" altLang="en-US" b="1" dirty="0"/>
              <a:t>베이스</a:t>
            </a:r>
            <a:r>
              <a:rPr lang="en-US" altLang="ko-KR" b="1" dirty="0"/>
              <a:t>(base)</a:t>
            </a:r>
          </a:p>
          <a:p>
            <a:r>
              <a:rPr lang="ko-KR" altLang="en-US" dirty="0"/>
              <a:t>메뉴</a:t>
            </a:r>
            <a:r>
              <a:rPr lang="en-US" altLang="ko-KR" dirty="0"/>
              <a:t>(Home, Cart(0), Login, Sing Up)</a:t>
            </a:r>
          </a:p>
          <a:p>
            <a:r>
              <a:rPr lang="ko-KR" altLang="en-US" dirty="0"/>
              <a:t>사용자 </a:t>
            </a:r>
            <a:r>
              <a:rPr lang="ko-KR" altLang="en-US" dirty="0" err="1"/>
              <a:t>상태창</a:t>
            </a:r>
            <a:r>
              <a:rPr lang="en-US" altLang="ko-KR" dirty="0"/>
              <a:t>(</a:t>
            </a:r>
            <a:r>
              <a:rPr lang="ko-KR" altLang="en-US" dirty="0"/>
              <a:t>집사</a:t>
            </a:r>
            <a:r>
              <a:rPr lang="en-US" altLang="ko-KR" dirty="0"/>
              <a:t>, username)</a:t>
            </a:r>
          </a:p>
          <a:p>
            <a:r>
              <a:rPr lang="ko-KR" altLang="en-US" dirty="0"/>
              <a:t>로그아웃 버튼</a:t>
            </a:r>
            <a:endParaRPr lang="en-US" altLang="ko-KR" dirty="0"/>
          </a:p>
          <a:p>
            <a:endParaRPr lang="en-US" altLang="ko-KR" b="1" dirty="0"/>
          </a:p>
          <a:p>
            <a:pPr marL="342900" indent="-342900">
              <a:buAutoNum type="alphaUcPeriod" startAt="2"/>
            </a:pPr>
            <a:r>
              <a:rPr lang="ko-KR" altLang="en-US" b="1" dirty="0"/>
              <a:t>인덱스</a:t>
            </a:r>
            <a:r>
              <a:rPr lang="en-US" altLang="ko-KR" b="1" dirty="0"/>
              <a:t>(index)</a:t>
            </a:r>
          </a:p>
          <a:p>
            <a:r>
              <a:rPr lang="ko-KR" altLang="en-US" dirty="0"/>
              <a:t>상품</a:t>
            </a:r>
            <a:r>
              <a:rPr lang="en-US" altLang="ko-KR" dirty="0"/>
              <a:t> </a:t>
            </a:r>
            <a:r>
              <a:rPr lang="ko-KR" altLang="en-US" dirty="0"/>
              <a:t>목록</a:t>
            </a:r>
            <a:endParaRPr lang="en-US" altLang="ko-KR" dirty="0"/>
          </a:p>
          <a:p>
            <a:r>
              <a:rPr lang="ko-KR" altLang="en-US" dirty="0"/>
              <a:t>장바구니 추가</a:t>
            </a:r>
            <a:r>
              <a:rPr lang="en-US" altLang="ko-KR" dirty="0"/>
              <a:t>/</a:t>
            </a:r>
            <a:r>
              <a:rPr lang="ko-KR" altLang="en-US" dirty="0"/>
              <a:t>제거 버튼</a:t>
            </a:r>
          </a:p>
          <a:p>
            <a:endParaRPr lang="en-US" altLang="ko-KR" b="1" dirty="0"/>
          </a:p>
          <a:p>
            <a:r>
              <a:rPr lang="en-US" altLang="ko-KR" b="1" dirty="0"/>
              <a:t>C. </a:t>
            </a:r>
            <a:r>
              <a:rPr lang="ko-KR" altLang="en-US" b="1" dirty="0"/>
              <a:t>상품 상세페이지</a:t>
            </a:r>
            <a:r>
              <a:rPr lang="en-US" altLang="ko-KR" b="1" dirty="0"/>
              <a:t>(</a:t>
            </a:r>
            <a:r>
              <a:rPr lang="en-US" altLang="ko-KR" b="1" dirty="0" err="1"/>
              <a:t>product_detail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 </a:t>
            </a:r>
            <a:r>
              <a:rPr lang="ko-KR" altLang="en-US" dirty="0"/>
              <a:t>단일상품의 상세정보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장바구니 버튼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D. </a:t>
            </a:r>
            <a:r>
              <a:rPr lang="ko-KR" altLang="en-US" b="1" dirty="0"/>
              <a:t>장바구니페이지</a:t>
            </a:r>
            <a:r>
              <a:rPr lang="en-US" altLang="ko-KR" b="1" dirty="0"/>
              <a:t>(cart)</a:t>
            </a:r>
          </a:p>
          <a:p>
            <a:r>
              <a:rPr lang="ko-KR" altLang="en-US" dirty="0"/>
              <a:t> 장바구니에 담긴 상품 목록 및 합계 표시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제거</a:t>
            </a:r>
            <a:r>
              <a:rPr lang="en-US" altLang="ko-KR" dirty="0"/>
              <a:t>, </a:t>
            </a:r>
            <a:r>
              <a:rPr lang="ko-KR" altLang="en-US" dirty="0" err="1"/>
              <a:t>쇼핑계속하기</a:t>
            </a:r>
            <a:r>
              <a:rPr lang="en-US" altLang="ko-KR" dirty="0"/>
              <a:t>, </a:t>
            </a:r>
            <a:r>
              <a:rPr lang="ko-KR" altLang="en-US" dirty="0"/>
              <a:t>결제 버튼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01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36181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범위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(In Scope)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21EF948-79CA-2E9E-638A-50881D7A713A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2182" y="1280160"/>
            <a:ext cx="73706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E. </a:t>
            </a:r>
            <a:r>
              <a:rPr lang="ko-KR" altLang="en-US" b="1" dirty="0"/>
              <a:t>결제</a:t>
            </a:r>
            <a:r>
              <a:rPr lang="en-US" altLang="ko-KR" b="1" dirty="0"/>
              <a:t> </a:t>
            </a:r>
            <a:r>
              <a:rPr lang="ko-KR" altLang="en-US" b="1" dirty="0"/>
              <a:t>페이지</a:t>
            </a:r>
            <a:r>
              <a:rPr lang="en-US" altLang="ko-KR" b="1" dirty="0"/>
              <a:t>(checkout)</a:t>
            </a:r>
          </a:p>
          <a:p>
            <a:r>
              <a:rPr lang="ko-KR" altLang="en-US" dirty="0"/>
              <a:t> 결제정보</a:t>
            </a:r>
            <a:r>
              <a:rPr lang="en-US" altLang="ko-KR" dirty="0"/>
              <a:t>(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전화번호</a:t>
            </a:r>
            <a:r>
              <a:rPr lang="en-US" altLang="ko-KR" dirty="0"/>
              <a:t>, </a:t>
            </a:r>
            <a:r>
              <a:rPr lang="ko-KR" altLang="en-US" dirty="0"/>
              <a:t>주소</a:t>
            </a:r>
            <a:r>
              <a:rPr lang="en-US" altLang="ko-KR" dirty="0"/>
              <a:t>)</a:t>
            </a:r>
            <a:r>
              <a:rPr lang="ko-KR" altLang="en-US" dirty="0"/>
              <a:t> 입력</a:t>
            </a:r>
            <a:endParaRPr lang="en-US" altLang="ko-KR" dirty="0"/>
          </a:p>
          <a:p>
            <a:r>
              <a:rPr lang="ko-KR" altLang="en-US" dirty="0"/>
              <a:t> 결제완료</a:t>
            </a:r>
            <a:r>
              <a:rPr lang="en-US" altLang="ko-KR" dirty="0"/>
              <a:t>, </a:t>
            </a:r>
            <a:r>
              <a:rPr lang="ko-KR" altLang="en-US" dirty="0"/>
              <a:t>취소</a:t>
            </a:r>
            <a:r>
              <a:rPr lang="en-US" altLang="ko-KR" dirty="0"/>
              <a:t>, </a:t>
            </a:r>
            <a:r>
              <a:rPr lang="ko-KR" altLang="en-US" dirty="0"/>
              <a:t>장바구니로 돌아가기 버튼</a:t>
            </a:r>
            <a:endParaRPr lang="en-US" altLang="ko-KR" dirty="0"/>
          </a:p>
          <a:p>
            <a:r>
              <a:rPr lang="ko-KR" altLang="en-US" b="1" dirty="0"/>
              <a:t> </a:t>
            </a:r>
            <a:r>
              <a:rPr lang="ko-KR" altLang="en-US" dirty="0"/>
              <a:t>결제완료시 주문접수 팝업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F. </a:t>
            </a:r>
            <a:r>
              <a:rPr lang="ko-KR" altLang="en-US" b="1" dirty="0"/>
              <a:t>로그인 페이지</a:t>
            </a:r>
            <a:r>
              <a:rPr lang="en-US" altLang="ko-KR" b="1" dirty="0"/>
              <a:t>(login) </a:t>
            </a:r>
          </a:p>
          <a:p>
            <a:r>
              <a:rPr lang="ko-KR" altLang="en-US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login</a:t>
            </a:r>
            <a:r>
              <a:rPr lang="ko-KR" altLang="en-US" dirty="0"/>
              <a:t> 버튼입력</a:t>
            </a:r>
            <a:endParaRPr lang="en-US" altLang="ko-KR" dirty="0"/>
          </a:p>
          <a:p>
            <a:r>
              <a:rPr lang="en-US" altLang="ko-KR" dirty="0"/>
              <a:t> logout</a:t>
            </a:r>
          </a:p>
          <a:p>
            <a:r>
              <a:rPr lang="en-US" altLang="ko-KR" dirty="0"/>
              <a:t> register </a:t>
            </a:r>
            <a:r>
              <a:rPr lang="ko-KR" altLang="en-US" dirty="0"/>
              <a:t>버튼입력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G. </a:t>
            </a:r>
            <a:r>
              <a:rPr lang="ko-KR" altLang="en-US" b="1" dirty="0"/>
              <a:t>회원가입</a:t>
            </a:r>
            <a:r>
              <a:rPr lang="en-US" altLang="ko-KR" b="1" dirty="0"/>
              <a:t>(register)</a:t>
            </a:r>
          </a:p>
          <a:p>
            <a:r>
              <a:rPr lang="en-US" altLang="ko-KR" dirty="0"/>
              <a:t> </a:t>
            </a:r>
            <a:r>
              <a:rPr lang="ko-KR" altLang="en-US" dirty="0" err="1"/>
              <a:t>유저명</a:t>
            </a:r>
            <a:r>
              <a:rPr lang="en-US" altLang="ko-KR" dirty="0"/>
              <a:t>, </a:t>
            </a:r>
            <a:r>
              <a:rPr lang="ko-KR" altLang="en-US" dirty="0"/>
              <a:t>패스워드 입력</a:t>
            </a:r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패스워드 재확인 입력</a:t>
            </a:r>
            <a:endParaRPr lang="en-US" altLang="ko-KR" dirty="0"/>
          </a:p>
          <a:p>
            <a:r>
              <a:rPr lang="en-US" altLang="ko-KR" dirty="0"/>
              <a:t> sign up </a:t>
            </a:r>
            <a:r>
              <a:rPr lang="ko-KR" altLang="en-US" dirty="0"/>
              <a:t>버튼</a:t>
            </a:r>
            <a:endParaRPr lang="en-US" altLang="ko-K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5DCCA428-26A9-85F8-074F-CF8CB2D254D7}"/>
              </a:ext>
            </a:extLst>
          </p:cNvPr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8614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전략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96167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테스트 유형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smoke</a:t>
            </a:r>
            <a:endParaRPr lang="ko-KR" altLang="en-US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회귀 테스트</a:t>
            </a:r>
            <a:r>
              <a:rPr lang="en-US" altLang="ko-KR" b="1" dirty="0"/>
              <a:t>(Regression) :</a:t>
            </a:r>
            <a:r>
              <a:rPr lang="ko-KR" altLang="en-US" dirty="0"/>
              <a:t> 전체 스위트 실행 </a:t>
            </a:r>
            <a:r>
              <a:rPr lang="en-US" altLang="ko-KR" dirty="0"/>
              <a:t>(main push)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네거티브</a:t>
            </a:r>
            <a:r>
              <a:rPr lang="en-US" altLang="ko-KR" b="1" dirty="0"/>
              <a:t>(Negative) :</a:t>
            </a:r>
            <a:r>
              <a:rPr lang="ko-KR" altLang="en-US" dirty="0"/>
              <a:t> 실패</a:t>
            </a:r>
            <a:r>
              <a:rPr lang="en-US" altLang="ko-KR" dirty="0"/>
              <a:t>/</a:t>
            </a:r>
            <a:r>
              <a:rPr lang="ko-KR" altLang="en-US" dirty="0"/>
              <a:t>오류 처리 검증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○ 안정성 규칙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모든 액션 전 </a:t>
            </a:r>
            <a:r>
              <a:rPr lang="en-US" altLang="ko-KR" b="1" dirty="0"/>
              <a:t>Explicit Wait</a:t>
            </a:r>
            <a:r>
              <a:rPr lang="ko-KR" altLang="en-US" dirty="0"/>
              <a:t> 적용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</a:t>
            </a:r>
            <a:r>
              <a:rPr lang="ko-KR" altLang="en-US" dirty="0"/>
              <a:t>실패 시 자동 스크린샷 저장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CI </a:t>
            </a:r>
            <a:r>
              <a:rPr lang="ko-KR" altLang="en-US" dirty="0"/>
              <a:t>환경에서는 </a:t>
            </a:r>
            <a:r>
              <a:rPr lang="en-US" altLang="ko-KR" dirty="0"/>
              <a:t>Selenium Manager </a:t>
            </a:r>
            <a:r>
              <a:rPr lang="ko-KR" altLang="en-US" dirty="0"/>
              <a:t>기반으로 </a:t>
            </a:r>
            <a:r>
              <a:rPr lang="en-US" altLang="ko-KR" dirty="0"/>
              <a:t>Chrome/Driver </a:t>
            </a:r>
            <a:r>
              <a:rPr lang="ko-KR" altLang="en-US" dirty="0"/>
              <a:t>동기화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064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아키텍처</a:t>
            </a:r>
            <a:endParaRPr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49382" y="1097280"/>
            <a:ext cx="8765309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7859222" cy="1702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Service </a:t>
            </a:r>
            <a:r>
              <a:rPr lang="ko-KR" altLang="ko-KR" b="1" dirty="0" err="1">
                <a:latin typeface="Arial" panose="020B0604020202020204" pitchFamily="34" charset="0"/>
              </a:rPr>
              <a:t>Layer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로그인/상품추가 등 반복 동작 공통 처리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Fixtures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브라우저 및 세션 재사용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 err="1">
                <a:latin typeface="Arial" panose="020B0604020202020204" pitchFamily="34" charset="0"/>
              </a:rPr>
              <a:t>Utils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dirty="0">
                <a:latin typeface="Arial" panose="020B0604020202020204" pitchFamily="34" charset="0"/>
              </a:rPr>
              <a:t>공용 </a:t>
            </a:r>
            <a:r>
              <a:rPr lang="ko-KR" altLang="ko-KR" dirty="0" err="1">
                <a:latin typeface="Arial" panose="020B0604020202020204" pitchFamily="34" charset="0"/>
              </a:rPr>
              <a:t>waits</a:t>
            </a:r>
            <a:r>
              <a:rPr lang="ko-KR" altLang="ko-KR" dirty="0">
                <a:latin typeface="Arial" panose="020B0604020202020204" pitchFamily="34" charset="0"/>
              </a:rPr>
              <a:t>, </a:t>
            </a:r>
            <a:r>
              <a:rPr lang="ko-KR" altLang="ko-KR" dirty="0" err="1">
                <a:latin typeface="Arial" panose="020B0604020202020204" pitchFamily="34" charset="0"/>
              </a:rPr>
              <a:t>assertions</a:t>
            </a:r>
            <a:r>
              <a:rPr lang="ko-KR" altLang="ko-KR" dirty="0">
                <a:latin typeface="Arial" panose="020B0604020202020204" pitchFamily="34" charset="0"/>
              </a:rPr>
              <a:t>, 데이터 </a:t>
            </a:r>
            <a:r>
              <a:rPr lang="ko-KR" altLang="ko-KR" dirty="0" err="1">
                <a:latin typeface="Arial" panose="020B0604020202020204" pitchFamily="34" charset="0"/>
              </a:rPr>
              <a:t>생성기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CI 파이프라인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</a:rPr>
              <a:t>pytest</a:t>
            </a:r>
            <a:r>
              <a:rPr lang="en-US" altLang="ko-KR" dirty="0">
                <a:latin typeface="Arial" panose="020B0604020202020204" pitchFamily="34" charset="0"/>
              </a:rPr>
              <a:t> + selenium</a:t>
            </a:r>
            <a:r>
              <a:rPr lang="ko-KR" altLang="ko-KR" dirty="0">
                <a:latin typeface="Arial" panose="020B0604020202020204" pitchFamily="34" charset="0"/>
              </a:rPr>
              <a:t>기반 자동 테스트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65141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베이스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0A5A08C-330E-D71F-87B9-AF5163AAB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540" y="1190546"/>
            <a:ext cx="4416920" cy="4751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23811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9309" y="1097280"/>
            <a:ext cx="9014691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EB1DF0-7D50-B9AE-4191-1F9F9514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626"/>
          <a:stretch/>
        </p:blipFill>
        <p:spPr>
          <a:xfrm>
            <a:off x="193174" y="1874982"/>
            <a:ext cx="8821517" cy="284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집사 회원가입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82" y="1097280"/>
            <a:ext cx="9033163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소프트웨어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31EDEA-5387-B74A-C095-A82E90C2D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877"/>
            <a:ext cx="9144000" cy="3116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장바구니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C55BB73-FEC2-62F0-81DD-106F263A8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232"/>
          <a:stretch/>
        </p:blipFill>
        <p:spPr>
          <a:xfrm>
            <a:off x="238382" y="1736453"/>
            <a:ext cx="8667236" cy="33850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190308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로그아웃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5135" y="1097280"/>
            <a:ext cx="896573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고양잇과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46733FD-7AEF-B6FF-63D4-72D1F85E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232" y="1237944"/>
            <a:ext cx="6887536" cy="4382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48978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정보 입력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3128" y="748145"/>
            <a:ext cx="8931564" cy="5938981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그림 5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482512-3D64-5E06-6BA2-04FAEE04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758" y="1147443"/>
            <a:ext cx="7253632" cy="5087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99152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UI — 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결제 및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주문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완료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4728" y="1097280"/>
            <a:ext cx="8672946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FE1236-7AEF-CB0B-5679-350DCCFCD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70" y="1200713"/>
            <a:ext cx="4717061" cy="473089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58811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6. User Flow with UI Thumbnails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948" y="894080"/>
            <a:ext cx="9070108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1566" y="2868359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로그인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981860" y="2868359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베이스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023342" y="2743760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장바구니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803130" y="5161681"/>
            <a:ext cx="13951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 err="1"/>
              <a:t>체크아웃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964465" y="4917063"/>
            <a:ext cx="2147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주문 완료 페이지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43484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332720" y="0"/>
            <a:ext cx="411480" cy="0"/>
          </a:xfrm>
          <a:prstGeom prst="line">
            <a:avLst/>
          </a:prstGeom>
          <a:ln w="25400">
            <a:solidFill>
              <a:srgbClr val="3C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94D88F-7911-802E-2251-FD1076E7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43" r="38586" b="7718"/>
          <a:stretch/>
        </p:blipFill>
        <p:spPr>
          <a:xfrm>
            <a:off x="271138" y="1505553"/>
            <a:ext cx="1897985" cy="1329088"/>
          </a:xfrm>
          <a:prstGeom prst="rect">
            <a:avLst/>
          </a:prstGeom>
        </p:spPr>
      </p:pic>
      <p:pic>
        <p:nvPicPr>
          <p:cNvPr id="25" name="그림 24" descr="텍스트, 포유류, 고양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741C151-DE47-9EC4-3C07-EBBF3B559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314" y="1315407"/>
            <a:ext cx="1408629" cy="1515245"/>
          </a:xfrm>
          <a:prstGeom prst="rect">
            <a:avLst/>
          </a:prstGeom>
        </p:spPr>
      </p:pic>
      <p:pic>
        <p:nvPicPr>
          <p:cNvPr id="27" name="그림 26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42D0EEC-3E7F-EFBA-D357-D72C6D9DB4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1583" b="9449"/>
          <a:stretch/>
        </p:blipFill>
        <p:spPr>
          <a:xfrm>
            <a:off x="4626512" y="1366146"/>
            <a:ext cx="3653844" cy="1268109"/>
          </a:xfrm>
          <a:prstGeom prst="rect">
            <a:avLst/>
          </a:prstGeom>
        </p:spPr>
      </p:pic>
      <p:pic>
        <p:nvPicPr>
          <p:cNvPr id="29" name="그림 28" descr="텍스트, 스크린샷, 번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69737CC-2C99-2905-E49D-EF710D42F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0130" y="3440659"/>
            <a:ext cx="2231958" cy="1565311"/>
          </a:xfrm>
          <a:prstGeom prst="rect">
            <a:avLst/>
          </a:prstGeom>
        </p:spPr>
      </p:pic>
      <p:pic>
        <p:nvPicPr>
          <p:cNvPr id="31" name="그림 30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EE793F-030B-4A2E-51B7-C383D37F1B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2380" b="70329"/>
          <a:stretch/>
        </p:blipFill>
        <p:spPr>
          <a:xfrm>
            <a:off x="4846320" y="3495136"/>
            <a:ext cx="2265504" cy="996985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153859C-E24C-9E88-A181-A93FF2EF8D12}"/>
              </a:ext>
            </a:extLst>
          </p:cNvPr>
          <p:cNvSpPr/>
          <p:nvPr/>
        </p:nvSpPr>
        <p:spPr>
          <a:xfrm>
            <a:off x="2316767" y="1790248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B8437657-4B33-4BF9-2DAB-2F2686451D40}"/>
              </a:ext>
            </a:extLst>
          </p:cNvPr>
          <p:cNvSpPr/>
          <p:nvPr/>
        </p:nvSpPr>
        <p:spPr>
          <a:xfrm>
            <a:off x="4300703" y="1752226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73701C2-E9BE-E5DB-6D2F-DC4881FB4840}"/>
              </a:ext>
            </a:extLst>
          </p:cNvPr>
          <p:cNvSpPr/>
          <p:nvPr/>
        </p:nvSpPr>
        <p:spPr>
          <a:xfrm rot="5400000">
            <a:off x="5708085" y="2871931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7D7E13A1-CC82-1B7A-FC56-358576772C70}"/>
              </a:ext>
            </a:extLst>
          </p:cNvPr>
          <p:cNvSpPr/>
          <p:nvPr/>
        </p:nvSpPr>
        <p:spPr>
          <a:xfrm rot="10800000">
            <a:off x="4033003" y="3943723"/>
            <a:ext cx="218049" cy="7315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26563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TC‑001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정상 계정 로그인 가능 여부 확인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 err="1">
                <a:latin typeface="Arial" panose="020B0604020202020204" pitchFamily="34" charset="0"/>
                <a:cs typeface="Arial" panose="020B0604020202020204" pitchFamily="34" charset="0"/>
              </a:rPr>
              <a:t>testuser</a:t>
            </a:r>
            <a:r>
              <a:rPr lang="ko-KR" altLang="ko-KR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password123</a:t>
            </a:r>
            <a:r>
              <a:rPr lang="ko-KR" altLang="ko-KR" dirty="0"/>
              <a:t>입력 → 로그인</a:t>
            </a:r>
            <a:endParaRPr lang="ko-KR" altLang="ko-KR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상품 목록 페이지(Products) 로딩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2CF45290-2357-07ED-8E46-2AEB56CD7101}"/>
              </a:ext>
            </a:extLst>
          </p:cNvPr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그림 4" descr="텍스트, 웹 페이지, 웹사이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6A3F4C-06CA-05EB-3A96-23EDB2D03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668" y="848451"/>
            <a:ext cx="4593060" cy="45930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32682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TC‑002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로그인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Failure (Invalid)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931" y="766618"/>
            <a:ext cx="8356138" cy="475672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그림 6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F03692C-036B-BC29-89CC-C56150732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849" y="1005840"/>
            <a:ext cx="7193611" cy="4074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F63EF2-82D8-D528-33D1-4D76DD2999E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목적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계정 정보 입력 시 오류 표시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절차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잘못된 ID/비밀번호 입력 → 로그인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기대 결과</a:t>
            </a: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ko-KR" b="1" dirty="0">
                <a:latin typeface="Arial" panose="020B0604020202020204" pitchFamily="34" charset="0"/>
              </a:rPr>
              <a:t>:</a:t>
            </a:r>
            <a:r>
              <a:rPr lang="ko-KR" altLang="ko-KR" dirty="0">
                <a:latin typeface="Arial" panose="020B0604020202020204" pitchFamily="34" charset="0"/>
              </a:rPr>
              <a:t> “사용자명이 일치하지 않습니다” 오류 배너 출력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8392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TC‑00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3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Add/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삭제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Badge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8549" y="727824"/>
            <a:ext cx="8346902" cy="4850939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그림 7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82F2C25-4564-3C4A-2197-9A118A1DBB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191"/>
          <a:stretch/>
        </p:blipFill>
        <p:spPr>
          <a:xfrm>
            <a:off x="2774791" y="3736110"/>
            <a:ext cx="3256556" cy="1754104"/>
          </a:xfrm>
          <a:prstGeom prst="rect">
            <a:avLst/>
          </a:prstGeom>
        </p:spPr>
      </p:pic>
      <p:pic>
        <p:nvPicPr>
          <p:cNvPr id="5" name="그림 4" descr="텍스트, 스크린샷, 소프트웨어, 웹 페이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7DDFCF3-75F8-4115-49B6-43A7ED449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150" b="12091"/>
          <a:stretch/>
        </p:blipFill>
        <p:spPr>
          <a:xfrm>
            <a:off x="1213341" y="869605"/>
            <a:ext cx="6717317" cy="2252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CE0F79-B8DD-2713-5232-E78E2E5E2FD3}"/>
              </a:ext>
            </a:extLst>
          </p:cNvPr>
          <p:cNvSpPr txBox="1"/>
          <p:nvPr/>
        </p:nvSpPr>
        <p:spPr>
          <a:xfrm>
            <a:off x="481215" y="5669280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목적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</a:rPr>
              <a:t>장바구니 페이지에서 항목 제거 기능 검증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</a:rPr>
              <a:t>절차 </a:t>
            </a:r>
            <a:r>
              <a:rPr lang="en-US" altLang="ko-KR" b="1" dirty="0">
                <a:latin typeface="Arial" panose="020B0604020202020204" pitchFamily="34" charset="0"/>
              </a:rPr>
              <a:t>: </a:t>
            </a:r>
            <a:r>
              <a:rPr lang="en-US" altLang="ko-KR" dirty="0">
                <a:latin typeface="Arial" panose="020B0604020202020204" pitchFamily="34" charset="0"/>
              </a:rPr>
              <a:t>Cart → </a:t>
            </a:r>
            <a:r>
              <a:rPr lang="ko-KR" altLang="en-US" dirty="0">
                <a:latin typeface="Arial" panose="020B0604020202020204" pitchFamily="34" charset="0"/>
              </a:rPr>
              <a:t>제거 클릭</a:t>
            </a:r>
            <a:endParaRPr lang="ko-KR" altLang="ko-KR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ko-KR" b="1" dirty="0">
                <a:latin typeface="Arial" panose="020B0604020202020204" pitchFamily="34" charset="0"/>
              </a:rPr>
              <a:t>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기대 결과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항목 제거 및 갱신된 카트 상태 표시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395813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7. Test Results &amp;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0771" y="1189644"/>
            <a:ext cx="7906327" cy="3557847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383649"/>
              </p:ext>
            </p:extLst>
          </p:nvPr>
        </p:nvGraphicFramePr>
        <p:xfrm>
          <a:off x="967971" y="1738284"/>
          <a:ext cx="3162531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507623"/>
              </p:ext>
            </p:extLst>
          </p:nvPr>
        </p:nvGraphicFramePr>
        <p:xfrm>
          <a:off x="3638551" y="1738284"/>
          <a:ext cx="4537478" cy="2371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41659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8. </a:t>
            </a:r>
            <a:r>
              <a:rPr 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E2E</a:t>
            </a:r>
            <a:r>
              <a:rPr lang="ko-KR" altLang="en-US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테스트</a:t>
            </a:r>
            <a:r>
              <a:rPr lang="en-US" altLang="ko-KR"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(End-to-End Test)</a:t>
            </a:r>
            <a:endParaRPr sz="20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89542" y="1280160"/>
            <a:ext cx="7940502" cy="4139738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74022" y="1555404"/>
            <a:ext cx="7808160" cy="378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구성 요소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Python 3.14 matrix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Chrome + </a:t>
            </a:r>
            <a:r>
              <a:rPr lang="en-US" altLang="ko-KR" dirty="0" err="1"/>
              <a:t>ChromeDriver</a:t>
            </a:r>
            <a:r>
              <a:rPr lang="en-US" altLang="ko-KR" dirty="0"/>
              <a:t> </a:t>
            </a:r>
            <a:r>
              <a:rPr lang="ko-KR" altLang="en-US" dirty="0"/>
              <a:t>자동 설치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Headless </a:t>
            </a:r>
            <a:r>
              <a:rPr lang="ko-KR" altLang="en-US" dirty="0"/>
              <a:t>모드에서 </a:t>
            </a:r>
            <a:r>
              <a:rPr lang="en-US" altLang="ko-KR" dirty="0" err="1"/>
              <a:t>pytest</a:t>
            </a:r>
            <a:r>
              <a:rPr lang="en-US" altLang="ko-KR" dirty="0"/>
              <a:t> </a:t>
            </a:r>
            <a:r>
              <a:rPr lang="ko-KR" altLang="en-US" dirty="0"/>
              <a:t>실행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	HTML </a:t>
            </a:r>
            <a:r>
              <a:rPr lang="ko-KR" altLang="en-US" dirty="0"/>
              <a:t>리포트 </a:t>
            </a:r>
            <a:r>
              <a:rPr lang="en-US" altLang="ko-KR" dirty="0"/>
              <a:t>+ </a:t>
            </a:r>
            <a:r>
              <a:rPr lang="ko-KR" altLang="en-US" dirty="0"/>
              <a:t>스크린샷 </a:t>
            </a:r>
            <a:r>
              <a:rPr lang="ko-KR" altLang="en-US" dirty="0" err="1"/>
              <a:t>아티팩트</a:t>
            </a:r>
            <a:r>
              <a:rPr lang="ko-KR" altLang="en-US" dirty="0"/>
              <a:t> 업로드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트리거 조건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Pull Request : </a:t>
            </a:r>
            <a:r>
              <a:rPr lang="ko-KR" altLang="en-US" dirty="0"/>
              <a:t> </a:t>
            </a:r>
            <a:r>
              <a:rPr lang="ko-KR" altLang="en-US" dirty="0" err="1"/>
              <a:t>스모크</a:t>
            </a:r>
            <a:r>
              <a:rPr lang="ko-KR" altLang="en-US" dirty="0"/>
              <a:t> 테스트</a:t>
            </a:r>
          </a:p>
          <a:p>
            <a:pPr>
              <a:lnSpc>
                <a:spcPct val="150000"/>
              </a:lnSpc>
            </a:pPr>
            <a:r>
              <a:rPr lang="en-US" altLang="ko-KR" b="1" dirty="0"/>
              <a:t>	main </a:t>
            </a:r>
            <a:r>
              <a:rPr lang="ko-KR" altLang="en-US" b="1" dirty="0" err="1"/>
              <a:t>브랜치</a:t>
            </a:r>
            <a:r>
              <a:rPr lang="ko-KR" altLang="en-US" b="1" dirty="0"/>
              <a:t> </a:t>
            </a:r>
            <a:r>
              <a:rPr lang="en-US" altLang="ko-KR" b="1" dirty="0"/>
              <a:t>push : </a:t>
            </a:r>
            <a:r>
              <a:rPr lang="ko-KR" altLang="en-US" dirty="0"/>
              <a:t> 전체 회귀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25571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9. Issues &amp; Fixes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8585" y="1153901"/>
            <a:ext cx="8226829" cy="4130502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50F911B-7066-1DAA-D6C8-99350E6453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674411"/>
              </p:ext>
            </p:extLst>
          </p:nvPr>
        </p:nvGraphicFramePr>
        <p:xfrm>
          <a:off x="458585" y="2389473"/>
          <a:ext cx="8229600" cy="365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244097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705944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290467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원인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/>
                        <a:t>해결책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2386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3D035AF-8093-A8FF-BFED-847C575202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735530"/>
              </p:ext>
            </p:extLst>
          </p:nvPr>
        </p:nvGraphicFramePr>
        <p:xfrm>
          <a:off x="455814" y="2798858"/>
          <a:ext cx="8229600" cy="365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85487916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2755634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80424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from .app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오타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from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app </a:t>
                      </a:r>
                      <a:r>
                        <a:rPr lang="ko-KR" altLang="en-US" dirty="0"/>
                        <a:t>수정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950902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09624D-7D8F-BB84-5C2A-C6C1CBB462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614418"/>
              </p:ext>
            </p:extLst>
          </p:nvPr>
        </p:nvGraphicFramePr>
        <p:xfrm>
          <a:off x="455814" y="3472404"/>
          <a:ext cx="8229600" cy="365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73650741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0225639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27368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로그인 문제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app.py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app.py </a:t>
                      </a:r>
                      <a:r>
                        <a:rPr lang="ko-KR" altLang="en-US" dirty="0"/>
                        <a:t>및 </a:t>
                      </a:r>
                      <a:r>
                        <a:rPr lang="en-US" altLang="ko-KR" dirty="0"/>
                        <a:t>loging.py </a:t>
                      </a:r>
                      <a:r>
                        <a:rPr lang="ko-KR" altLang="en-US" dirty="0"/>
                        <a:t>수정</a:t>
                      </a:r>
                      <a:r>
                        <a:rPr lang="en-US" altLang="ko-KR" dirty="0"/>
                        <a:t> 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469805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7E7C4E2-F6B2-9712-7E04-0A8BDA16D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017428"/>
              </p:ext>
            </p:extLst>
          </p:nvPr>
        </p:nvGraphicFramePr>
        <p:xfrm>
          <a:off x="457200" y="4145950"/>
          <a:ext cx="7607618" cy="640080"/>
        </p:xfrm>
        <a:graphic>
          <a:graphicData uri="http://schemas.openxmlformats.org/drawingml/2006/table">
            <a:tbl>
              <a:tblPr/>
              <a:tblGrid>
                <a:gridCol w="2121218">
                  <a:extLst>
                    <a:ext uri="{9D8B030D-6E8A-4147-A177-3AD203B41FA5}">
                      <a16:colId xmlns:a16="http://schemas.microsoft.com/office/drawing/2014/main" val="34399137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6994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401859943"/>
                    </a:ext>
                  </a:extLst>
                </a:gridCol>
              </a:tblGrid>
              <a:tr h="4640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 err="1"/>
                        <a:t>카트수량문제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수량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이 </a:t>
                      </a:r>
                      <a:r>
                        <a:rPr lang="ko-KR" altLang="en-US" dirty="0" err="1"/>
                        <a:t>있어야하나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cart(0)</a:t>
                      </a:r>
                      <a:r>
                        <a:rPr lang="ko-KR" altLang="en-US" dirty="0"/>
                        <a:t> 적용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           cart(1)</a:t>
                      </a:r>
                      <a:r>
                        <a:rPr lang="ko-KR" altLang="en-US" dirty="0"/>
                        <a:t> 적용 수정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916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274320"/>
            <a:ext cx="461857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10.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결론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및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향후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sz="2000" b="1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계획</a:t>
            </a:r>
            <a:r>
              <a:rPr sz="20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5280" y="912553"/>
            <a:ext cx="7811193" cy="4158211"/>
          </a:xfrm>
          <a:prstGeom prst="roundRect">
            <a:avLst/>
          </a:prstGeom>
          <a:solidFill>
            <a:srgbClr val="FFFFFF"/>
          </a:solidFill>
          <a:ln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8160" y="1095433"/>
            <a:ext cx="768100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○ 성과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catshop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/>
              <a:t>전 기능을 포함한 </a:t>
            </a:r>
            <a:r>
              <a:rPr lang="ko-KR" altLang="en-US" b="1" dirty="0"/>
              <a:t>완성형 </a:t>
            </a:r>
            <a:r>
              <a:rPr lang="en-US" altLang="ko-KR" b="1" dirty="0"/>
              <a:t>E2E </a:t>
            </a:r>
            <a:r>
              <a:rPr lang="ko-KR" altLang="en-US" b="1" dirty="0"/>
              <a:t>자동화</a:t>
            </a:r>
            <a:r>
              <a:rPr lang="ko-KR" altLang="en-US" dirty="0"/>
              <a:t> 구축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테스트 커버리지 시각화 및 문서화 완료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○ 향후 개선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Allure </a:t>
            </a:r>
            <a:r>
              <a:rPr lang="ko-KR" altLang="en-US" dirty="0"/>
              <a:t>기반 리포트 적용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크로스 브라우저 테스트</a:t>
            </a:r>
            <a:r>
              <a:rPr lang="en-US" altLang="ko-KR" dirty="0"/>
              <a:t>(Edge, Firefox)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Nightly </a:t>
            </a:r>
            <a:r>
              <a:rPr lang="ko-KR" altLang="en-US" dirty="0"/>
              <a:t>전체 회귀 스케줄링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714</Words>
  <Application>Microsoft Office PowerPoint</Application>
  <PresentationFormat>화면 슬라이드 쇼(4:3)</PresentationFormat>
  <Paragraphs>139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HY견고딕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JY</dc:creator>
  <cp:keywords/>
  <dc:description>generated using python-pptx</dc:description>
  <cp:lastModifiedBy>Administrator</cp:lastModifiedBy>
  <cp:revision>55</cp:revision>
  <dcterms:created xsi:type="dcterms:W3CDTF">2013-01-27T09:14:16Z</dcterms:created>
  <dcterms:modified xsi:type="dcterms:W3CDTF">2025-11-29T06:42:56Z</dcterms:modified>
  <cp:category/>
</cp:coreProperties>
</file>