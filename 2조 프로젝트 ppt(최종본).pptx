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9" r:id="rId4"/>
    <p:sldId id="258" r:id="rId5"/>
    <p:sldId id="270" r:id="rId6"/>
    <p:sldId id="259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72" r:id="rId18"/>
    <p:sldId id="273" r:id="rId19"/>
    <p:sldId id="274" r:id="rId20"/>
    <p:sldId id="268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C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7" autoAdjust="0"/>
    <p:restoredTop sz="94588"/>
  </p:normalViewPr>
  <p:slideViewPr>
    <p:cSldViewPr snapToGrid="0" snapToObjects="1">
      <p:cViewPr varScale="1">
        <p:scale>
          <a:sx n="104" d="100"/>
          <a:sy n="104" d="100"/>
        </p:scale>
        <p:origin x="99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Index</c:v>
                </c:pt>
                <c:pt idx="2">
                  <c:v>Register</c:v>
                </c:pt>
                <c:pt idx="3">
                  <c:v>Login</c:v>
                </c:pt>
                <c:pt idx="4">
                  <c:v>Cart</c:v>
                </c:pt>
                <c:pt idx="5">
                  <c:v>Product</c:v>
                </c:pt>
                <c:pt idx="6">
                  <c:v>Checkout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0C-854E-902F-B27426EC5B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08CDC-E0ED-374B-ACFD-C6A067DB2A44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02813-C0D3-F74A-896B-D6B934C8BF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6592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02813-C0D3-F74A-896B-D6B934C8BF58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2158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FF960-3D33-37DB-80D9-09EE8519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8520D-08C9-03C7-A762-2E2B5215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46DCB-C95C-ED96-86F0-AFDE970A5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9224A-8C22-4C96-4E2C-5AA34E11B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75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D0EE4-7E45-50B2-4998-4BEA0BC8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3B206-8124-3855-93C6-51B868B96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43D6A-79F0-1F82-D1D8-0918A7FD0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B1059-80A3-03C4-84B4-52ACBEAAA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54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7038-A01D-D709-BD85-6EBF3907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BBD75-0CFE-9431-58F3-E4B48497A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22326-45EF-5958-69F4-4AEEEFC58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2E403-C4B5-F4BF-BB8D-E7C36E8EC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4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_MO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10363200" y="6583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67" dirty="0">
                <a:solidFill>
                  <a:srgbClr val="CBD5E1"/>
                </a:solidFill>
              </a:rPr>
              <a:t>2조 SW 테스팅 프로젝트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1230368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_MO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1"/>
          <p:cNvSpPr/>
          <p:nvPr/>
        </p:nvSpPr>
        <p:spPr>
          <a:xfrm>
            <a:off x="243840" y="6583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334155"/>
                </a:solidFill>
              </a:rPr>
              <a:t>CONFIDENTIAL - INTERNAL USE ONLY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10363200" y="65836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67" dirty="0">
                <a:solidFill>
                  <a:srgbClr val="334155"/>
                </a:solidFill>
              </a:rPr>
              <a:t>2조 SW 테스팅 프로젝트</a:t>
            </a:r>
            <a:endParaRPr lang="en-US" sz="1067" dirty="0"/>
          </a:p>
        </p:txBody>
      </p:sp>
    </p:spTree>
    <p:extLst>
      <p:ext uri="{BB962C8B-B14F-4D97-AF65-F5344CB8AC3E}">
        <p14:creationId xmlns:p14="http://schemas.microsoft.com/office/powerpoint/2010/main" val="51401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94701" y="1032003"/>
            <a:ext cx="3202598" cy="510471"/>
          </a:xfrm>
          <a:prstGeom prst="roundRect">
            <a:avLst/>
          </a:prstGeom>
          <a:solidFill>
            <a:srgbClr val="58A6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" altLang="ko-KR" sz="2000" cap="all" dirty="0"/>
              <a:t>SW Testing Project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994545" y="2104787"/>
            <a:ext cx="817243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 err="1"/>
              <a:t>Catshop</a:t>
            </a:r>
            <a:r>
              <a:rPr dirty="0"/>
              <a:t> E2E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자동화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79434" y="4418905"/>
            <a:ext cx="288252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949E"/>
                </a:solidFill>
              </a:defRPr>
            </a:pPr>
            <a:endParaRPr lang="en-US" sz="2000" b="1" dirty="0"/>
          </a:p>
          <a:p>
            <a:pPr algn="ctr">
              <a:defRPr sz="2000">
                <a:solidFill>
                  <a:srgbClr val="8B949E"/>
                </a:solidFill>
              </a:defRPr>
            </a:pPr>
            <a:r>
              <a:rPr b="1" dirty="0"/>
              <a:t>2조 SW </a:t>
            </a:r>
            <a:r>
              <a:rPr b="1" dirty="0" err="1"/>
              <a:t>테스팅</a:t>
            </a:r>
            <a:r>
              <a:rPr b="1" dirty="0"/>
              <a:t> </a:t>
            </a:r>
            <a:r>
              <a:rPr b="1" dirty="0" err="1"/>
              <a:t>프로젝트</a:t>
            </a:r>
            <a:endParaRPr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80C87-2770-EB8D-905C-701DDDA1BF83}"/>
              </a:ext>
            </a:extLst>
          </p:cNvPr>
          <p:cNvSpPr txBox="1"/>
          <p:nvPr/>
        </p:nvSpPr>
        <p:spPr>
          <a:xfrm>
            <a:off x="3825782" y="3522857"/>
            <a:ext cx="5191667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b="0" i="0" dirty="0">
                <a:solidFill>
                  <a:srgbClr val="C9D1D9"/>
                </a:solidFill>
                <a:effectLst/>
                <a:latin typeface="Noto Sans KR"/>
              </a:rPr>
              <a:t>		</a:t>
            </a:r>
            <a:r>
              <a:rPr lang="en" altLang="ko-KR" b="0" i="0" dirty="0" err="1">
                <a:solidFill>
                  <a:srgbClr val="C9D1D9"/>
                </a:solidFill>
                <a:effectLst/>
                <a:latin typeface="Noto Sans KR"/>
              </a:rPr>
              <a:t>Pytest</a:t>
            </a:r>
            <a:r>
              <a:rPr lang="en" altLang="ko-KR" b="0" i="0" dirty="0">
                <a:solidFill>
                  <a:srgbClr val="C9D1D9"/>
                </a:solidFill>
                <a:effectLst/>
                <a:latin typeface="Noto Sans KR"/>
              </a:rPr>
              <a:t> + Selenium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을 활용한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실무 수준의 웹 애플리케이션 자동화 테스트 구축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5D22C2-CBAF-65D4-ECCE-A3CE4590FC06}"/>
              </a:ext>
            </a:extLst>
          </p:cNvPr>
          <p:cNvSpPr txBox="1"/>
          <p:nvPr/>
        </p:nvSpPr>
        <p:spPr>
          <a:xfrm>
            <a:off x="3049361" y="2782564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" altLang="ko-KR" b="1" i="0" dirty="0">
              <a:solidFill>
                <a:srgbClr val="FFFFFF"/>
              </a:solidFill>
              <a:effectLst/>
              <a:latin typeface="Noto Sans KR"/>
            </a:endParaRPr>
          </a:p>
          <a:p>
            <a:pPr algn="ctr">
              <a:buNone/>
            </a:pPr>
            <a:r>
              <a:rPr lang="en" altLang="ko-KR" b="1" i="0" dirty="0">
                <a:solidFill>
                  <a:srgbClr val="58A6FF"/>
                </a:solidFill>
                <a:effectLst/>
                <a:latin typeface="Noto Sans KR"/>
              </a:rPr>
              <a:t>E2E Test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8A77D-7154-CFFD-407E-6BE9EDC1F3DE}"/>
              </a:ext>
            </a:extLst>
          </p:cNvPr>
          <p:cNvSpPr txBox="1"/>
          <p:nvPr/>
        </p:nvSpPr>
        <p:spPr>
          <a:xfrm>
            <a:off x="10166975" y="5008520"/>
            <a:ext cx="1624163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949E"/>
                </a:solidFill>
              </a:defRPr>
            </a:pPr>
            <a:endParaRPr lang="en-US" sz="2000" dirty="0"/>
          </a:p>
          <a:p>
            <a:pPr algn="ctr">
              <a:defRPr sz="2000">
                <a:solidFill>
                  <a:srgbClr val="8B949E"/>
                </a:solidFill>
              </a:defRPr>
            </a:pPr>
            <a:r>
              <a:rPr lang="ko-KR" altLang="en-US" dirty="0"/>
              <a:t>백종우</a:t>
            </a:r>
            <a:r>
              <a:rPr lang="en-US" altLang="ko-KR" dirty="0"/>
              <a:t>(</a:t>
            </a:r>
            <a:r>
              <a:rPr lang="ko-KR" altLang="en-US" dirty="0"/>
              <a:t>조장</a:t>
            </a:r>
            <a:r>
              <a:rPr lang="en-US" altLang="ko-KR" dirty="0"/>
              <a:t>)</a:t>
            </a:r>
          </a:p>
          <a:p>
            <a:pPr algn="ctr">
              <a:defRPr sz="2000">
                <a:solidFill>
                  <a:srgbClr val="8B949E"/>
                </a:solidFill>
              </a:defRPr>
            </a:pPr>
            <a:r>
              <a:rPr lang="ko-KR" altLang="en-US" dirty="0" err="1"/>
              <a:t>박서아</a:t>
            </a:r>
            <a:endParaRPr lang="ko-KR" altLang="en-US" dirty="0"/>
          </a:p>
          <a:p>
            <a:pPr algn="ctr">
              <a:defRPr sz="2000">
                <a:solidFill>
                  <a:srgbClr val="8B949E"/>
                </a:solidFill>
              </a:defRPr>
            </a:pPr>
            <a:r>
              <a:rPr lang="ko-KR" altLang="en-US" dirty="0"/>
              <a:t>안재원</a:t>
            </a:r>
          </a:p>
          <a:p>
            <a:pPr algn="ctr">
              <a:defRPr sz="2000">
                <a:solidFill>
                  <a:srgbClr val="8B949E"/>
                </a:solidFill>
              </a:defRPr>
            </a:pPr>
            <a:r>
              <a:rPr lang="ko-KR" altLang="en-US" dirty="0" err="1"/>
              <a:t>오예린</a:t>
            </a:r>
            <a:endParaRPr lang="ko-KR" altLang="en-US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82E118BF-137A-10E3-FDAB-3085F963B220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4542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Catshop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3337"/>
            <a:ext cx="5896166" cy="24016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 err="1"/>
              <a:t>Catshop</a:t>
            </a:r>
            <a:br>
              <a:rPr dirty="0"/>
            </a:br>
            <a:r>
              <a:rPr dirty="0">
                <a:solidFill>
                  <a:schemeClr val="accent1"/>
                </a:solidFill>
              </a:rPr>
              <a:t>E2E Test Automation</a:t>
            </a:r>
          </a:p>
          <a:p>
            <a:pPr>
              <a:lnSpc>
                <a:spcPct val="150000"/>
              </a:lnSpc>
            </a:pP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Pytest와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Selenium을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활용하여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실서비스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수준의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안정적이고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재현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가능한</a:t>
            </a:r>
            <a:r>
              <a:rPr dirty="0">
                <a:solidFill>
                  <a:schemeClr val="bg1"/>
                </a:solidFill>
              </a:rPr>
              <a:t> UI 및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흐름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테스트를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구현합니다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1858" y="1497701"/>
            <a:ext cx="5102942" cy="5017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   </a:t>
            </a:r>
            <a:r>
              <a:rPr lang="ko-KR" altLang="en-US" sz="2800" b="1" dirty="0">
                <a:solidFill>
                  <a:schemeClr val="bg1"/>
                </a:solidFill>
                <a:latin typeface="+mj-lt"/>
              </a:rPr>
              <a:t>핵심 목표 </a:t>
            </a:r>
            <a:endParaRPr lang="en-US" altLang="ko-KR" sz="2800" b="1" dirty="0">
              <a:solidFill>
                <a:schemeClr val="bg1"/>
              </a:solidFill>
              <a:latin typeface="+mj-lt"/>
            </a:endParaRPr>
          </a:p>
          <a:p>
            <a:endParaRPr lang="ko-KR" altLang="en-US" sz="16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 sz="1200" b="1">
                <a:solidFill>
                  <a:srgbClr val="3FB950"/>
                </a:solidFill>
              </a:defRPr>
            </a:pPr>
            <a:r>
              <a:rPr sz="2000" dirty="0"/>
              <a:t>✔ </a:t>
            </a:r>
            <a:r>
              <a:rPr sz="2000" dirty="0" err="1"/>
              <a:t>실무</a:t>
            </a:r>
            <a:r>
              <a:rPr sz="2000" dirty="0"/>
              <a:t> </a:t>
            </a:r>
            <a:r>
              <a:rPr sz="2000" dirty="0" err="1"/>
              <a:t>수준의</a:t>
            </a:r>
            <a:r>
              <a:rPr sz="2000" dirty="0"/>
              <a:t> </a:t>
            </a:r>
            <a:r>
              <a:rPr sz="2000" dirty="0" err="1"/>
              <a:t>자동화</a:t>
            </a:r>
            <a:endParaRPr sz="2000" dirty="0"/>
          </a:p>
          <a:p>
            <a:pPr>
              <a:lnSpc>
                <a:spcPct val="150000"/>
              </a:lnSpc>
              <a:spcAft>
                <a:spcPts val="1000"/>
              </a:spcAft>
              <a:defRPr sz="1000">
                <a:solidFill>
                  <a:srgbClr val="8B949E"/>
                </a:solidFill>
              </a:defRPr>
            </a:pPr>
            <a:r>
              <a:rPr sz="2000" dirty="0"/>
              <a:t> </a:t>
            </a:r>
            <a:r>
              <a:rPr lang="en-US" sz="2000" dirty="0"/>
              <a:t> </a:t>
            </a:r>
            <a:r>
              <a:rPr sz="2000" dirty="0"/>
              <a:t> 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sz="2000" dirty="0" err="1"/>
              <a:t>유지보수</a:t>
            </a:r>
            <a:r>
              <a:rPr sz="2000" dirty="0"/>
              <a:t> </a:t>
            </a:r>
            <a:r>
              <a:rPr sz="2000" dirty="0" err="1"/>
              <a:t>가능한</a:t>
            </a:r>
            <a:r>
              <a:rPr sz="2000" dirty="0"/>
              <a:t> </a:t>
            </a:r>
            <a:r>
              <a:rPr sz="2000" dirty="0" err="1"/>
              <a:t>구조</a:t>
            </a:r>
            <a:r>
              <a:rPr sz="2000" dirty="0"/>
              <a:t> </a:t>
            </a:r>
            <a:r>
              <a:rPr sz="2000" dirty="0" err="1"/>
              <a:t>설계</a:t>
            </a:r>
            <a:endParaRPr lang="en-US" sz="2000" dirty="0"/>
          </a:p>
          <a:p>
            <a:pPr>
              <a:spcAft>
                <a:spcPts val="1000"/>
              </a:spcAft>
              <a:defRPr sz="1000">
                <a:solidFill>
                  <a:srgbClr val="8B949E"/>
                </a:solidFill>
              </a:defRPr>
            </a:pPr>
            <a:endParaRPr sz="1600" dirty="0"/>
          </a:p>
          <a:p>
            <a:pPr>
              <a:lnSpc>
                <a:spcPct val="150000"/>
              </a:lnSpc>
              <a:defRPr sz="1200" b="1">
                <a:solidFill>
                  <a:srgbClr val="3FB950"/>
                </a:solidFill>
              </a:defRPr>
            </a:pPr>
            <a:r>
              <a:rPr sz="2000" dirty="0"/>
              <a:t>✔ </a:t>
            </a:r>
            <a:r>
              <a:rPr sz="2000" dirty="0" err="1"/>
              <a:t>안정적인</a:t>
            </a:r>
            <a:r>
              <a:rPr sz="2000" dirty="0"/>
              <a:t> </a:t>
            </a:r>
            <a:r>
              <a:rPr sz="2000" dirty="0" err="1"/>
              <a:t>테스트</a:t>
            </a:r>
            <a:r>
              <a:rPr sz="2000" dirty="0"/>
              <a:t> </a:t>
            </a:r>
            <a:r>
              <a:rPr sz="2000" dirty="0" err="1"/>
              <a:t>환경</a:t>
            </a:r>
            <a:endParaRPr sz="2000" dirty="0"/>
          </a:p>
          <a:p>
            <a:pPr>
              <a:lnSpc>
                <a:spcPct val="150000"/>
              </a:lnSpc>
              <a:spcAft>
                <a:spcPts val="1000"/>
              </a:spcAft>
              <a:defRPr sz="1000">
                <a:solidFill>
                  <a:srgbClr val="8B949E"/>
                </a:solidFill>
              </a:defRPr>
            </a:pPr>
            <a:r>
              <a:rPr sz="2000" dirty="0"/>
              <a:t> </a:t>
            </a:r>
            <a:r>
              <a:rPr lang="en-US" sz="2000" dirty="0"/>
              <a:t> </a:t>
            </a:r>
            <a:r>
              <a:rPr sz="2000" dirty="0"/>
              <a:t> 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sz="2000" dirty="0"/>
              <a:t>Explicit Wait 및 </a:t>
            </a:r>
            <a:r>
              <a:rPr sz="2000" dirty="0" err="1"/>
              <a:t>예외</a:t>
            </a:r>
            <a:r>
              <a:rPr sz="2000" dirty="0"/>
              <a:t> </a:t>
            </a:r>
            <a:r>
              <a:rPr sz="2000" dirty="0" err="1"/>
              <a:t>처리를</a:t>
            </a:r>
            <a:r>
              <a:rPr sz="2000" dirty="0"/>
              <a:t> </a:t>
            </a:r>
            <a:r>
              <a:rPr sz="2000" dirty="0" err="1"/>
              <a:t>통한</a:t>
            </a:r>
            <a:r>
              <a:rPr sz="2000" dirty="0"/>
              <a:t> </a:t>
            </a:r>
            <a:endParaRPr lang="en-US" sz="2000" dirty="0"/>
          </a:p>
          <a:p>
            <a:pPr>
              <a:lnSpc>
                <a:spcPct val="150000"/>
              </a:lnSpc>
              <a:spcAft>
                <a:spcPts val="1000"/>
              </a:spcAft>
              <a:defRPr sz="1000">
                <a:solidFill>
                  <a:srgbClr val="8B949E"/>
                </a:solidFill>
              </a:defRPr>
            </a:pPr>
            <a:r>
              <a:rPr lang="en-US" sz="2000" dirty="0"/>
              <a:t>     </a:t>
            </a:r>
            <a:r>
              <a:rPr sz="2000" dirty="0"/>
              <a:t>Flaky </a:t>
            </a:r>
            <a:r>
              <a:rPr sz="2000" dirty="0" err="1"/>
              <a:t>Tes</a:t>
            </a:r>
            <a:r>
              <a:rPr lang="en" sz="2000" dirty="0"/>
              <a:t>t</a:t>
            </a:r>
            <a:r>
              <a:rPr lang="ko-KR" altLang="en-US" sz="2000" dirty="0"/>
              <a:t> </a:t>
            </a:r>
            <a:r>
              <a:rPr sz="2000" dirty="0" err="1"/>
              <a:t>최소화</a:t>
            </a:r>
            <a:endParaRPr sz="2000" dirty="0"/>
          </a:p>
          <a:p>
            <a:pPr>
              <a:defRPr sz="1200" b="1">
                <a:solidFill>
                  <a:srgbClr val="3FB950"/>
                </a:solidFill>
              </a:defRPr>
            </a:pPr>
            <a:endParaRPr lang="en-US" sz="2000" dirty="0"/>
          </a:p>
          <a:p>
            <a:pPr>
              <a:lnSpc>
                <a:spcPct val="150000"/>
              </a:lnSpc>
              <a:defRPr sz="1200" b="1">
                <a:solidFill>
                  <a:srgbClr val="3FB950"/>
                </a:solidFill>
              </a:defRPr>
            </a:pPr>
            <a:r>
              <a:rPr sz="2000" dirty="0"/>
              <a:t>✔ </a:t>
            </a:r>
            <a:r>
              <a:rPr sz="2000" dirty="0" err="1"/>
              <a:t>가시적인</a:t>
            </a:r>
            <a:r>
              <a:rPr sz="2000" dirty="0"/>
              <a:t> </a:t>
            </a:r>
            <a:r>
              <a:rPr sz="2000" dirty="0" err="1"/>
              <a:t>리포팅</a:t>
            </a:r>
            <a:endParaRPr sz="2000" dirty="0"/>
          </a:p>
          <a:p>
            <a:pPr>
              <a:lnSpc>
                <a:spcPct val="150000"/>
              </a:lnSpc>
              <a:spcAft>
                <a:spcPts val="1000"/>
              </a:spcAft>
              <a:defRPr sz="1000">
                <a:solidFill>
                  <a:srgbClr val="8B949E"/>
                </a:solidFill>
              </a:defRPr>
            </a:pPr>
            <a:r>
              <a:rPr lang="en-US" sz="2000" dirty="0"/>
              <a:t>  </a:t>
            </a:r>
            <a:r>
              <a:rPr sz="2000" dirty="0"/>
              <a:t> 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sz="2000" dirty="0"/>
              <a:t> </a:t>
            </a:r>
            <a:r>
              <a:rPr sz="2000" dirty="0" err="1"/>
              <a:t>리포트</a:t>
            </a:r>
            <a:r>
              <a:rPr sz="2000" dirty="0"/>
              <a:t> </a:t>
            </a:r>
            <a:r>
              <a:rPr sz="2000" dirty="0" err="1"/>
              <a:t>및</a:t>
            </a:r>
            <a:r>
              <a:rPr sz="2000" dirty="0"/>
              <a:t> </a:t>
            </a:r>
            <a:r>
              <a:rPr sz="2000" dirty="0" err="1"/>
              <a:t>실패</a:t>
            </a:r>
            <a:r>
              <a:rPr sz="2000" dirty="0"/>
              <a:t> </a:t>
            </a:r>
            <a:r>
              <a:rPr sz="2000" dirty="0" err="1"/>
              <a:t>시</a:t>
            </a:r>
            <a:r>
              <a:rPr sz="2000" dirty="0"/>
              <a:t> </a:t>
            </a:r>
            <a:r>
              <a:rPr sz="2000" dirty="0" err="1"/>
              <a:t>스크린샷</a:t>
            </a:r>
            <a:r>
              <a:rPr sz="2000" dirty="0"/>
              <a:t> </a:t>
            </a:r>
            <a:r>
              <a:rPr sz="2000" dirty="0" err="1"/>
              <a:t>자동</a:t>
            </a:r>
            <a:r>
              <a:rPr sz="2000" dirty="0"/>
              <a:t> </a:t>
            </a:r>
            <a:r>
              <a:rPr sz="2000" dirty="0" err="1"/>
              <a:t>저장</a:t>
            </a:r>
            <a:endParaRPr sz="2000" dirty="0"/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3A099C2A-8029-171F-B64B-B003A5355B89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360" y="60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93B"/>
                </a:solidFill>
              </a:rPr>
              <a:t>프로젝트 개요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 flipV="1">
            <a:off x="609600" y="1158240"/>
            <a:ext cx="5486400" cy="2032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596675"/>
            <a:ext cx="5486400" cy="13223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3440" y="179618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64748B"/>
                </a:solidFill>
              </a:rPr>
              <a:t>대상 사이트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3440" y="2183927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867" b="1" dirty="0"/>
              <a:t>• </a:t>
            </a:r>
            <a:r>
              <a:rPr lang="en-US" sz="1867" b="1" dirty="0" err="1">
                <a:solidFill>
                  <a:srgbClr val="1E293B"/>
                </a:solidFill>
              </a:rPr>
              <a:t>Catshop</a:t>
            </a:r>
            <a:r>
              <a:rPr lang="en-US" sz="1867" b="1" dirty="0">
                <a:solidFill>
                  <a:srgbClr val="1E293B"/>
                </a:solidFill>
              </a:rPr>
              <a:t> (Local </a:t>
            </a:r>
            <a:r>
              <a:rPr lang="en-US" sz="1867" b="1" dirty="0" err="1">
                <a:solidFill>
                  <a:srgbClr val="1E293B"/>
                </a:solidFill>
              </a:rPr>
              <a:t>환경</a:t>
            </a:r>
            <a:r>
              <a:rPr lang="en-US" sz="1867" b="1" dirty="0">
                <a:solidFill>
                  <a:srgbClr val="1E293B"/>
                </a:solidFill>
              </a:rPr>
              <a:t>)</a:t>
            </a:r>
          </a:p>
          <a:p>
            <a:r>
              <a:rPr lang="en-US" altLang="ko-KR" sz="1600" b="0" i="0" dirty="0">
                <a:effectLst/>
                <a:latin typeface="Noto Sans KR"/>
              </a:rPr>
              <a:t>  -</a:t>
            </a:r>
            <a:r>
              <a:rPr lang="ko-KR" altLang="en-US" sz="1600" b="0" i="0" dirty="0">
                <a:effectLst/>
                <a:latin typeface="Noto Sans KR"/>
              </a:rPr>
              <a:t> 로컬 환경에 배포된 쇼핑몰 웹 애플리케이션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616999"/>
            <a:ext cx="5486400" cy="121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/>
          <p:nvPr/>
        </p:nvSpPr>
        <p:spPr>
          <a:xfrm>
            <a:off x="853440" y="28041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64748B"/>
                </a:solidFill>
              </a:rPr>
              <a:t>프로젝트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3440" y="3429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867" b="1" dirty="0"/>
              <a:t>• </a:t>
            </a:r>
            <a:r>
              <a:rPr lang="en-US" sz="1867" b="1" dirty="0" err="1">
                <a:solidFill>
                  <a:srgbClr val="1E293B"/>
                </a:solidFill>
              </a:rPr>
              <a:t>실무</a:t>
            </a:r>
            <a:r>
              <a:rPr lang="en-US" sz="1867" b="1" dirty="0">
                <a:solidFill>
                  <a:srgbClr val="1E293B"/>
                </a:solidFill>
              </a:rPr>
              <a:t> 수준의 E2E </a:t>
            </a:r>
            <a:r>
              <a:rPr lang="en-US" sz="1867" b="1" dirty="0" err="1">
                <a:solidFill>
                  <a:srgbClr val="1E293B"/>
                </a:solidFill>
              </a:rPr>
              <a:t>자동화</a:t>
            </a:r>
            <a:r>
              <a:rPr lang="en-US" sz="1867" b="1" dirty="0">
                <a:solidFill>
                  <a:srgbClr val="1E293B"/>
                </a:solidFill>
              </a:rPr>
              <a:t> </a:t>
            </a:r>
            <a:r>
              <a:rPr lang="en-US" sz="1867" b="1" dirty="0" err="1">
                <a:solidFill>
                  <a:srgbClr val="1E293B"/>
                </a:solidFill>
              </a:rPr>
              <a:t>테스트</a:t>
            </a:r>
            <a:r>
              <a:rPr lang="en-US" sz="1867" b="1" dirty="0">
                <a:solidFill>
                  <a:srgbClr val="1E293B"/>
                </a:solidFill>
              </a:rPr>
              <a:t> </a:t>
            </a:r>
            <a:r>
              <a:rPr lang="en-US" sz="1867" b="1" dirty="0" err="1">
                <a:solidFill>
                  <a:srgbClr val="1E293B"/>
                </a:solidFill>
              </a:rPr>
              <a:t>구축</a:t>
            </a:r>
            <a:endParaRPr lang="en-US" sz="1867" b="1" dirty="0">
              <a:solidFill>
                <a:srgbClr val="1E293B"/>
              </a:solidFill>
            </a:endParaRPr>
          </a:p>
          <a:p>
            <a:pPr algn="l">
              <a:buNone/>
            </a:pPr>
            <a:r>
              <a:rPr lang="en-US" altLang="ko-KR" sz="1600" b="0" i="0" dirty="0">
                <a:effectLst/>
                <a:latin typeface="Noto Sans KR"/>
              </a:rPr>
              <a:t>  -</a:t>
            </a:r>
            <a:r>
              <a:rPr lang="ko-KR" altLang="en-US" sz="1600" b="0" i="0" dirty="0">
                <a:effectLst/>
                <a:latin typeface="Noto Sans KR"/>
              </a:rPr>
              <a:t> 실무 수준의 </a:t>
            </a:r>
            <a:r>
              <a:rPr lang="en" altLang="ko-KR" sz="1600" b="0" i="0" dirty="0">
                <a:effectLst/>
                <a:latin typeface="Noto Sans KR"/>
              </a:rPr>
              <a:t>E2E </a:t>
            </a:r>
            <a:r>
              <a:rPr lang="ko-KR" altLang="en-US" sz="1600" b="0" i="0" dirty="0">
                <a:effectLst/>
                <a:latin typeface="Noto Sans KR"/>
              </a:rPr>
              <a:t>자동화 테스트 구축</a:t>
            </a:r>
          </a:p>
          <a:p>
            <a:pPr algn="l">
              <a:buNone/>
            </a:pPr>
            <a:r>
              <a:rPr lang="ko-KR" altLang="en-US" sz="1600" b="0" i="0" dirty="0">
                <a:effectLst/>
                <a:latin typeface="Noto Sans KR"/>
              </a:rPr>
              <a:t>  안정성</a:t>
            </a:r>
            <a:r>
              <a:rPr lang="en-US" altLang="ko-KR" sz="1600" b="0" i="0" dirty="0">
                <a:effectLst/>
                <a:latin typeface="Noto Sans KR"/>
              </a:rPr>
              <a:t>, </a:t>
            </a:r>
            <a:r>
              <a:rPr lang="ko-KR" altLang="en-US" sz="1600" b="0" i="0" dirty="0">
                <a:effectLst/>
                <a:latin typeface="Noto Sans KR"/>
              </a:rPr>
              <a:t>재사용성</a:t>
            </a:r>
            <a:r>
              <a:rPr lang="en-US" altLang="ko-KR" sz="1600" b="0" i="0" dirty="0">
                <a:effectLst/>
                <a:latin typeface="Noto Sans KR"/>
              </a:rPr>
              <a:t>, </a:t>
            </a:r>
            <a:r>
              <a:rPr lang="ko-KR" altLang="en-US" sz="1600" b="0" i="0" dirty="0">
                <a:effectLst/>
                <a:latin typeface="Noto Sans KR"/>
              </a:rPr>
              <a:t>유지보수성을 고려한 아키텍처</a:t>
            </a:r>
          </a:p>
          <a:p>
            <a:endParaRPr lang="en-US" sz="1867" b="1" dirty="0">
              <a:solidFill>
                <a:srgbClr val="1E293B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3926252"/>
            <a:ext cx="5486400" cy="141602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3440" y="4140539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64748B"/>
                </a:solidFill>
              </a:rPr>
              <a:t>산출물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3440" y="4917773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867" b="1" dirty="0"/>
              <a:t>•</a:t>
            </a:r>
            <a:r>
              <a:rPr lang="ko-KR" altLang="en-US" sz="1867" b="1" dirty="0"/>
              <a:t> </a:t>
            </a:r>
            <a:r>
              <a:rPr lang="en-US" sz="1867" b="1" dirty="0" err="1"/>
              <a:t>테스트</a:t>
            </a:r>
            <a:r>
              <a:rPr lang="en-US" sz="1867" b="1" dirty="0"/>
              <a:t> 스위트 (Pytest + Selenium), </a:t>
            </a:r>
            <a:r>
              <a:rPr lang="en-US" sz="1867" b="1" dirty="0" err="1"/>
              <a:t>리포트</a:t>
            </a:r>
            <a:br>
              <a:rPr lang="en-US" sz="1867" b="1" dirty="0"/>
            </a:br>
            <a:r>
              <a:rPr lang="en-US" altLang="ko-KR" sz="1867" b="1" dirty="0"/>
              <a:t>•</a:t>
            </a:r>
            <a:r>
              <a:rPr lang="ko-KR" altLang="en-US" sz="1867" b="1" dirty="0"/>
              <a:t> </a:t>
            </a:r>
            <a:r>
              <a:rPr lang="en-US" sz="1867" b="1" dirty="0"/>
              <a:t>HTML </a:t>
            </a:r>
            <a:r>
              <a:rPr lang="ko-KR" altLang="en-US" sz="1867" b="1" dirty="0"/>
              <a:t>테스트 리포트</a:t>
            </a:r>
          </a:p>
          <a:p>
            <a:r>
              <a:rPr lang="en-US" altLang="ko-KR" sz="1867" b="1" dirty="0"/>
              <a:t>•</a:t>
            </a:r>
            <a:r>
              <a:rPr lang="ko-KR" altLang="en-US" sz="1867" b="1" dirty="0"/>
              <a:t> 자동 생성 스크린샷 </a:t>
            </a:r>
            <a:r>
              <a:rPr lang="ko-KR" altLang="en-US" sz="1867" b="1" dirty="0" err="1"/>
              <a:t>아티팩트</a:t>
            </a:r>
            <a:endParaRPr lang="ko-KR" altLang="en-US" sz="1867" b="1" dirty="0"/>
          </a:p>
          <a:p>
            <a:endParaRPr lang="en-US" sz="1867" dirty="0"/>
          </a:p>
        </p:txBody>
      </p:sp>
      <p:sp>
        <p:nvSpPr>
          <p:cNvPr id="13" name="Shape 11"/>
          <p:cNvSpPr/>
          <p:nvPr/>
        </p:nvSpPr>
        <p:spPr>
          <a:xfrm>
            <a:off x="609600" y="5456538"/>
            <a:ext cx="5486400" cy="10058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853440" y="5599715"/>
            <a:ext cx="9144000" cy="159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64748B"/>
                </a:solidFill>
              </a:rPr>
              <a:t>프로젝트 기간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3440" y="5873421"/>
            <a:ext cx="9144000" cy="365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867" b="1" dirty="0"/>
              <a:t>•</a:t>
            </a:r>
            <a:r>
              <a:rPr lang="ko-KR" altLang="en-US" sz="1867" b="1" dirty="0">
                <a:solidFill>
                  <a:srgbClr val="1E293B"/>
                </a:solidFill>
              </a:rPr>
              <a:t> </a:t>
            </a:r>
            <a:r>
              <a:rPr lang="en-US" sz="1867" b="1" dirty="0">
                <a:solidFill>
                  <a:srgbClr val="1E293B"/>
                </a:solidFill>
              </a:rPr>
              <a:t>2주 </a:t>
            </a:r>
            <a:r>
              <a:rPr lang="en-US" sz="1867" b="1" dirty="0" err="1">
                <a:solidFill>
                  <a:srgbClr val="1E293B"/>
                </a:solidFill>
              </a:rPr>
              <a:t>팀</a:t>
            </a:r>
            <a:r>
              <a:rPr lang="en-US" sz="1867" b="1" dirty="0">
                <a:solidFill>
                  <a:srgbClr val="1E293B"/>
                </a:solidFill>
              </a:rPr>
              <a:t> </a:t>
            </a:r>
            <a:r>
              <a:rPr lang="en-US" sz="1867" b="1" dirty="0" err="1">
                <a:solidFill>
                  <a:srgbClr val="1E293B"/>
                </a:solidFill>
              </a:rPr>
              <a:t>프로젝트</a:t>
            </a:r>
            <a:r>
              <a:rPr lang="ko-KR" altLang="en-US" sz="1867" b="1" dirty="0">
                <a:solidFill>
                  <a:srgbClr val="1E293B"/>
                </a:solidFill>
              </a:rPr>
              <a:t> </a:t>
            </a:r>
            <a:r>
              <a:rPr lang="en-US" altLang="ko-KR" sz="1867" b="1" dirty="0">
                <a:solidFill>
                  <a:srgbClr val="1E293B"/>
                </a:solidFill>
              </a:rPr>
              <a:t>(</a:t>
            </a:r>
            <a:r>
              <a:rPr lang="en-US" altLang="ko-KR" dirty="0"/>
              <a:t>2025.11.18 - 2025.12.04)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6396681" y="1358323"/>
            <a:ext cx="9144000" cy="365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400" b="1" dirty="0">
                <a:solidFill>
                  <a:srgbClr val="1E293B"/>
                </a:solidFill>
              </a:rPr>
              <a:t>    </a:t>
            </a:r>
            <a:r>
              <a:rPr lang="en-US" sz="2400" b="1" dirty="0" err="1">
                <a:solidFill>
                  <a:srgbClr val="1E293B"/>
                </a:solidFill>
              </a:rPr>
              <a:t>기술</a:t>
            </a:r>
            <a:r>
              <a:rPr lang="en-US" sz="2400" b="1" dirty="0">
                <a:solidFill>
                  <a:srgbClr val="1E293B"/>
                </a:solidFill>
              </a:rPr>
              <a:t> </a:t>
            </a:r>
            <a:r>
              <a:rPr lang="en-US" sz="2400" b="1" dirty="0" err="1">
                <a:solidFill>
                  <a:srgbClr val="1E293B"/>
                </a:solidFill>
              </a:rPr>
              <a:t>스택</a:t>
            </a:r>
            <a:endParaRPr lang="en-US" sz="2400" b="1" dirty="0">
              <a:solidFill>
                <a:srgbClr val="1E293B"/>
              </a:solidFill>
            </a:endParaRPr>
          </a:p>
          <a:p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" altLang="ko-KR" dirty="0" err="1"/>
              <a:t>Catshop</a:t>
            </a:r>
            <a:r>
              <a:rPr lang="en" altLang="ko-KR" dirty="0"/>
              <a:t> </a:t>
            </a:r>
            <a:r>
              <a:rPr lang="ko-KR" altLang="en-US" dirty="0"/>
              <a:t>웹 애플리케이션의 안정성을 보장하기 위해 </a:t>
            </a:r>
            <a:endParaRPr lang="en-US" altLang="ko-KR" dirty="0"/>
          </a:p>
          <a:p>
            <a:r>
              <a:rPr lang="ko-KR" altLang="en-US" b="1" dirty="0"/>
              <a:t>   실무 프로세스 기반의 자동화 테스트</a:t>
            </a:r>
            <a:r>
              <a:rPr lang="ko-KR" altLang="en-US" dirty="0"/>
              <a:t>를</a:t>
            </a:r>
            <a:r>
              <a:rPr lang="ko-KR" altLang="en-US" sz="2400" dirty="0"/>
              <a:t> </a:t>
            </a:r>
            <a:r>
              <a:rPr lang="ko-KR" altLang="en-US" dirty="0"/>
              <a:t>구축하고 </a:t>
            </a:r>
            <a:endParaRPr lang="en-US" altLang="ko-KR" dirty="0"/>
          </a:p>
          <a:p>
            <a:r>
              <a:rPr lang="ko-KR" altLang="en-US" dirty="0"/>
              <a:t>    검증하는 프로젝트입니다</a:t>
            </a:r>
            <a:r>
              <a:rPr lang="en-US" altLang="ko-KR" dirty="0"/>
              <a:t>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705600" y="2438400"/>
            <a:ext cx="3657600" cy="54864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6705600" y="2438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75569"/>
                </a:solidFill>
              </a:rPr>
              <a:t>Pytest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05600" y="3169920"/>
            <a:ext cx="3657600" cy="54864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6705600" y="3169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75569"/>
                </a:solidFill>
              </a:rPr>
              <a:t>Selenium Webdriver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05600" y="3901440"/>
            <a:ext cx="3657600" cy="54864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6705600" y="3901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75569"/>
                </a:solidFill>
              </a:rPr>
              <a:t>Python 3.14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05600" y="4632960"/>
            <a:ext cx="3657600" cy="54864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6705600" y="4632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75569"/>
                </a:solidFill>
              </a:rPr>
              <a:t>Jenkins/CI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05600" y="5364480"/>
            <a:ext cx="3657600" cy="54864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/>
          <p:nvPr/>
        </p:nvSpPr>
        <p:spPr>
          <a:xfrm>
            <a:off x="6705600" y="536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475569"/>
                </a:solidFill>
              </a:rPr>
              <a:t>Allure (Planned)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557" y="449610"/>
            <a:ext cx="52074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lang="ko-KR" altLang="en-US" dirty="0"/>
              <a:t>팀 구성 및 역할 </a:t>
            </a:r>
            <a:r>
              <a:rPr lang="en-US" altLang="ko-KR" dirty="0"/>
              <a:t>(</a:t>
            </a:r>
            <a:r>
              <a:rPr dirty="0"/>
              <a:t>Team</a:t>
            </a:r>
            <a:r>
              <a:rPr lang="ko-KR" altLang="en-US" dirty="0"/>
              <a:t> </a:t>
            </a:r>
            <a:r>
              <a:rPr lang="en-US" altLang="ko-KR" dirty="0"/>
              <a:t>Project)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114800" cy="3657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93541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👑 </a:t>
            </a:r>
            <a:r>
              <a:rPr lang="ko-KR" altLang="en-US" dirty="0"/>
              <a:t> 백종우 </a:t>
            </a:r>
            <a:r>
              <a:rPr dirty="0" err="1"/>
              <a:t>팀장</a:t>
            </a:r>
            <a:r>
              <a:rPr dirty="0"/>
              <a:t> (Team Lead)</a:t>
            </a:r>
            <a:br>
              <a:rPr dirty="0"/>
            </a:b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총괄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관리</a:t>
            </a:r>
            <a:endParaRPr lang="en-US" dirty="0"/>
          </a:p>
          <a:p>
            <a:pPr>
              <a:defRPr sz="1800" b="1">
                <a:solidFill>
                  <a:srgbClr val="FFFFFF"/>
                </a:solidFill>
              </a:defRPr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7279" y="3200400"/>
            <a:ext cx="3462363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rPr sz="1600" dirty="0"/>
              <a:t>✔ </a:t>
            </a:r>
            <a:r>
              <a:rPr sz="1600" dirty="0" err="1"/>
              <a:t>전체</a:t>
            </a:r>
            <a:r>
              <a:rPr sz="1600" dirty="0"/>
              <a:t> </a:t>
            </a:r>
            <a:r>
              <a:rPr sz="1600" dirty="0" err="1"/>
              <a:t>일정</a:t>
            </a:r>
            <a:r>
              <a:rPr sz="1600" dirty="0"/>
              <a:t> </a:t>
            </a:r>
            <a:r>
              <a:rPr sz="1600" dirty="0" err="1"/>
              <a:t>및</a:t>
            </a:r>
            <a:r>
              <a:rPr sz="1600" dirty="0"/>
              <a:t> </a:t>
            </a:r>
            <a:r>
              <a:rPr sz="1600" dirty="0" err="1"/>
              <a:t>리소스</a:t>
            </a:r>
            <a:r>
              <a:rPr sz="1600" dirty="0"/>
              <a:t> </a:t>
            </a:r>
            <a:r>
              <a:rPr sz="1600" dirty="0" err="1"/>
              <a:t>관리</a:t>
            </a:r>
            <a:endParaRPr sz="1600" dirty="0"/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rPr sz="1600" dirty="0"/>
              <a:t>✔ E2E </a:t>
            </a:r>
            <a:r>
              <a:rPr sz="1600" dirty="0" err="1"/>
              <a:t>테스트</a:t>
            </a:r>
            <a:r>
              <a:rPr sz="1600" dirty="0"/>
              <a:t> </a:t>
            </a:r>
            <a:r>
              <a:rPr sz="1600" dirty="0" err="1"/>
              <a:t>아키텍처</a:t>
            </a:r>
            <a:r>
              <a:rPr sz="1600" dirty="0"/>
              <a:t> </a:t>
            </a:r>
            <a:r>
              <a:rPr sz="1600" dirty="0" err="1"/>
              <a:t>구축</a:t>
            </a:r>
            <a:endParaRPr sz="1600" dirty="0"/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rPr sz="1600" dirty="0"/>
              <a:t>✔ </a:t>
            </a:r>
            <a:r>
              <a:rPr sz="1600" dirty="0" err="1"/>
              <a:t>최종</a:t>
            </a:r>
            <a:r>
              <a:rPr sz="1600" dirty="0"/>
              <a:t> </a:t>
            </a:r>
            <a:r>
              <a:rPr sz="1600" dirty="0" err="1"/>
              <a:t>품질</a:t>
            </a:r>
            <a:r>
              <a:rPr sz="1600" dirty="0"/>
              <a:t> </a:t>
            </a:r>
            <a:r>
              <a:rPr sz="1600" dirty="0" err="1"/>
              <a:t>검토</a:t>
            </a:r>
            <a:r>
              <a:rPr sz="1600" dirty="0"/>
              <a:t> 및 </a:t>
            </a:r>
            <a:r>
              <a:rPr sz="1600" dirty="0" err="1"/>
              <a:t>배포</a:t>
            </a:r>
            <a:r>
              <a:rPr sz="1600" dirty="0"/>
              <a:t> </a:t>
            </a:r>
            <a:r>
              <a:rPr sz="1600" dirty="0" err="1"/>
              <a:t>승인</a:t>
            </a:r>
            <a:endParaRPr lang="en-US" sz="1600" dirty="0"/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rPr lang="ko-KR" altLang="en-US" sz="1600" dirty="0"/>
              <a:t>✔ </a:t>
            </a:r>
            <a:r>
              <a:rPr lang="en-US" altLang="ko-KR" sz="1600" dirty="0"/>
              <a:t>test_base.py </a:t>
            </a:r>
            <a:r>
              <a:rPr lang="ko-KR" altLang="en-US" sz="1600" dirty="0"/>
              <a:t>제작 </a:t>
            </a:r>
            <a:endParaRPr lang="en-US" sz="1600" dirty="0"/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505020" y="1709540"/>
            <a:ext cx="5943600" cy="122547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05019" y="1983859"/>
            <a:ext cx="1000897" cy="5486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58A6FF"/>
                </a:solidFill>
              </a:defRPr>
            </a:pPr>
            <a:r>
              <a:rPr lang="ko-KR" altLang="en-US" dirty="0"/>
              <a:t>안재원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7353" y="1851212"/>
            <a:ext cx="349486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아키텍처</a:t>
            </a:r>
            <a:r>
              <a:rPr dirty="0"/>
              <a:t> (Integration)</a:t>
            </a:r>
            <a:endParaRPr lang="en-US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400" dirty="0"/>
              <a:t>-</a:t>
            </a:r>
            <a:r>
              <a:rPr lang="ko-KR" altLang="en-US" sz="1400" dirty="0"/>
              <a:t> 테스트 아키텍처 설계</a:t>
            </a:r>
            <a:r>
              <a:rPr lang="en-US" altLang="ko-KR" sz="1400" dirty="0"/>
              <a:t>, </a:t>
            </a:r>
            <a:r>
              <a:rPr lang="en" altLang="ko-KR" sz="1400" dirty="0"/>
              <a:t>CI/CD </a:t>
            </a:r>
            <a:r>
              <a:rPr lang="ko-KR" altLang="en-US" sz="1400" dirty="0"/>
              <a:t>파이프라인 </a:t>
            </a:r>
            <a:endParaRPr lang="en-US" altLang="ko-KR" sz="1400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ko-KR" altLang="en-US" sz="1400" dirty="0"/>
              <a:t>    연동 및 통합 테스트 환경 구성</a:t>
            </a:r>
            <a:endParaRPr lang="en-US" altLang="ko-KR" sz="1400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400" dirty="0"/>
              <a:t>-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test_cart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test_checkout</a:t>
            </a:r>
            <a:r>
              <a:rPr lang="ko-KR" altLang="en-US" sz="1400" dirty="0"/>
              <a:t> 제작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3639" y="3274069"/>
            <a:ext cx="5943600" cy="122547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542258" y="3548389"/>
            <a:ext cx="982277" cy="5486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3021" y="3657037"/>
            <a:ext cx="982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>
                <a:solidFill>
                  <a:srgbClr val="58A6FF"/>
                </a:solidFill>
              </a:defRPr>
            </a:pPr>
            <a:r>
              <a:rPr lang="ko-KR" altLang="en-US" dirty="0" err="1"/>
              <a:t>오예린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615972" y="3456949"/>
            <a:ext cx="331052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 err="1"/>
              <a:t>스크립트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(Implementation)</a:t>
            </a:r>
            <a:endParaRPr lang="en-US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000" dirty="0"/>
              <a:t>-</a:t>
            </a:r>
            <a:r>
              <a:rPr lang="ko-KR" altLang="en-US" sz="1000" dirty="0"/>
              <a:t> </a:t>
            </a:r>
            <a:r>
              <a:rPr lang="ko-KR" altLang="en-US" sz="1400" dirty="0"/>
              <a:t>  자동화 스크립트 코드 구현</a:t>
            </a:r>
            <a:r>
              <a:rPr lang="en-US" altLang="ko-KR" sz="1400" dirty="0"/>
              <a:t>, </a:t>
            </a:r>
            <a:r>
              <a:rPr lang="ko-KR" altLang="en-US" sz="1400" dirty="0"/>
              <a:t>예외 처리 </a:t>
            </a:r>
            <a:endParaRPr lang="en-US" altLang="ko-KR" sz="1400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ko-KR" altLang="en-US" sz="1400" dirty="0"/>
              <a:t>     로직 작성 및 실패 케이스 디버깅</a:t>
            </a:r>
            <a:endParaRPr lang="en-US" altLang="ko-KR" sz="1400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400" dirty="0"/>
              <a:t>-</a:t>
            </a:r>
            <a:r>
              <a:rPr lang="ko-KR" altLang="en-US" sz="1400" dirty="0"/>
              <a:t> </a:t>
            </a:r>
            <a:r>
              <a:rPr lang="en-US" altLang="ko-KR" sz="1400" dirty="0" err="1"/>
              <a:t>test_index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test_register</a:t>
            </a:r>
            <a:r>
              <a:rPr lang="ko-KR" altLang="en-US" sz="1400" dirty="0"/>
              <a:t> 제작</a:t>
            </a:r>
            <a:endParaRPr sz="1400" dirty="0"/>
          </a:p>
        </p:txBody>
      </p:sp>
      <p:sp>
        <p:nvSpPr>
          <p:cNvPr id="19" name="Rounded Rectangle 18"/>
          <p:cNvSpPr/>
          <p:nvPr/>
        </p:nvSpPr>
        <p:spPr>
          <a:xfrm>
            <a:off x="5505019" y="4899322"/>
            <a:ext cx="5943600" cy="122547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523638" y="5173642"/>
            <a:ext cx="982277" cy="54864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9056" y="5274780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58A6FF"/>
                </a:solidFill>
              </a:defRPr>
            </a:pPr>
            <a:r>
              <a:rPr lang="ko-KR" altLang="en-US" dirty="0"/>
              <a:t>박서아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597352" y="5000812"/>
            <a:ext cx="365677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리포팅</a:t>
            </a:r>
            <a:r>
              <a:rPr dirty="0"/>
              <a:t> (Analysis</a:t>
            </a:r>
            <a:r>
              <a:rPr lang="en-US" altLang="ko-KR" dirty="0"/>
              <a:t>)</a:t>
            </a:r>
            <a:endParaRPr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400" dirty="0"/>
              <a:t>-</a:t>
            </a:r>
            <a:r>
              <a:rPr lang="ko-KR" altLang="en-US" sz="1400" dirty="0"/>
              <a:t> 테스트 결과 데이터 분석</a:t>
            </a:r>
            <a:r>
              <a:rPr lang="en-US" altLang="ko-KR" sz="1400" dirty="0"/>
              <a:t>, </a:t>
            </a:r>
            <a:r>
              <a:rPr lang="ko-KR" altLang="en-US" sz="1400" dirty="0"/>
              <a:t>결함 보고서 작성 </a:t>
            </a:r>
            <a:endParaRPr lang="en-US" altLang="ko-KR" sz="1400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400" dirty="0"/>
              <a:t>-</a:t>
            </a:r>
            <a:r>
              <a:rPr lang="ko-KR" altLang="en-US" sz="1400" dirty="0"/>
              <a:t> 최종 발표 자료 제작</a:t>
            </a:r>
            <a:endParaRPr lang="en-US" altLang="ko-KR" sz="1400" dirty="0"/>
          </a:p>
          <a:p>
            <a:pPr>
              <a:defRPr sz="1000">
                <a:solidFill>
                  <a:srgbClr val="8B949E"/>
                </a:solidFill>
              </a:defRPr>
            </a:pPr>
            <a:r>
              <a:rPr lang="en-US" altLang="ko-KR" sz="1400" dirty="0"/>
              <a:t>- </a:t>
            </a:r>
            <a:r>
              <a:rPr lang="en-US" altLang="ko-KR" sz="1400" dirty="0" err="1"/>
              <a:t>test_login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test_product_detail</a:t>
            </a:r>
            <a:r>
              <a:rPr lang="en-US" altLang="ko-KR" sz="1400" dirty="0"/>
              <a:t> </a:t>
            </a:r>
            <a:r>
              <a:rPr lang="ko-KR" altLang="en-US" sz="1400" dirty="0"/>
              <a:t>제작</a:t>
            </a:r>
            <a:endParaRPr sz="14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0FE9C150-C4AF-E1E7-2740-A1C8CBFF981D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965" y="710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테스트 범위 상세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192836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607129" y="1486930"/>
            <a:ext cx="3413760" cy="2438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0009" y="170688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베이스 (Base)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792480" y="2150588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0A5FA"/>
                </a:solidFill>
              </a:rPr>
              <a:t>Common Layout &amp; Nav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792480" y="2387925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914400" y="2412039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rgbClr val="E2E8F0"/>
              </a:solidFill>
            </a:endParaRPr>
          </a:p>
          <a:p>
            <a:endParaRPr lang="en-US" sz="1200" dirty="0">
              <a:solidFill>
                <a:srgbClr val="E2E8F0"/>
              </a:solidFill>
            </a:endParaRPr>
          </a:p>
          <a:p>
            <a:r>
              <a:rPr lang="en-US" sz="1200" dirty="0" err="1">
                <a:solidFill>
                  <a:srgbClr val="E2E8F0"/>
                </a:solidFill>
              </a:rPr>
              <a:t>상단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메뉴</a:t>
            </a:r>
            <a:r>
              <a:rPr lang="en-US" sz="1200" dirty="0">
                <a:solidFill>
                  <a:srgbClr val="E2E8F0"/>
                </a:solidFill>
              </a:rPr>
              <a:t> (Global Nav)</a:t>
            </a:r>
          </a:p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- Home, Cart(0), Login, Sign Up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링크 동작 및</a:t>
            </a:r>
            <a:r>
              <a:rPr lang="ko-KR" altLang="en-US" sz="1000" dirty="0"/>
              <a:t>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라우팅 검증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2480" y="2987040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914400" y="3046277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>
              <a:solidFill>
                <a:srgbClr val="E2E8F0"/>
              </a:solidFill>
            </a:endParaRPr>
          </a:p>
          <a:p>
            <a:endParaRPr lang="en-US" sz="1200" dirty="0">
              <a:solidFill>
                <a:srgbClr val="E2E8F0"/>
              </a:solidFill>
            </a:endParaRPr>
          </a:p>
          <a:p>
            <a:r>
              <a:rPr lang="en-US" sz="1200" dirty="0" err="1">
                <a:solidFill>
                  <a:srgbClr val="E2E8F0"/>
                </a:solidFill>
              </a:rPr>
              <a:t>사용자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상태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표시</a:t>
            </a:r>
            <a:endParaRPr lang="en-US" sz="12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A6A6A6"/>
                </a:solidFill>
              </a:rPr>
              <a:t>- </a:t>
            </a:r>
            <a:r>
              <a:rPr lang="ko-KR" altLang="en-US" sz="1000" dirty="0">
                <a:solidFill>
                  <a:srgbClr val="A6A6A6"/>
                </a:solidFill>
              </a:rPr>
              <a:t>로그인 시 </a:t>
            </a:r>
            <a:r>
              <a:rPr lang="en-US" altLang="ko-KR" sz="1000" dirty="0">
                <a:solidFill>
                  <a:srgbClr val="A6A6A6"/>
                </a:solidFill>
              </a:rPr>
              <a:t>'</a:t>
            </a:r>
            <a:r>
              <a:rPr lang="ko-KR" altLang="en-US" sz="1000" dirty="0">
                <a:solidFill>
                  <a:srgbClr val="A6A6A6"/>
                </a:solidFill>
              </a:rPr>
              <a:t>집사</a:t>
            </a:r>
            <a:r>
              <a:rPr lang="en-US" altLang="ko-KR" sz="1000" dirty="0">
                <a:solidFill>
                  <a:srgbClr val="A6A6A6"/>
                </a:solidFill>
              </a:rPr>
              <a:t>' </a:t>
            </a:r>
            <a:r>
              <a:rPr lang="ko-KR" altLang="en-US" sz="1000" dirty="0">
                <a:solidFill>
                  <a:srgbClr val="A6A6A6"/>
                </a:solidFill>
              </a:rPr>
              <a:t>등급 및 </a:t>
            </a:r>
            <a:r>
              <a:rPr lang="en-US" sz="1000" dirty="0">
                <a:solidFill>
                  <a:srgbClr val="A6A6A6"/>
                </a:solidFill>
              </a:rPr>
              <a:t>username </a:t>
            </a:r>
            <a:r>
              <a:rPr lang="ko-KR" altLang="en-US" sz="1000" dirty="0">
                <a:solidFill>
                  <a:srgbClr val="A6A6A6"/>
                </a:solidFill>
              </a:rPr>
              <a:t>표시 </a:t>
            </a:r>
            <a:endParaRPr lang="en-US" altLang="ko-KR" sz="1000" dirty="0">
              <a:solidFill>
                <a:srgbClr val="A6A6A6"/>
              </a:solidFill>
            </a:endParaRPr>
          </a:p>
          <a:p>
            <a:r>
              <a:rPr lang="ko-KR" altLang="en-US" sz="1000" dirty="0">
                <a:solidFill>
                  <a:srgbClr val="A6A6A6"/>
                </a:solidFill>
              </a:rPr>
              <a:t>여부 확인</a:t>
            </a:r>
            <a:endParaRPr lang="en-US" sz="1000" dirty="0">
              <a:solidFill>
                <a:srgbClr val="A6A6A6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6663" y="3655954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911929" y="375720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2E8F0"/>
                </a:solidFill>
              </a:rPr>
              <a:t>인증 </a:t>
            </a:r>
            <a:r>
              <a:rPr lang="en-US" sz="1200" dirty="0" err="1">
                <a:solidFill>
                  <a:srgbClr val="E2E8F0"/>
                </a:solidFill>
              </a:rPr>
              <a:t>상태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전환</a:t>
            </a:r>
            <a:endParaRPr lang="en-US" sz="12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로그아웃 버튼 노출 및 기능 동작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67200" y="1486930"/>
            <a:ext cx="3413760" cy="2608099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50080" y="1814796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인덱스 (Index)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4511040" y="2150588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0A5FA"/>
                </a:solidFill>
              </a:rPr>
              <a:t>Product Listing Page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450080" y="2430675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4572000" y="2548786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E2E8F0"/>
                </a:solidFill>
              </a:rPr>
              <a:t>상품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목록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렌더링</a:t>
            </a:r>
            <a:r>
              <a:rPr lang="ko-KR" altLang="en-US" sz="1200" dirty="0">
                <a:solidFill>
                  <a:srgbClr val="E2E8F0"/>
                </a:solidFill>
              </a:rPr>
              <a:t> </a:t>
            </a:r>
            <a:endParaRPr lang="en-US" altLang="ko-KR" sz="12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E2E8F0"/>
                </a:solidFill>
              </a:rPr>
              <a:t>-</a:t>
            </a:r>
            <a:r>
              <a:rPr lang="ko-KR" altLang="en-US" sz="1000" dirty="0">
                <a:solidFill>
                  <a:srgbClr val="E2E8F0"/>
                </a:solidFill>
              </a:rPr>
              <a:t>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전체 상품 카드가 정상적으로 로딩되는지 확인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71762" y="2864928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4572000" y="2962476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2E8F0"/>
                </a:solidFill>
              </a:rPr>
              <a:t>상품 </a:t>
            </a:r>
            <a:r>
              <a:rPr lang="en-US" sz="1200" dirty="0" err="1">
                <a:solidFill>
                  <a:srgbClr val="E2E8F0"/>
                </a:solidFill>
              </a:rPr>
              <a:t>정보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표시</a:t>
            </a:r>
            <a:endParaRPr lang="en-US" sz="10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-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 상품 이미지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, 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이름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, 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가격 정보의 정합성 검증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50708" y="3261168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4563687" y="34290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E2E8F0"/>
                </a:solidFill>
              </a:rPr>
              <a:t>장바구니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상호작용</a:t>
            </a:r>
            <a:endParaRPr lang="en-US" sz="1200" dirty="0">
              <a:solidFill>
                <a:srgbClr val="E2E8F0"/>
              </a:solidFill>
            </a:endParaRPr>
          </a:p>
          <a:p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 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-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 목록에서 직접 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'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담기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/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제거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' 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버튼 클릭 시 상태         변경 및 </a:t>
            </a:r>
            <a:r>
              <a:rPr lang="ko-KR" altLang="en-US" sz="1000" dirty="0" err="1">
                <a:solidFill>
                  <a:srgbClr val="BDC6D0"/>
                </a:solidFill>
                <a:latin typeface="Helvetica" pitchFamily="2" charset="0"/>
              </a:rPr>
              <a:t>토글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 기능</a:t>
            </a:r>
            <a:endParaRPr lang="en-US" altLang="ko-KR" sz="1000" dirty="0">
              <a:solidFill>
                <a:srgbClr val="BDC6D0"/>
              </a:solidFill>
              <a:latin typeface="Helvetica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24800" y="1511645"/>
            <a:ext cx="3413760" cy="249935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8107680" y="19507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상품 상세 (Detail)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8107680" y="22555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0A5FA"/>
                </a:solidFill>
              </a:rPr>
              <a:t>Single Product View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8090802" y="2489357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/>
          <p:nvPr/>
        </p:nvSpPr>
        <p:spPr>
          <a:xfrm>
            <a:off x="8229600" y="2560319"/>
            <a:ext cx="2926080" cy="60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2E8F0"/>
                </a:solidFill>
              </a:rPr>
              <a:t>단일 상품 </a:t>
            </a:r>
            <a:r>
              <a:rPr lang="en-US" sz="1200" dirty="0" err="1">
                <a:solidFill>
                  <a:srgbClr val="E2E8F0"/>
                </a:solidFill>
              </a:rPr>
              <a:t>상세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정보</a:t>
            </a:r>
            <a:endParaRPr lang="en-US" sz="12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-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 상품명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, 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상세 설명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, 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가격</a:t>
            </a:r>
            <a:r>
              <a:rPr lang="en-US" altLang="ko-KR" sz="1000" dirty="0">
                <a:solidFill>
                  <a:srgbClr val="BDC6D0"/>
                </a:solidFill>
                <a:latin typeface="Helvetica" pitchFamily="2" charset="0"/>
              </a:rPr>
              <a:t>, </a:t>
            </a:r>
            <a:r>
              <a:rPr lang="ko-KR" altLang="en-US" sz="1000" dirty="0">
                <a:solidFill>
                  <a:srgbClr val="BDC6D0"/>
                </a:solidFill>
                <a:latin typeface="Helvetica" pitchFamily="2" charset="0"/>
              </a:rPr>
              <a:t>큰 이미지 표시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88378" y="2855117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29600" y="304800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E2E8F0"/>
                </a:solidFill>
              </a:rPr>
              <a:t>장바구니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액션</a:t>
            </a:r>
            <a:endParaRPr lang="en-US" sz="1200" dirty="0">
              <a:solidFill>
                <a:srgbClr val="E2E8F0"/>
              </a:solidFill>
            </a:endParaRPr>
          </a:p>
          <a:p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-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 상세 페이지 내 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'</a:t>
            </a:r>
            <a:r>
              <a:rPr lang="en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Add to Cart'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버튼 동작 및 문구 변경 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(</a:t>
            </a:r>
            <a:r>
              <a:rPr lang="en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Add ↔ Remove)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07680" y="3437364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/>
          <p:nvPr/>
        </p:nvSpPr>
        <p:spPr>
          <a:xfrm>
            <a:off x="8229600" y="3607724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E2E8F0"/>
                </a:solidFill>
              </a:rPr>
              <a:t>네비게이션</a:t>
            </a:r>
            <a:r>
              <a:rPr lang="en-US" sz="1200" dirty="0">
                <a:solidFill>
                  <a:srgbClr val="E2E8F0"/>
                </a:solidFill>
              </a:rPr>
              <a:t> </a:t>
            </a:r>
            <a:r>
              <a:rPr lang="en-US" sz="1200" dirty="0" err="1">
                <a:solidFill>
                  <a:srgbClr val="E2E8F0"/>
                </a:solidFill>
              </a:rPr>
              <a:t>복귀</a:t>
            </a:r>
            <a:endParaRPr lang="en-US" sz="12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E2E8F0"/>
                </a:solidFill>
              </a:rPr>
              <a:t>-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목록으로 돌아가기 또는 카테고리 이동 경로 확인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600" y="4023360"/>
            <a:ext cx="3413760" cy="2682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/>
          <p:nvPr/>
        </p:nvSpPr>
        <p:spPr>
          <a:xfrm>
            <a:off x="790009" y="43891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장바구니 (Cart)</a:t>
            </a:r>
            <a:endParaRPr lang="en-US" sz="1867" dirty="0"/>
          </a:p>
        </p:txBody>
      </p:sp>
      <p:sp>
        <p:nvSpPr>
          <p:cNvPr id="34" name="Text 32"/>
          <p:cNvSpPr/>
          <p:nvPr/>
        </p:nvSpPr>
        <p:spPr>
          <a:xfrm>
            <a:off x="2499360" y="43891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0A5FA"/>
                </a:solidFill>
              </a:rPr>
              <a:t>Item Management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801907" y="5061029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4"/>
          <p:cNvSpPr/>
          <p:nvPr/>
        </p:nvSpPr>
        <p:spPr>
          <a:xfrm>
            <a:off x="862867" y="6526491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algn="l" rtl="0" eaLnBrk="1" latinLnBrk="0" hangingPunct="1">
              <a:spcBef>
                <a:spcPts val="600"/>
              </a:spcBef>
              <a:buClrTx/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effectLst/>
                <a:latin typeface="Noto Sans KR"/>
                <a:ea typeface="맑은 고딕" panose="020B0503020000020004" pitchFamily="34" charset="-127"/>
              </a:rPr>
              <a:t>상품목록</a:t>
            </a:r>
            <a:endParaRPr lang="en-US" altLang="ko-KR" sz="1200" b="1" dirty="0">
              <a:solidFill>
                <a:srgbClr val="FFFFFF"/>
              </a:solidFill>
              <a:effectLst/>
              <a:latin typeface="Noto Sans KR"/>
              <a:ea typeface="맑은 고딕" panose="020B0503020000020004" pitchFamily="34" charset="-127"/>
            </a:endParaRPr>
          </a:p>
          <a:p>
            <a:pPr marL="0" algn="l" rtl="0" eaLnBrk="1" latinLnBrk="0" hangingPunct="1">
              <a:spcBef>
                <a:spcPts val="600"/>
              </a:spcBef>
              <a:buClrTx/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맑은 고딕" panose="020B0503020000020004" pitchFamily="34" charset="-127"/>
              </a:rPr>
              <a:t> </a:t>
            </a:r>
            <a:r>
              <a:rPr lang="en-US" altLang="ko-KR" sz="1000" b="1" dirty="0">
                <a:solidFill>
                  <a:srgbClr val="FFFFFF"/>
                </a:solidFill>
                <a:latin typeface="Noto Sans KR"/>
                <a:ea typeface="맑은 고딕" panose="020B0503020000020004" pitchFamily="34" charset="-127"/>
              </a:rPr>
              <a:t>-</a:t>
            </a: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맑은 고딕" panose="020B0503020000020004" pitchFamily="34" charset="-127"/>
              </a:rPr>
              <a:t>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담긴 상품 목록 표시</a:t>
            </a:r>
            <a:r>
              <a:rPr lang="ko-KR" altLang="en-US" sz="1000" b="1" dirty="0">
                <a:solidFill>
                  <a:srgbClr val="FFFFFF"/>
                </a:solidFill>
                <a:effectLst/>
                <a:latin typeface="Noto Sans KR"/>
                <a:ea typeface="맑은 고딕" panose="020B0503020000020004" pitchFamily="34" charset="-127"/>
              </a:rPr>
              <a:t> </a:t>
            </a:r>
            <a:endParaRPr lang="en-US" altLang="ko-KR" sz="1000" b="1" dirty="0">
              <a:solidFill>
                <a:srgbClr val="FFFFFF"/>
              </a:solidFill>
              <a:latin typeface="Noto Sans KR"/>
              <a:ea typeface="맑은 고딕" panose="020B0503020000020004" pitchFamily="34" charset="-127"/>
            </a:endParaRPr>
          </a:p>
          <a:p>
            <a:pPr marL="0" algn="l" rtl="0" eaLnBrk="1" latinLnBrk="0" hangingPunct="1">
              <a:spcBef>
                <a:spcPts val="600"/>
              </a:spcBef>
              <a:buClrTx/>
              <a:buSzPts val="1200"/>
            </a:pPr>
            <a:endParaRPr lang="en-US" altLang="ko-KR" sz="1200" b="1" dirty="0">
              <a:solidFill>
                <a:srgbClr val="FFFFFF"/>
              </a:solidFill>
              <a:effectLst/>
              <a:latin typeface="Noto Sans KR"/>
              <a:ea typeface="맑은 고딕" panose="020B0503020000020004" pitchFamily="34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1907" y="5733045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Text 36"/>
          <p:cNvSpPr/>
          <p:nvPr/>
        </p:nvSpPr>
        <p:spPr>
          <a:xfrm>
            <a:off x="853440" y="5128988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algn="l" rtl="0" eaLnBrk="1" latinLnBrk="0" hangingPunct="1">
              <a:spcBef>
                <a:spcPts val="600"/>
              </a:spcBef>
              <a:buClrTx/>
              <a:buSzPts val="1200"/>
            </a:pPr>
            <a:r>
              <a:rPr lang="ko-KR" altLang="en-US" sz="1200" b="1" dirty="0">
                <a:solidFill>
                  <a:srgbClr val="FFFFFF"/>
                </a:solidFill>
                <a:latin typeface="Noto Sans KR"/>
                <a:ea typeface="맑은 고딕" panose="020B0503020000020004" pitchFamily="34" charset="-127"/>
              </a:rPr>
              <a:t>장바구니 처리</a:t>
            </a:r>
            <a:endParaRPr lang="ko-KR" altLang="ko-KR" sz="1200" dirty="0">
              <a:effectLst/>
            </a:endParaRPr>
          </a:p>
          <a:p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-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 상품이 없을 때의 안내 메시지 및 </a:t>
            </a:r>
            <a:r>
              <a:rPr lang="en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UI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상태 확인</a:t>
            </a:r>
            <a:endParaRPr lang="en-US" sz="1000" dirty="0">
              <a:solidFill>
                <a:srgbClr val="E2E8F0"/>
              </a:solidFill>
            </a:endParaRPr>
          </a:p>
          <a:p>
            <a:pPr algn="l">
              <a:spcBef>
                <a:spcPts val="600"/>
              </a:spcBef>
            </a:pPr>
            <a:r>
              <a:rPr lang="ko-KR" altLang="en-US" sz="1200" b="1" i="0" dirty="0">
                <a:solidFill>
                  <a:srgbClr val="FFFFFF"/>
                </a:solidFill>
                <a:effectLst/>
                <a:latin typeface="Noto Sans KR"/>
              </a:rPr>
              <a:t>항목 제거 </a:t>
            </a:r>
            <a:r>
              <a:rPr lang="en-US" altLang="ko-KR" sz="1200" b="1" i="0" dirty="0">
                <a:solidFill>
                  <a:srgbClr val="FFFFFF"/>
                </a:solidFill>
                <a:effectLst/>
                <a:latin typeface="Noto Sans KR"/>
              </a:rPr>
              <a:t>(</a:t>
            </a:r>
            <a:r>
              <a:rPr lang="en" altLang="ko-KR" sz="1200" b="1" i="0" dirty="0">
                <a:solidFill>
                  <a:srgbClr val="FFFFFF"/>
                </a:solidFill>
                <a:effectLst/>
                <a:latin typeface="Noto Sans KR"/>
              </a:rPr>
              <a:t>Remove)</a:t>
            </a:r>
          </a:p>
          <a:p>
            <a:pPr algn="l">
              <a:spcBef>
                <a:spcPts val="600"/>
              </a:spcBef>
            </a:pPr>
            <a:r>
              <a:rPr lang="ko-KR" altLang="en-US" sz="1000" b="1" i="0" dirty="0">
                <a:solidFill>
                  <a:srgbClr val="FFFFFF"/>
                </a:solidFill>
                <a:effectLst/>
              </a:rPr>
              <a:t> </a:t>
            </a:r>
            <a:r>
              <a:rPr lang="en-US" altLang="ko-KR" sz="1000" b="1" i="0" dirty="0">
                <a:solidFill>
                  <a:srgbClr val="FFFFFF"/>
                </a:solidFill>
                <a:effectLst/>
              </a:rPr>
              <a:t>-</a:t>
            </a:r>
            <a:r>
              <a:rPr lang="ko-KR" altLang="en-US" sz="1000" b="1" i="0" dirty="0">
                <a:solidFill>
                  <a:srgbClr val="FFFFFF"/>
                </a:solidFill>
                <a:effectLst/>
              </a:rPr>
              <a:t> </a:t>
            </a:r>
            <a:r>
              <a:rPr lang="ko-KR" altLang="en-US" sz="1000" b="0" i="0" dirty="0">
                <a:solidFill>
                  <a:srgbClr val="C9D1D9"/>
                </a:solidFill>
                <a:effectLst/>
              </a:rPr>
              <a:t>개별 상품 삭제 시 목록 갱신 및 합계 재계산</a:t>
            </a:r>
          </a:p>
          <a:p>
            <a:pPr algn="l">
              <a:spcBef>
                <a:spcPts val="600"/>
              </a:spcBef>
            </a:pPr>
            <a:endParaRPr lang="en-US" altLang="ko-KR" sz="1200" dirty="0">
              <a:solidFill>
                <a:srgbClr val="C9D1D9"/>
              </a:solidFill>
              <a:latin typeface="Noto Sans KR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02536" y="6259717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Text 38"/>
          <p:cNvSpPr/>
          <p:nvPr/>
        </p:nvSpPr>
        <p:spPr>
          <a:xfrm>
            <a:off x="853440" y="5874793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algn="l" rtl="0" eaLnBrk="1" latinLnBrk="0" hangingPunct="1">
              <a:spcBef>
                <a:spcPts val="600"/>
              </a:spcBef>
              <a:buClrTx/>
              <a:buSzPts val="1200"/>
            </a:pPr>
            <a:r>
              <a:rPr lang="ko-KR" altLang="ko-KR" sz="1200" b="1" i="0" kern="1200" dirty="0">
                <a:solidFill>
                  <a:srgbClr val="FFFFFF"/>
                </a:solidFill>
                <a:effectLst/>
                <a:latin typeface="Noto Sans KR"/>
                <a:ea typeface="맑은 고딕" panose="020B0503020000020004" pitchFamily="34" charset="-127"/>
                <a:cs typeface="+mn-cs"/>
              </a:rPr>
              <a:t>네비게이션 액션</a:t>
            </a:r>
            <a:endParaRPr lang="ko-KR" altLang="ko-KR" sz="1200" dirty="0">
              <a:effectLst/>
            </a:endParaRPr>
          </a:p>
          <a:p>
            <a:r>
              <a:rPr lang="en-US" altLang="ko-KR" sz="1000" b="0" i="0" dirty="0">
                <a:solidFill>
                  <a:srgbClr val="C9D1D9"/>
                </a:solidFill>
                <a:effectLst/>
              </a:rPr>
              <a:t>- ‘</a:t>
            </a:r>
            <a:r>
              <a:rPr lang="ko-KR" altLang="en-US" sz="1000" b="0" i="0" dirty="0">
                <a:solidFill>
                  <a:srgbClr val="C9D1D9"/>
                </a:solidFill>
                <a:effectLst/>
              </a:rPr>
              <a:t>쇼핑 계속하기</a:t>
            </a:r>
            <a:r>
              <a:rPr lang="en-US" altLang="ko-KR" sz="1000" b="0" i="0" dirty="0">
                <a:solidFill>
                  <a:srgbClr val="C9D1D9"/>
                </a:solidFill>
                <a:effectLst/>
              </a:rPr>
              <a:t>' </a:t>
            </a:r>
            <a:r>
              <a:rPr lang="ko-KR" altLang="en-US" sz="1000" b="0" i="0" dirty="0">
                <a:solidFill>
                  <a:srgbClr val="C9D1D9"/>
                </a:solidFill>
                <a:effectLst/>
              </a:rPr>
              <a:t>및 </a:t>
            </a:r>
            <a:r>
              <a:rPr lang="en-US" altLang="ko-KR" sz="1000" b="0" i="0" dirty="0">
                <a:solidFill>
                  <a:srgbClr val="C9D1D9"/>
                </a:solidFill>
                <a:effectLst/>
              </a:rPr>
              <a:t>'</a:t>
            </a:r>
            <a:r>
              <a:rPr lang="ko-KR" altLang="en-US" sz="1000" b="0" i="0" dirty="0">
                <a:solidFill>
                  <a:srgbClr val="C9D1D9"/>
                </a:solidFill>
                <a:effectLst/>
              </a:rPr>
              <a:t>결제하기</a:t>
            </a:r>
            <a:r>
              <a:rPr lang="en-US" altLang="ko-KR" sz="1000" b="0" i="0" dirty="0">
                <a:solidFill>
                  <a:srgbClr val="C9D1D9"/>
                </a:solidFill>
                <a:effectLst/>
              </a:rPr>
              <a:t>' </a:t>
            </a:r>
            <a:r>
              <a:rPr lang="ko-KR" altLang="en-US" sz="1000" b="0" i="0" dirty="0">
                <a:solidFill>
                  <a:srgbClr val="C9D1D9"/>
                </a:solidFill>
                <a:effectLst/>
              </a:rPr>
              <a:t>버튼 동작 확인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67200" y="4145280"/>
            <a:ext cx="3413760" cy="25340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450080" y="4425366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결제 (Checkout)</a:t>
            </a:r>
            <a:endParaRPr lang="en-US" sz="1867" dirty="0"/>
          </a:p>
        </p:txBody>
      </p:sp>
      <p:sp>
        <p:nvSpPr>
          <p:cNvPr id="43" name="Text 41"/>
          <p:cNvSpPr/>
          <p:nvPr/>
        </p:nvSpPr>
        <p:spPr>
          <a:xfrm>
            <a:off x="6156960" y="4408891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0A5FA"/>
                </a:solidFill>
              </a:rPr>
              <a:t>Order Processing</a:t>
            </a:r>
            <a:endParaRPr lang="en-US" sz="1333" dirty="0"/>
          </a:p>
        </p:txBody>
      </p:sp>
      <p:sp>
        <p:nvSpPr>
          <p:cNvPr id="44" name="Shape 42"/>
          <p:cNvSpPr/>
          <p:nvPr/>
        </p:nvSpPr>
        <p:spPr>
          <a:xfrm>
            <a:off x="4441282" y="4822842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Text 43"/>
          <p:cNvSpPr/>
          <p:nvPr/>
        </p:nvSpPr>
        <p:spPr>
          <a:xfrm>
            <a:off x="4572000" y="493776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200" b="1" i="0" dirty="0">
                <a:solidFill>
                  <a:srgbClr val="FFFFFF"/>
                </a:solidFill>
                <a:effectLst/>
                <a:latin typeface="Noto Sans KR"/>
              </a:rPr>
              <a:t>결제 정보 입력</a:t>
            </a:r>
            <a:endParaRPr lang="en-US" sz="1200" dirty="0">
              <a:solidFill>
                <a:schemeClr val="bg1"/>
              </a:solidFill>
            </a:endParaRPr>
          </a:p>
          <a:p>
            <a:pPr algn="l"/>
            <a:r>
              <a:rPr lang="en-US" altLang="ko-KR" sz="1000" dirty="0">
                <a:solidFill>
                  <a:srgbClr val="C9D1D9"/>
                </a:solidFill>
                <a:latin typeface="Noto Sans KR"/>
              </a:rPr>
              <a:t>-</a:t>
            </a:r>
            <a:r>
              <a:rPr lang="ko-KR" altLang="en-US" sz="1000" dirty="0">
                <a:solidFill>
                  <a:srgbClr val="C9D1D9"/>
                </a:solidFill>
                <a:latin typeface="Noto Sans KR"/>
              </a:rPr>
              <a:t>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필수 정보 입력 및 유효성 검사</a:t>
            </a:r>
          </a:p>
        </p:txBody>
      </p:sp>
      <p:sp>
        <p:nvSpPr>
          <p:cNvPr id="46" name="Shape 44"/>
          <p:cNvSpPr/>
          <p:nvPr/>
        </p:nvSpPr>
        <p:spPr>
          <a:xfrm>
            <a:off x="4441282" y="5283033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Text 45"/>
          <p:cNvSpPr/>
          <p:nvPr/>
        </p:nvSpPr>
        <p:spPr>
          <a:xfrm>
            <a:off x="4572000" y="560832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lang="ko-KR" altLang="en-US" sz="1200" b="1" i="0" dirty="0">
                <a:solidFill>
                  <a:srgbClr val="FFFFFF"/>
                </a:solidFill>
                <a:effectLst/>
                <a:latin typeface="Noto Sans KR"/>
              </a:rPr>
              <a:t>데이터 검증 </a:t>
            </a:r>
            <a:endParaRPr lang="en-US" altLang="ko-KR" sz="1200" b="1" dirty="0">
              <a:solidFill>
                <a:srgbClr val="FFFFFF"/>
              </a:solidFill>
              <a:latin typeface="Noto Sans KR"/>
            </a:endParaRPr>
          </a:p>
          <a:p>
            <a:pPr algn="l">
              <a:spcBef>
                <a:spcPts val="600"/>
              </a:spcBef>
            </a:pPr>
            <a:r>
              <a:rPr lang="en-US" altLang="ko-KR" sz="1000" b="1" i="0" dirty="0">
                <a:solidFill>
                  <a:srgbClr val="FFFFFF"/>
                </a:solidFill>
                <a:effectLst/>
                <a:latin typeface="Noto Sans KR"/>
              </a:rPr>
              <a:t>-</a:t>
            </a:r>
            <a:r>
              <a:rPr lang="ko-KR" altLang="en-US" sz="1000" b="1" i="0" dirty="0">
                <a:solidFill>
                  <a:srgbClr val="FFFFFF"/>
                </a:solidFill>
                <a:effectLst/>
                <a:latin typeface="Noto Sans KR"/>
              </a:rPr>
              <a:t>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입력된 배송 정보가 주문 결과에 올바르게 반영되는지 확인</a:t>
            </a:r>
          </a:p>
          <a:p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450080" y="6035040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Text 47"/>
          <p:cNvSpPr/>
          <p:nvPr/>
        </p:nvSpPr>
        <p:spPr>
          <a:xfrm>
            <a:off x="4563687" y="6261581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lang="ko-KR" altLang="en-US" sz="1200" b="1" i="0" dirty="0">
                <a:solidFill>
                  <a:srgbClr val="FFFFFF"/>
                </a:solidFill>
                <a:effectLst/>
                <a:latin typeface="Noto Sans KR"/>
              </a:rPr>
              <a:t>주문 완료 처리</a:t>
            </a:r>
            <a:r>
              <a:rPr lang="ko-KR" altLang="en-US" sz="1200" b="1" dirty="0">
                <a:solidFill>
                  <a:srgbClr val="FFFFFF"/>
                </a:solidFill>
                <a:latin typeface="Noto Sans KR"/>
              </a:rPr>
              <a:t> </a:t>
            </a:r>
            <a:endParaRPr lang="en-US" altLang="ko-KR" sz="1200" b="1" dirty="0">
              <a:solidFill>
                <a:srgbClr val="FFFFFF"/>
              </a:solidFill>
              <a:latin typeface="Noto Sans KR"/>
            </a:endParaRPr>
          </a:p>
          <a:p>
            <a:pPr algn="l">
              <a:spcBef>
                <a:spcPts val="600"/>
              </a:spcBef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lang="en-US" altLang="ko-KR" sz="1000" b="1" dirty="0">
                <a:solidFill>
                  <a:srgbClr val="FFFFFF"/>
                </a:solidFill>
                <a:latin typeface="Noto Sans KR"/>
              </a:rPr>
              <a:t>-</a:t>
            </a:r>
            <a:r>
              <a:rPr lang="ko-KR" altLang="en-US" sz="1000" b="1" dirty="0">
                <a:solidFill>
                  <a:srgbClr val="FFFFFF"/>
                </a:solidFill>
                <a:latin typeface="Noto Sans KR"/>
              </a:rPr>
              <a:t>  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'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결제 완료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'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시 주문 접수 팝업 및 성공     </a:t>
            </a:r>
            <a:r>
              <a:rPr lang="ko-KR" altLang="en-US" sz="1000" dirty="0">
                <a:solidFill>
                  <a:srgbClr val="C9D1D9"/>
                </a:solidFill>
                <a:latin typeface="Noto Sans KR"/>
              </a:rPr>
              <a:t>  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페이지 이동</a:t>
            </a:r>
          </a:p>
        </p:txBody>
      </p:sp>
      <p:sp>
        <p:nvSpPr>
          <p:cNvPr id="50" name="Shape 48"/>
          <p:cNvSpPr/>
          <p:nvPr/>
        </p:nvSpPr>
        <p:spPr>
          <a:xfrm>
            <a:off x="7924800" y="4167448"/>
            <a:ext cx="3474720" cy="251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8012965" y="4449256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</a:rPr>
              <a:t>로그인/회원가입</a:t>
            </a:r>
            <a:endParaRPr lang="en-US" sz="1867" dirty="0"/>
          </a:p>
        </p:txBody>
      </p:sp>
      <p:sp>
        <p:nvSpPr>
          <p:cNvPr id="52" name="Text 50"/>
          <p:cNvSpPr/>
          <p:nvPr/>
        </p:nvSpPr>
        <p:spPr>
          <a:xfrm>
            <a:off x="8012965" y="4702982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0A5FA"/>
                </a:solidFill>
              </a:rPr>
              <a:t>Authentication</a:t>
            </a:r>
            <a:endParaRPr lang="en-US" sz="1333" dirty="0"/>
          </a:p>
        </p:txBody>
      </p:sp>
      <p:sp>
        <p:nvSpPr>
          <p:cNvPr id="53" name="Shape 51"/>
          <p:cNvSpPr/>
          <p:nvPr/>
        </p:nvSpPr>
        <p:spPr>
          <a:xfrm>
            <a:off x="8077200" y="4876800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4" name="Text 52"/>
          <p:cNvSpPr/>
          <p:nvPr/>
        </p:nvSpPr>
        <p:spPr>
          <a:xfrm>
            <a:off x="8090802" y="4984923"/>
            <a:ext cx="3413760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로그인 (Login)</a:t>
            </a:r>
          </a:p>
          <a:p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-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 유효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/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무효 계정 로그인 시도 및 에러 메시지 처리 검 검증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95381" y="5309991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54"/>
          <p:cNvSpPr/>
          <p:nvPr/>
        </p:nvSpPr>
        <p:spPr>
          <a:xfrm>
            <a:off x="8090802" y="5392902"/>
            <a:ext cx="3203675" cy="60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 err="1">
                <a:solidFill>
                  <a:schemeClr val="bg1"/>
                </a:solidFill>
              </a:rPr>
              <a:t>회원가입</a:t>
            </a:r>
            <a:r>
              <a:rPr lang="en-US" sz="1100" dirty="0">
                <a:solidFill>
                  <a:schemeClr val="bg1"/>
                </a:solidFill>
              </a:rPr>
              <a:t> (Register)</a:t>
            </a:r>
          </a:p>
          <a:p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-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 </a:t>
            </a:r>
            <a:r>
              <a:rPr lang="ko-KR" altLang="en-US" sz="1000" b="0" i="0" dirty="0" err="1">
                <a:solidFill>
                  <a:srgbClr val="C9D1D9"/>
                </a:solidFill>
                <a:effectLst/>
                <a:latin typeface="Noto Sans KR"/>
              </a:rPr>
              <a:t>유저명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,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패스워드</a:t>
            </a: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,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확인 입력 및 </a:t>
            </a:r>
            <a:r>
              <a:rPr lang="en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Sign Up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버튼  동작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07680" y="5763525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8" name="Text 56"/>
          <p:cNvSpPr/>
          <p:nvPr/>
        </p:nvSpPr>
        <p:spPr>
          <a:xfrm>
            <a:off x="8107680" y="613616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spcBef>
                <a:spcPts val="600"/>
              </a:spcBef>
            </a:pPr>
            <a:r>
              <a:rPr lang="ko-KR" altLang="en-US" sz="1000" b="1" i="0" dirty="0">
                <a:solidFill>
                  <a:srgbClr val="FFFFFF"/>
                </a:solidFill>
                <a:effectLst/>
                <a:latin typeface="Noto Sans KR"/>
              </a:rPr>
              <a:t> 로그아웃 </a:t>
            </a:r>
            <a:r>
              <a:rPr lang="en-US" altLang="ko-KR" sz="1000" b="1" i="0" dirty="0">
                <a:solidFill>
                  <a:srgbClr val="FFFFFF"/>
                </a:solidFill>
                <a:effectLst/>
                <a:latin typeface="Noto Sans KR"/>
              </a:rPr>
              <a:t>(</a:t>
            </a:r>
            <a:r>
              <a:rPr lang="en" altLang="ko-KR" sz="1000" b="1" i="0" dirty="0">
                <a:solidFill>
                  <a:srgbClr val="FFFFFF"/>
                </a:solidFill>
                <a:effectLst/>
                <a:latin typeface="Noto Sans KR"/>
              </a:rPr>
              <a:t>Logout)</a:t>
            </a:r>
            <a:r>
              <a:rPr lang="ko-KR" altLang="en-US" sz="1000" b="1" i="0" dirty="0">
                <a:solidFill>
                  <a:srgbClr val="FFFFFF"/>
                </a:solidFill>
                <a:effectLst/>
                <a:latin typeface="Noto Sans KR"/>
              </a:rPr>
              <a:t>  </a:t>
            </a:r>
            <a:r>
              <a:rPr lang="en-US" altLang="ko-KR" sz="1000" b="1" dirty="0">
                <a:solidFill>
                  <a:srgbClr val="FFFFFF"/>
                </a:solidFill>
                <a:latin typeface="Noto Sans KR"/>
              </a:rPr>
              <a:t>-</a:t>
            </a:r>
            <a:r>
              <a:rPr lang="ko-KR" altLang="en-US" sz="1000" b="1" dirty="0">
                <a:solidFill>
                  <a:srgbClr val="FFFFFF"/>
                </a:solidFill>
                <a:latin typeface="Noto Sans KR"/>
              </a:rPr>
              <a:t>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세션 종료 및 홈 화면 확인</a:t>
            </a:r>
          </a:p>
          <a:p>
            <a:pPr algn="l">
              <a:spcBef>
                <a:spcPts val="600"/>
              </a:spcBef>
            </a:pPr>
            <a:r>
              <a:rPr lang="ko-KR" altLang="en-US" sz="1100" b="1" i="0" dirty="0">
                <a:solidFill>
                  <a:srgbClr val="FFFFFF"/>
                </a:solidFill>
                <a:effectLst/>
                <a:latin typeface="Noto Sans KR"/>
              </a:rPr>
              <a:t> 보안 검증</a:t>
            </a:r>
            <a:endParaRPr lang="en-US" altLang="ko-KR" sz="1100" b="1" i="0" dirty="0">
              <a:solidFill>
                <a:srgbClr val="FFFFFF"/>
              </a:solidFill>
              <a:effectLst/>
              <a:latin typeface="Noto Sans KR"/>
            </a:endParaRPr>
          </a:p>
          <a:p>
            <a:pPr algn="l">
              <a:spcBef>
                <a:spcPts val="600"/>
              </a:spcBef>
            </a:pPr>
            <a:r>
              <a:rPr lang="en-US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-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 비밀번호 불일치 등 가입 예외 케이스 처리 확인</a:t>
            </a:r>
          </a:p>
          <a:p>
            <a:endParaRPr lang="en-US" sz="1200" dirty="0"/>
          </a:p>
        </p:txBody>
      </p:sp>
      <p:sp>
        <p:nvSpPr>
          <p:cNvPr id="3" name="Text 16">
            <a:extLst>
              <a:ext uri="{FF2B5EF4-FFF2-40B4-BE49-F238E27FC236}">
                <a16:creationId xmlns:a16="http://schemas.microsoft.com/office/drawing/2014/main" id="{1987BBCA-DDCC-5D9B-FB99-8BD6BD5A04B5}"/>
              </a:ext>
            </a:extLst>
          </p:cNvPr>
          <p:cNvSpPr/>
          <p:nvPr/>
        </p:nvSpPr>
        <p:spPr>
          <a:xfrm>
            <a:off x="4563687" y="3870362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E2E8F0"/>
                </a:solidFill>
              </a:rPr>
              <a:t>상</a:t>
            </a:r>
            <a:r>
              <a:rPr lang="ko-KR" altLang="en-US" sz="1200" dirty="0">
                <a:solidFill>
                  <a:srgbClr val="E2E8F0"/>
                </a:solidFill>
              </a:rPr>
              <a:t>세 페이지 연결</a:t>
            </a:r>
            <a:endParaRPr lang="en-US" altLang="ko-KR" sz="1200" dirty="0">
              <a:solidFill>
                <a:srgbClr val="E2E8F0"/>
              </a:solidFill>
            </a:endParaRPr>
          </a:p>
          <a:p>
            <a:r>
              <a:rPr lang="en-US" altLang="ko-KR" sz="1000" dirty="0">
                <a:solidFill>
                  <a:srgbClr val="E2E8F0"/>
                </a:solidFill>
              </a:rPr>
              <a:t>-</a:t>
            </a:r>
            <a:r>
              <a:rPr lang="ko-KR" altLang="en-US" sz="1000" dirty="0">
                <a:solidFill>
                  <a:srgbClr val="E2E8F0"/>
                </a:solidFill>
              </a:rPr>
              <a:t>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상품 클릭 시 해당 </a:t>
            </a:r>
            <a:r>
              <a:rPr lang="en" altLang="ko-KR" sz="1000" b="0" i="0" dirty="0">
                <a:solidFill>
                  <a:srgbClr val="C9D1D9"/>
                </a:solidFill>
                <a:effectLst/>
                <a:latin typeface="Noto Sans KR"/>
              </a:rPr>
              <a:t>Product Detail </a:t>
            </a:r>
            <a:r>
              <a:rPr lang="ko-KR" altLang="en-US" sz="1000" b="0" i="0" dirty="0">
                <a:solidFill>
                  <a:srgbClr val="C9D1D9"/>
                </a:solidFill>
                <a:effectLst/>
                <a:latin typeface="Noto Sans KR"/>
              </a:rPr>
              <a:t>페이지로 이동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Shape 55">
            <a:extLst>
              <a:ext uri="{FF2B5EF4-FFF2-40B4-BE49-F238E27FC236}">
                <a16:creationId xmlns:a16="http://schemas.microsoft.com/office/drawing/2014/main" id="{629B9424-7FC2-16EA-DFA9-794229696268}"/>
              </a:ext>
            </a:extLst>
          </p:cNvPr>
          <p:cNvSpPr/>
          <p:nvPr/>
        </p:nvSpPr>
        <p:spPr>
          <a:xfrm>
            <a:off x="8099960" y="6004560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0" name="Shape 33">
            <a:extLst>
              <a:ext uri="{FF2B5EF4-FFF2-40B4-BE49-F238E27FC236}">
                <a16:creationId xmlns:a16="http://schemas.microsoft.com/office/drawing/2014/main" id="{E230A564-1AE5-9878-9EE5-EFA0F88A4561}"/>
              </a:ext>
            </a:extLst>
          </p:cNvPr>
          <p:cNvSpPr/>
          <p:nvPr/>
        </p:nvSpPr>
        <p:spPr>
          <a:xfrm>
            <a:off x="790009" y="4632961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4B89C97C-E3E2-7E71-44C7-DD155DCB0653}"/>
              </a:ext>
            </a:extLst>
          </p:cNvPr>
          <p:cNvSpPr/>
          <p:nvPr/>
        </p:nvSpPr>
        <p:spPr>
          <a:xfrm>
            <a:off x="4456364" y="3757208"/>
            <a:ext cx="60960" cy="60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Test Strategy &amp; Stability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2282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  <a:latin typeface="Arial"/>
              </a:defRPr>
            </a:pPr>
            <a:r>
              <a:rPr dirty="0"/>
              <a:t>Strategic Approach</a:t>
            </a:r>
            <a:endParaRPr lang="en-US" dirty="0"/>
          </a:p>
          <a:p>
            <a:pPr>
              <a:defRPr sz="1400">
                <a:solidFill>
                  <a:srgbClr val="8B949E"/>
                </a:solidFill>
                <a:latin typeface="Arial"/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효율적인 테스트 커버리지 확보와 자동화 스크립트의 안정성을 보장하기 위한 전략적 접근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137160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Smoke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011680"/>
            <a:ext cx="1371600" cy="274320"/>
          </a:xfrm>
          <a:prstGeom prst="roundRect">
            <a:avLst/>
          </a:prstGeom>
          <a:solidFill>
            <a:srgbClr val="28282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C8CFF"/>
                </a:solidFill>
              </a:defRPr>
            </a:pPr>
            <a:r>
              <a:t>Critical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정상</a:t>
            </a:r>
            <a:r>
              <a:rPr dirty="0"/>
              <a:t>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빠르게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(Login/Checkout)</a:t>
            </a:r>
            <a:r>
              <a:rPr lang="ko-KR" altLang="en-US" dirty="0"/>
              <a:t> 빌드 안정성 확보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029200" cy="137160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Regression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566160"/>
            <a:ext cx="1371600" cy="274320"/>
          </a:xfrm>
          <a:prstGeom prst="roundRect">
            <a:avLst/>
          </a:prstGeom>
          <a:solidFill>
            <a:srgbClr val="28282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C8CFF"/>
                </a:solidFill>
              </a:defRPr>
            </a:pPr>
            <a:r>
              <a:t>Main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스위트</a:t>
            </a:r>
            <a:r>
              <a:rPr lang="ko-KR" altLang="en-US"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퇴행</a:t>
            </a:r>
            <a:r>
              <a:rPr dirty="0"/>
              <a:t> </a:t>
            </a:r>
            <a:r>
              <a:rPr dirty="0" err="1"/>
              <a:t>여부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Negative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120640"/>
            <a:ext cx="1371600" cy="274320"/>
          </a:xfrm>
          <a:prstGeom prst="roundRect">
            <a:avLst/>
          </a:prstGeom>
          <a:solidFill>
            <a:srgbClr val="28282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C8CFF"/>
                </a:solidFill>
              </a:defRPr>
            </a:pPr>
            <a:r>
              <a:t>Error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rPr lang="ko-KR" altLang="en-US" sz="1100" dirty="0"/>
              <a:t>잘못된 입력</a:t>
            </a:r>
            <a:r>
              <a:rPr lang="en-US" altLang="ko-KR" sz="1100" dirty="0"/>
              <a:t>, </a:t>
            </a:r>
            <a:r>
              <a:rPr lang="ko-KR" altLang="en-US" sz="1100" dirty="0"/>
              <a:t>인증 실패 등 예외 상황에서의 시스템 동작 및 적절한 오류 메시지 표시 검증</a:t>
            </a:r>
            <a:r>
              <a:rPr lang="en-US" altLang="ko-KR" sz="1100" dirty="0"/>
              <a:t>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486400" cy="4754880"/>
          </a:xfrm>
          <a:prstGeom prst="roundRect">
            <a:avLst/>
          </a:prstGeom>
          <a:solidFill>
            <a:srgbClr val="12161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2309089"/>
            <a:ext cx="45720" cy="73152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2309089"/>
            <a:ext cx="36576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Explicit Wait </a:t>
            </a:r>
            <a:r>
              <a:rPr dirty="0" err="1"/>
              <a:t>적용</a:t>
            </a:r>
            <a:endParaRPr dirty="0"/>
          </a:p>
          <a:p>
            <a:pPr>
              <a:lnSpc>
                <a:spcPct val="150000"/>
              </a:lnSpc>
              <a:spcBef>
                <a:spcPts val="300"/>
              </a:spcBef>
              <a:defRPr sz="1100">
                <a:solidFill>
                  <a:srgbClr val="8B949E"/>
                </a:solidFill>
              </a:defRPr>
            </a:pPr>
            <a:r>
              <a:rPr dirty="0"/>
              <a:t>UI </a:t>
            </a:r>
            <a:r>
              <a:rPr dirty="0" err="1"/>
              <a:t>요소</a:t>
            </a:r>
            <a:r>
              <a:rPr dirty="0"/>
              <a:t> </a:t>
            </a:r>
            <a:r>
              <a:rPr dirty="0" err="1"/>
              <a:t>가시성</a:t>
            </a:r>
            <a:r>
              <a:rPr dirty="0"/>
              <a:t>/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대기하여</a:t>
            </a:r>
            <a:r>
              <a:rPr dirty="0"/>
              <a:t> </a:t>
            </a:r>
            <a:r>
              <a:rPr lang="ko-KR" altLang="en-US" dirty="0"/>
              <a:t>네트워크 지연 등으로 </a:t>
            </a:r>
            <a:r>
              <a:rPr dirty="0"/>
              <a:t>Flaky Test </a:t>
            </a:r>
            <a:r>
              <a:rPr dirty="0" err="1"/>
              <a:t>방지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583680" y="3680689"/>
            <a:ext cx="45720" cy="73152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3680689"/>
            <a:ext cx="3657600" cy="86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스크린샷</a:t>
            </a:r>
            <a:endParaRPr dirty="0"/>
          </a:p>
          <a:p>
            <a:pPr>
              <a:lnSpc>
                <a:spcPct val="150000"/>
              </a:lnSpc>
              <a:spcBef>
                <a:spcPts val="300"/>
              </a:spcBef>
              <a:defRPr sz="1100">
                <a:solidFill>
                  <a:srgbClr val="8B949E"/>
                </a:solidFill>
              </a:defRPr>
            </a:pP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캡처</a:t>
            </a:r>
            <a:r>
              <a:rPr lang="ko-KR" altLang="en-US" dirty="0"/>
              <a:t>하여</a:t>
            </a:r>
            <a:r>
              <a:rPr dirty="0"/>
              <a:t> </a:t>
            </a:r>
            <a:r>
              <a:rPr dirty="0" err="1"/>
              <a:t>저장</a:t>
            </a:r>
            <a:r>
              <a:rPr lang="en-US" altLang="ko-KR" dirty="0"/>
              <a:t>.</a:t>
            </a:r>
            <a:endParaRPr lang="en-US" dirty="0"/>
          </a:p>
          <a:p>
            <a:pPr>
              <a:lnSpc>
                <a:spcPct val="150000"/>
              </a:lnSpc>
              <a:spcBef>
                <a:spcPts val="300"/>
              </a:spcBef>
              <a:defRPr sz="1100">
                <a:solidFill>
                  <a:srgbClr val="8B949E"/>
                </a:solidFill>
              </a:defRPr>
            </a:pPr>
            <a:r>
              <a:rPr lang="ko-KR" altLang="en-US" dirty="0"/>
              <a:t>원인 분석 시간 단축 및 디버깅 효율화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583680" y="5052289"/>
            <a:ext cx="45720" cy="73152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5052289"/>
            <a:ext cx="3657600" cy="82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Selenium Manager </a:t>
            </a:r>
            <a:r>
              <a:rPr dirty="0" err="1"/>
              <a:t>동기화</a:t>
            </a:r>
            <a:endParaRPr lang="ko-KR" altLang="en-US" dirty="0"/>
          </a:p>
          <a:p>
            <a:pPr>
              <a:lnSpc>
                <a:spcPct val="150000"/>
              </a:lnSpc>
              <a:spcBef>
                <a:spcPts val="300"/>
              </a:spcBef>
              <a:defRPr sz="1100">
                <a:solidFill>
                  <a:srgbClr val="8B949E"/>
                </a:solidFill>
              </a:defRPr>
            </a:pPr>
            <a:r>
              <a:rPr lang="en" dirty="0"/>
              <a:t>C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I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환경에서 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Chrome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브라우저와 </a:t>
            </a:r>
            <a:r>
              <a:rPr lang="en" altLang="ko-KR" b="0" i="0" dirty="0" err="1">
                <a:solidFill>
                  <a:srgbClr val="8B949E"/>
                </a:solidFill>
                <a:effectLst/>
                <a:latin typeface="Noto Sans KR"/>
              </a:rPr>
              <a:t>ChromeDriver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버전을 자동으로 매칭 및 관리하여 버전 불일치 오류 제거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1AF33E-5670-7DB8-929E-0109CD243C1A}"/>
              </a:ext>
            </a:extLst>
          </p:cNvPr>
          <p:cNvSpPr txBox="1"/>
          <p:nvPr/>
        </p:nvSpPr>
        <p:spPr>
          <a:xfrm>
            <a:off x="914400" y="1280160"/>
            <a:ext cx="2565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r>
              <a:rPr lang="ko-KR" altLang="en-US" b="1" i="0" dirty="0">
                <a:solidFill>
                  <a:srgbClr val="FFFFFF"/>
                </a:solidFill>
                <a:effectLst/>
                <a:latin typeface="Noto Sans KR"/>
              </a:rPr>
              <a:t>테스트 유형 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Noto Sans KR"/>
              </a:rPr>
              <a:t>(</a:t>
            </a:r>
            <a:r>
              <a:rPr lang="en" altLang="ko-KR" b="1" i="0" dirty="0">
                <a:solidFill>
                  <a:srgbClr val="FFFFFF"/>
                </a:solidFill>
                <a:effectLst/>
                <a:latin typeface="Noto Sans KR"/>
              </a:rPr>
              <a:t>Test Types)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DE19F7-E664-72E5-359D-E55195A98F12}"/>
              </a:ext>
            </a:extLst>
          </p:cNvPr>
          <p:cNvSpPr txBox="1"/>
          <p:nvPr/>
        </p:nvSpPr>
        <p:spPr>
          <a:xfrm>
            <a:off x="6480335" y="975955"/>
            <a:ext cx="3010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None/>
            </a:pPr>
            <a:br>
              <a:rPr lang="ko-KR" altLang="en-US" b="1" i="0" dirty="0">
                <a:solidFill>
                  <a:srgbClr val="FFFFFF"/>
                </a:solidFill>
                <a:effectLst/>
                <a:latin typeface="Noto Sans KR"/>
              </a:rPr>
            </a:br>
            <a:r>
              <a:rPr lang="ko-KR" altLang="en-US" b="1" i="0" dirty="0">
                <a:solidFill>
                  <a:srgbClr val="FFFFFF"/>
                </a:solidFill>
                <a:effectLst/>
                <a:latin typeface="Noto Sans KR"/>
              </a:rPr>
              <a:t>안정성 규칙 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Noto Sans KR"/>
              </a:rPr>
              <a:t>(</a:t>
            </a:r>
            <a:r>
              <a:rPr lang="en" altLang="ko-KR" b="1" i="0" dirty="0">
                <a:solidFill>
                  <a:srgbClr val="FFFFFF"/>
                </a:solidFill>
                <a:effectLst/>
                <a:latin typeface="Noto Sans KR"/>
              </a:rPr>
              <a:t>Stability Rules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Noto Sans KR"/>
              </a:rPr>
              <a:t>)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C0C8EF86-0DDC-5713-857B-D1D78BF10358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856D7-0DC1-107B-2FFE-938E8969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A49025D-EF70-496C-D3C5-BB6A3B2F717A}"/>
              </a:ext>
            </a:extLst>
          </p:cNvPr>
          <p:cNvSpPr/>
          <p:nvPr/>
        </p:nvSpPr>
        <p:spPr>
          <a:xfrm>
            <a:off x="4986609" y="354194"/>
            <a:ext cx="2011680" cy="36576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58A6FF"/>
                </a:solidFill>
              </a:defRPr>
            </a:pPr>
            <a:r>
              <a:t>SYSTEM 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178DE-AC2A-D73B-823E-347D50DA8211}"/>
              </a:ext>
            </a:extLst>
          </p:cNvPr>
          <p:cNvSpPr txBox="1"/>
          <p:nvPr/>
        </p:nvSpPr>
        <p:spPr>
          <a:xfrm>
            <a:off x="855416" y="8873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E2E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구성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7DB00-A756-7550-6F28-037187BC4065}"/>
              </a:ext>
            </a:extLst>
          </p:cNvPr>
          <p:cNvSpPr txBox="1"/>
          <p:nvPr/>
        </p:nvSpPr>
        <p:spPr>
          <a:xfrm>
            <a:off x="916251" y="15501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B949E"/>
                </a:solidFill>
              </a:defRPr>
            </a:pPr>
            <a:r>
              <a:rPr dirty="0"/>
              <a:t>(End-to-End Test Configuration)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E38B21-B84A-E559-6DC8-E2C0B58C15B0}"/>
              </a:ext>
            </a:extLst>
          </p:cNvPr>
          <p:cNvSpPr/>
          <p:nvPr/>
        </p:nvSpPr>
        <p:spPr>
          <a:xfrm>
            <a:off x="473491" y="2514600"/>
            <a:ext cx="3657600" cy="347472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4D75F-B3D7-08C2-FBBD-D84EE2006BD0}"/>
              </a:ext>
            </a:extLst>
          </p:cNvPr>
          <p:cNvSpPr txBox="1"/>
          <p:nvPr/>
        </p:nvSpPr>
        <p:spPr>
          <a:xfrm>
            <a:off x="640080" y="29032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🖥️  </a:t>
            </a:r>
            <a:r>
              <a:rPr dirty="0" err="1"/>
              <a:t>환경</a:t>
            </a:r>
            <a:r>
              <a:rPr dirty="0"/>
              <a:t> (Environment)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1926927-D71C-32A1-A4C8-A6C27CF0B8F7}"/>
              </a:ext>
            </a:extLst>
          </p:cNvPr>
          <p:cNvSpPr/>
          <p:nvPr/>
        </p:nvSpPr>
        <p:spPr>
          <a:xfrm>
            <a:off x="594360" y="3520440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A4DB5-0E74-E318-3FA7-A404C481F833}"/>
              </a:ext>
            </a:extLst>
          </p:cNvPr>
          <p:cNvSpPr txBox="1"/>
          <p:nvPr/>
        </p:nvSpPr>
        <p:spPr>
          <a:xfrm>
            <a:off x="1022131" y="3530431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Python 3.14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/>
              <a:t>Latest Stable Runtime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E0024AA-941E-498E-1293-90CB6AD8FF0C}"/>
              </a:ext>
            </a:extLst>
          </p:cNvPr>
          <p:cNvSpPr/>
          <p:nvPr/>
        </p:nvSpPr>
        <p:spPr>
          <a:xfrm>
            <a:off x="584901" y="4297683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12C6A-A558-BCB8-A5C3-A0A607A96FD9}"/>
              </a:ext>
            </a:extLst>
          </p:cNvPr>
          <p:cNvSpPr txBox="1"/>
          <p:nvPr/>
        </p:nvSpPr>
        <p:spPr>
          <a:xfrm>
            <a:off x="1022131" y="4389117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Chrome + Driver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Selenium Manager 자동 동기화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009DC7-0AF1-24D8-50C9-5FD49B4D9FB7}"/>
              </a:ext>
            </a:extLst>
          </p:cNvPr>
          <p:cNvSpPr/>
          <p:nvPr/>
        </p:nvSpPr>
        <p:spPr>
          <a:xfrm>
            <a:off x="584901" y="5061791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280018-A222-5CD2-00DB-45299CA61CFC}"/>
              </a:ext>
            </a:extLst>
          </p:cNvPr>
          <p:cNvSpPr txBox="1"/>
          <p:nvPr/>
        </p:nvSpPr>
        <p:spPr>
          <a:xfrm>
            <a:off x="1022131" y="5101461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Headless Mode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/>
              <a:t>CI/Server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최적화</a:t>
            </a:r>
            <a:endParaRPr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E37483-C5EC-6E02-2D34-08D69EEB0C45}"/>
              </a:ext>
            </a:extLst>
          </p:cNvPr>
          <p:cNvSpPr/>
          <p:nvPr/>
        </p:nvSpPr>
        <p:spPr>
          <a:xfrm>
            <a:off x="4357063" y="2504087"/>
            <a:ext cx="3657600" cy="347472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140D7-9DDD-3B2C-F411-439ABA271FF4}"/>
              </a:ext>
            </a:extLst>
          </p:cNvPr>
          <p:cNvSpPr txBox="1"/>
          <p:nvPr/>
        </p:nvSpPr>
        <p:spPr>
          <a:xfrm>
            <a:off x="4572000" y="2860391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🏃  실행 (Execution)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25756B5-F8AA-6818-3706-32FE068C7393}"/>
              </a:ext>
            </a:extLst>
          </p:cNvPr>
          <p:cNvSpPr/>
          <p:nvPr/>
        </p:nvSpPr>
        <p:spPr>
          <a:xfrm>
            <a:off x="4558862" y="3526747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4C1C29-A457-BB5C-4E8A-C8DCA8127B51}"/>
              </a:ext>
            </a:extLst>
          </p:cNvPr>
          <p:cNvSpPr txBox="1"/>
          <p:nvPr/>
        </p:nvSpPr>
        <p:spPr>
          <a:xfrm>
            <a:off x="4556623" y="368624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DA2389-DAE9-F7A7-A236-29D3361B192B}"/>
              </a:ext>
            </a:extLst>
          </p:cNvPr>
          <p:cNvSpPr txBox="1"/>
          <p:nvPr/>
        </p:nvSpPr>
        <p:spPr>
          <a:xfrm>
            <a:off x="5011583" y="3554608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Pytest</a:t>
            </a:r>
            <a:r>
              <a:rPr dirty="0"/>
              <a:t> Framework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디스커버리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실행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F1CC42-E477-E6E9-ADBA-21D575B741E4}"/>
              </a:ext>
            </a:extLst>
          </p:cNvPr>
          <p:cNvSpPr/>
          <p:nvPr/>
        </p:nvSpPr>
        <p:spPr>
          <a:xfrm>
            <a:off x="4558862" y="4309246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902D12-2C76-0FCF-248B-0F75CAF01D19}"/>
              </a:ext>
            </a:extLst>
          </p:cNvPr>
          <p:cNvSpPr txBox="1"/>
          <p:nvPr/>
        </p:nvSpPr>
        <p:spPr>
          <a:xfrm>
            <a:off x="4568321" y="4434837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87EC49-1737-0A67-B174-6F92E49B0801}"/>
              </a:ext>
            </a:extLst>
          </p:cNvPr>
          <p:cNvSpPr txBox="1"/>
          <p:nvPr/>
        </p:nvSpPr>
        <p:spPr>
          <a:xfrm>
            <a:off x="5011583" y="4338171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Explicit Waits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동적 요소 대기 (Flaky 방지)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9511A93-E732-4E78-4F99-B6C6E94F3E21}"/>
              </a:ext>
            </a:extLst>
          </p:cNvPr>
          <p:cNvSpPr/>
          <p:nvPr/>
        </p:nvSpPr>
        <p:spPr>
          <a:xfrm>
            <a:off x="4559113" y="5063896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EE7C0-340B-910A-400F-E4EBC97F3408}"/>
              </a:ext>
            </a:extLst>
          </p:cNvPr>
          <p:cNvSpPr txBox="1"/>
          <p:nvPr/>
        </p:nvSpPr>
        <p:spPr>
          <a:xfrm>
            <a:off x="4568321" y="525543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283872-5330-5BDA-FF72-04B2EA22DD82}"/>
              </a:ext>
            </a:extLst>
          </p:cNvPr>
          <p:cNvSpPr txBox="1"/>
          <p:nvPr/>
        </p:nvSpPr>
        <p:spPr>
          <a:xfrm>
            <a:off x="5011583" y="5147181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Auto Screenshot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r>
              <a:t>실패 시 증적 자료 자동 저장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CCE3EF1-25D8-7174-04D9-70923EACFE02}"/>
              </a:ext>
            </a:extLst>
          </p:cNvPr>
          <p:cNvSpPr/>
          <p:nvPr/>
        </p:nvSpPr>
        <p:spPr>
          <a:xfrm>
            <a:off x="8303172" y="2495941"/>
            <a:ext cx="3657600" cy="3474720"/>
          </a:xfrm>
          <a:prstGeom prst="roundRect">
            <a:avLst/>
          </a:prstGeom>
          <a:solidFill>
            <a:srgbClr val="161B2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DA3387-2976-96FD-B8D9-4E338F8EE560}"/>
              </a:ext>
            </a:extLst>
          </p:cNvPr>
          <p:cNvSpPr txBox="1"/>
          <p:nvPr/>
        </p:nvSpPr>
        <p:spPr>
          <a:xfrm>
            <a:off x="8503920" y="2926083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⚡  </a:t>
            </a:r>
            <a:r>
              <a:rPr dirty="0" err="1"/>
              <a:t>트리거</a:t>
            </a:r>
            <a:r>
              <a:rPr dirty="0"/>
              <a:t> (Trigger)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EC41138-3E65-CCE2-D154-9FD911A0E5D3}"/>
              </a:ext>
            </a:extLst>
          </p:cNvPr>
          <p:cNvSpPr/>
          <p:nvPr/>
        </p:nvSpPr>
        <p:spPr>
          <a:xfrm>
            <a:off x="8486052" y="3463168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584501C-7C2B-355D-1E81-1A73B7C7956D}"/>
              </a:ext>
            </a:extLst>
          </p:cNvPr>
          <p:cNvSpPr/>
          <p:nvPr/>
        </p:nvSpPr>
        <p:spPr>
          <a:xfrm>
            <a:off x="8641080" y="3693992"/>
            <a:ext cx="822960" cy="228600"/>
          </a:xfrm>
          <a:prstGeom prst="roundRect">
            <a:avLst/>
          </a:prstGeom>
          <a:solidFill>
            <a:srgbClr val="58A6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 Open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5918A-7098-E9D7-88F4-30739E089A19}"/>
              </a:ext>
            </a:extLst>
          </p:cNvPr>
          <p:cNvSpPr txBox="1"/>
          <p:nvPr/>
        </p:nvSpPr>
        <p:spPr>
          <a:xfrm>
            <a:off x="9972752" y="3660228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rPr dirty="0"/>
              <a:t>Smoke Test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9E2561-11E2-5B8B-E7A0-6C1F014817FE}"/>
              </a:ext>
            </a:extLst>
          </p:cNvPr>
          <p:cNvSpPr txBox="1"/>
          <p:nvPr/>
        </p:nvSpPr>
        <p:spPr>
          <a:xfrm>
            <a:off x="8637275" y="39483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핵심 경로 빠른 검증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0082591-C252-A5DC-EE5E-A962EA4447CC}"/>
              </a:ext>
            </a:extLst>
          </p:cNvPr>
          <p:cNvSpPr/>
          <p:nvPr/>
        </p:nvSpPr>
        <p:spPr>
          <a:xfrm>
            <a:off x="8467384" y="4309246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39BEC80-4AD3-22F2-0D37-9E643E4DA797}"/>
              </a:ext>
            </a:extLst>
          </p:cNvPr>
          <p:cNvSpPr/>
          <p:nvPr/>
        </p:nvSpPr>
        <p:spPr>
          <a:xfrm>
            <a:off x="8637275" y="4434837"/>
            <a:ext cx="822960" cy="228600"/>
          </a:xfrm>
          <a:prstGeom prst="roundRect">
            <a:avLst/>
          </a:prstGeom>
          <a:solidFill>
            <a:srgbClr val="3FB95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Main Push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6930BD-319B-49DA-AF99-80946A62E74A}"/>
              </a:ext>
            </a:extLst>
          </p:cNvPr>
          <p:cNvSpPr txBox="1"/>
          <p:nvPr/>
        </p:nvSpPr>
        <p:spPr>
          <a:xfrm>
            <a:off x="9903372" y="4416377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B949E"/>
                </a:solidFill>
              </a:defRPr>
            </a:pPr>
            <a:r>
              <a:rPr dirty="0"/>
              <a:t>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7365C7-4FBA-7915-9C10-C04704F4EDF2}"/>
              </a:ext>
            </a:extLst>
          </p:cNvPr>
          <p:cNvSpPr txBox="1"/>
          <p:nvPr/>
        </p:nvSpPr>
        <p:spPr>
          <a:xfrm>
            <a:off x="9961179" y="446472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rPr dirty="0"/>
              <a:t>Regression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9FA5B7-1626-3BA0-B3B8-53086AA0C35D}"/>
              </a:ext>
            </a:extLst>
          </p:cNvPr>
          <p:cNvSpPr txBox="1"/>
          <p:nvPr/>
        </p:nvSpPr>
        <p:spPr>
          <a:xfrm>
            <a:off x="8637275" y="472899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t>전체 기능 회귀 테스트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EE6364C-25B1-42C3-270D-13820DB39FF7}"/>
              </a:ext>
            </a:extLst>
          </p:cNvPr>
          <p:cNvSpPr/>
          <p:nvPr/>
        </p:nvSpPr>
        <p:spPr>
          <a:xfrm>
            <a:off x="8454395" y="5101461"/>
            <a:ext cx="3291840" cy="731520"/>
          </a:xfrm>
          <a:prstGeom prst="roundRect">
            <a:avLst/>
          </a:prstGeom>
          <a:solidFill>
            <a:srgbClr val="21262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675826E-E1B7-B867-E8A7-14C9C59882C8}"/>
              </a:ext>
            </a:extLst>
          </p:cNvPr>
          <p:cNvSpPr/>
          <p:nvPr/>
        </p:nvSpPr>
        <p:spPr>
          <a:xfrm>
            <a:off x="8637275" y="5238621"/>
            <a:ext cx="822960" cy="228600"/>
          </a:xfrm>
          <a:prstGeom prst="roundRect">
            <a:avLst/>
          </a:prstGeom>
          <a:solidFill>
            <a:srgbClr val="8B949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C8C8"/>
                </a:solidFill>
              </a:defRPr>
            </a:pPr>
            <a:r>
              <a:t>Nightly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621C92-621D-E8BF-8C5A-DD36A2F4DABC}"/>
              </a:ext>
            </a:extLst>
          </p:cNvPr>
          <p:cNvSpPr txBox="1"/>
          <p:nvPr/>
        </p:nvSpPr>
        <p:spPr>
          <a:xfrm>
            <a:off x="9935954" y="366114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B949E"/>
                </a:solidFill>
              </a:defRPr>
            </a:pPr>
            <a:r>
              <a:rPr dirty="0"/>
              <a:t>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14F9E9-87C2-A965-E91F-E37998D01D86}"/>
              </a:ext>
            </a:extLst>
          </p:cNvPr>
          <p:cNvSpPr txBox="1"/>
          <p:nvPr/>
        </p:nvSpPr>
        <p:spPr>
          <a:xfrm>
            <a:off x="9917435" y="5277645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rPr dirty="0"/>
              <a:t>Full Suite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D4C1C9-D26E-3859-2E69-35148CF3A487}"/>
              </a:ext>
            </a:extLst>
          </p:cNvPr>
          <p:cNvSpPr txBox="1"/>
          <p:nvPr/>
        </p:nvSpPr>
        <p:spPr>
          <a:xfrm>
            <a:off x="8614279" y="5551965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B949E"/>
                </a:solidFill>
              </a:defRPr>
            </a:pPr>
            <a:r>
              <a:rPr dirty="0" err="1"/>
              <a:t>예정된</a:t>
            </a:r>
            <a:r>
              <a:rPr dirty="0"/>
              <a:t>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A9000D-90AD-768D-76C2-9B7BECA7F297}"/>
              </a:ext>
            </a:extLst>
          </p:cNvPr>
          <p:cNvSpPr txBox="1"/>
          <p:nvPr/>
        </p:nvSpPr>
        <p:spPr>
          <a:xfrm>
            <a:off x="640080" y="363186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⚙️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764601-58E8-A31D-FF4D-E6A290E54364}"/>
              </a:ext>
            </a:extLst>
          </p:cNvPr>
          <p:cNvSpPr txBox="1"/>
          <p:nvPr/>
        </p:nvSpPr>
        <p:spPr>
          <a:xfrm>
            <a:off x="625365" y="445297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⚙️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3D6616-4290-4ECB-9A45-566A2006DA51}"/>
              </a:ext>
            </a:extLst>
          </p:cNvPr>
          <p:cNvSpPr txBox="1"/>
          <p:nvPr/>
        </p:nvSpPr>
        <p:spPr>
          <a:xfrm>
            <a:off x="644284" y="5192901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⚙️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AF9A22-9261-29B1-486E-E4BA9C2A5BF2}"/>
              </a:ext>
            </a:extLst>
          </p:cNvPr>
          <p:cNvSpPr txBox="1"/>
          <p:nvPr/>
        </p:nvSpPr>
        <p:spPr>
          <a:xfrm>
            <a:off x="9939129" y="5238621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8B949E"/>
                </a:solidFill>
              </a:defRPr>
            </a:pPr>
            <a:r>
              <a:rPr dirty="0"/>
              <a:t>➔</a:t>
            </a:r>
          </a:p>
        </p:txBody>
      </p:sp>
    </p:spTree>
    <p:extLst>
      <p:ext uri="{BB962C8B-B14F-4D97-AF65-F5344CB8AC3E}">
        <p14:creationId xmlns:p14="http://schemas.microsoft.com/office/powerpoint/2010/main" val="3026737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rPr dirty="0"/>
              <a:t>UI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Base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베이스 (Base)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t>Insert Screenshot for Base Layout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6563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글로벌</a:t>
            </a:r>
            <a:r>
              <a:rPr dirty="0"/>
              <a:t> </a:t>
            </a:r>
            <a:r>
              <a:rPr dirty="0" err="1"/>
              <a:t>내비게이션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/>
              <a:t>Home, Products, Login/Logout </a:t>
            </a:r>
            <a:r>
              <a:rPr dirty="0" err="1"/>
              <a:t>등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라우팅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</a:t>
            </a:r>
            <a:r>
              <a:rPr dirty="0" err="1"/>
              <a:t>동작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3142207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(User State)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여부에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'</a:t>
            </a:r>
            <a:r>
              <a:rPr dirty="0" err="1"/>
              <a:t>집사</a:t>
            </a:r>
            <a:r>
              <a:rPr dirty="0"/>
              <a:t>' </a:t>
            </a:r>
            <a:r>
              <a:rPr dirty="0" err="1"/>
              <a:t>등급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Username </a:t>
            </a:r>
            <a:r>
              <a:rPr dirty="0" err="1"/>
              <a:t>노출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3690434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/>
              <a:t>Cart </a:t>
            </a:r>
            <a:r>
              <a:rPr dirty="0" err="1"/>
              <a:t>배지</a:t>
            </a:r>
            <a:r>
              <a:rPr dirty="0"/>
              <a:t> </a:t>
            </a:r>
            <a:r>
              <a:rPr dirty="0" err="1"/>
              <a:t>동기화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lang="ko-KR" altLang="en-US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장바구니에 담긴 상품 개수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(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ex: Cart (2))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가 실시간으로 반영되는지 확인</a:t>
            </a:r>
            <a:endParaRPr lang="ko-KR" altLang="en-US" dirty="0"/>
          </a:p>
        </p:txBody>
      </p:sp>
      <p:pic>
        <p:nvPicPr>
          <p:cNvPr id="17" name="그림 16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05F81F3-0BDE-3DB4-CDEB-C4EA5ED0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6858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t>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집사 로그인 (Login)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t>Insert Screenshot for Login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3073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Username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및 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Password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입력 필드의 데이터 입력 가능 여부 확인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3251211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ko-KR" altLang="en-US" dirty="0"/>
              <a:t>오류 메시지 처리 </a:t>
            </a:r>
            <a:r>
              <a:rPr lang="en-US" altLang="ko-KR" dirty="0"/>
              <a:t>(</a:t>
            </a:r>
            <a:r>
              <a:rPr lang="en" dirty="0"/>
              <a:t>TC-002)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잘못된 계정 정보 입력 시 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"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Invalid username or password"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등의 </a:t>
            </a:r>
            <a:endParaRPr lang="en-US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피드백 메시지 출력 검증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3629520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동작</a:t>
            </a:r>
            <a:r>
              <a:rPr dirty="0"/>
              <a:t> (TC-001)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Login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버튼 클릭 후 성공 시 메인 페이지 </a:t>
            </a:r>
            <a:r>
              <a:rPr lang="ko-KR" altLang="en-US" b="0" i="0" dirty="0" err="1">
                <a:solidFill>
                  <a:srgbClr val="8B949E"/>
                </a:solidFill>
                <a:effectLst/>
                <a:latin typeface="Noto Sans KR"/>
              </a:rPr>
              <a:t>리다이렉션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 및 세션 생성 확인</a:t>
            </a:r>
            <a:endParaRPr dirty="0"/>
          </a:p>
        </p:txBody>
      </p:sp>
      <p:pic>
        <p:nvPicPr>
          <p:cNvPr id="17" name="그림 1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F1FB24-75C0-64AA-76F1-8BB61FCDF3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6"/>
          <a:stretch/>
        </p:blipFill>
        <p:spPr>
          <a:xfrm>
            <a:off x="5029200" y="914401"/>
            <a:ext cx="6858000" cy="55778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1371600"/>
            <a:ext cx="3657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b="1" i="0" dirty="0">
                <a:solidFill>
                  <a:srgbClr val="FFFFFF"/>
                </a:solidFill>
                <a:effectLst/>
                <a:latin typeface="Noto Sans KR"/>
              </a:rPr>
              <a:t>집사 회원가입 </a:t>
            </a:r>
            <a:r>
              <a:rPr lang="en-US" altLang="ko-KR" b="1" i="0" dirty="0">
                <a:solidFill>
                  <a:srgbClr val="FFFFFF"/>
                </a:solidFill>
                <a:effectLst/>
                <a:latin typeface="Noto Sans KR"/>
              </a:rPr>
              <a:t>(</a:t>
            </a:r>
            <a:r>
              <a:rPr lang="en" altLang="ko-KR" b="1" i="0" dirty="0">
                <a:solidFill>
                  <a:srgbClr val="FFFFFF"/>
                </a:solidFill>
                <a:effectLst/>
                <a:latin typeface="Noto Sans KR"/>
              </a:rPr>
              <a:t>Register)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새로운 사용자의 계정 생성 프로세스와 </a:t>
            </a:r>
            <a:r>
              <a:rPr lang="ko-KR" altLang="en-US" sz="1200" b="0" i="0" dirty="0" err="1">
                <a:solidFill>
                  <a:srgbClr val="8B949E"/>
                </a:solidFill>
                <a:effectLst/>
                <a:latin typeface="Noto Sans KR"/>
              </a:rPr>
              <a:t>입력값</a:t>
            </a: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 </a:t>
            </a:r>
            <a:endParaRPr lang="en-US" altLang="ko-KR" sz="1200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유효성 검증 기능을 확인합니다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.</a:t>
            </a:r>
            <a:endParaRPr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t>Insert Screenshot for Register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72890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ko-KR" altLang="en-US" dirty="0"/>
              <a:t>필수 정보 입력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endParaRPr lang="en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Username, Password, Password Confirm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필드의 입력 및 포커스 동작 검증</a:t>
            </a:r>
            <a:endParaRPr lang="ko-KR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376256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비밀번호</a:t>
            </a:r>
            <a:r>
              <a:rPr dirty="0"/>
              <a:t> </a:t>
            </a:r>
            <a:r>
              <a:rPr dirty="0" err="1"/>
              <a:t>일치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비밀번호와</a:t>
            </a:r>
            <a:r>
              <a:rPr dirty="0"/>
              <a:t> </a:t>
            </a:r>
            <a:r>
              <a:rPr lang="ko-KR" altLang="en-US" dirty="0"/>
              <a:t>비밀번호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필드</a:t>
            </a:r>
            <a:r>
              <a:rPr lang="ko-KR" altLang="en-US" dirty="0"/>
              <a:t>의</a:t>
            </a:r>
            <a:r>
              <a:rPr dirty="0"/>
              <a:t> </a:t>
            </a:r>
            <a:r>
              <a:rPr dirty="0" err="1"/>
              <a:t>값이</a:t>
            </a:r>
            <a:r>
              <a:rPr dirty="0"/>
              <a:t> </a:t>
            </a:r>
            <a:r>
              <a:rPr dirty="0" err="1"/>
              <a:t>일치할</a:t>
            </a:r>
            <a:r>
              <a:rPr dirty="0"/>
              <a:t> </a:t>
            </a:r>
            <a:r>
              <a:rPr dirty="0" err="1"/>
              <a:t>때만</a:t>
            </a:r>
            <a:r>
              <a:rPr dirty="0"/>
              <a:t> </a:t>
            </a: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진행</a:t>
            </a:r>
            <a:r>
              <a:rPr lang="ko-KR" altLang="en-US" dirty="0"/>
              <a:t>가능 확인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275107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가입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처리</a:t>
            </a: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/>
              <a:t>Sign Up </a:t>
            </a:r>
            <a:r>
              <a:rPr dirty="0" err="1"/>
              <a:t>클릭</a:t>
            </a:r>
            <a:r>
              <a:rPr dirty="0"/>
              <a:t> </a:t>
            </a:r>
            <a:r>
              <a:rPr dirty="0" err="1"/>
              <a:t>시</a:t>
            </a:r>
            <a:r>
              <a:rPr dirty="0"/>
              <a:t> DB </a:t>
            </a:r>
            <a:r>
              <a:rPr dirty="0" err="1"/>
              <a:t>저장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pic>
        <p:nvPicPr>
          <p:cNvPr id="17" name="그림 16" descr="텍스트, 소프트웨어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B59489-4B61-0999-958E-D059B19E1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71323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t>Cart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Cart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43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dirty="0"/>
              <a:t>장바구니 </a:t>
            </a:r>
            <a:r>
              <a:rPr lang="en-US" altLang="ko-KR" dirty="0"/>
              <a:t>(</a:t>
            </a:r>
            <a:r>
              <a:rPr lang="en" dirty="0"/>
              <a:t>Cart)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endParaRPr lang="en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장바구니에 담긴 상품 목록 확인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, </a:t>
            </a: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수량 및 합계 계산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, 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그리고 주요 액션 버튼의 동작을 검증합니다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.</a:t>
            </a:r>
            <a:endParaRPr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rPr dirty="0"/>
              <a:t>Insert Screenshot for Cart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076483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정보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추가한</a:t>
            </a:r>
            <a:r>
              <a:rPr dirty="0"/>
              <a:t> </a:t>
            </a:r>
            <a:r>
              <a:rPr dirty="0" err="1"/>
              <a:t>상품명</a:t>
            </a:r>
            <a:r>
              <a:rPr dirty="0"/>
              <a:t>, </a:t>
            </a:r>
            <a:r>
              <a:rPr dirty="0" err="1"/>
              <a:t>가격</a:t>
            </a:r>
            <a:r>
              <a:rPr dirty="0"/>
              <a:t>, </a:t>
            </a:r>
            <a:r>
              <a:rPr dirty="0" err="1"/>
              <a:t>수량</a:t>
            </a:r>
            <a:r>
              <a:rPr dirty="0"/>
              <a:t> </a:t>
            </a:r>
            <a:r>
              <a:rPr dirty="0" err="1"/>
              <a:t>정보가</a:t>
            </a:r>
            <a:r>
              <a:rPr dirty="0"/>
              <a:t> </a:t>
            </a:r>
            <a:r>
              <a:rPr dirty="0" err="1"/>
              <a:t>정확히</a:t>
            </a:r>
            <a:r>
              <a:rPr dirty="0"/>
              <a:t> </a:t>
            </a:r>
            <a:r>
              <a:rPr dirty="0" err="1"/>
              <a:t>표시되는지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283923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합계</a:t>
            </a:r>
            <a:r>
              <a:rPr dirty="0"/>
              <a:t> </a:t>
            </a:r>
            <a:r>
              <a:rPr dirty="0" err="1"/>
              <a:t>계산</a:t>
            </a:r>
            <a:r>
              <a:rPr dirty="0"/>
              <a:t> (Total)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상품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합산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금액의</a:t>
            </a:r>
            <a:r>
              <a:rPr dirty="0"/>
              <a:t> </a:t>
            </a:r>
            <a:r>
              <a:rPr dirty="0" err="1"/>
              <a:t>정확성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21387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액션</a:t>
            </a:r>
            <a:r>
              <a:rPr dirty="0"/>
              <a:t> </a:t>
            </a:r>
            <a:r>
              <a:rPr dirty="0" err="1"/>
              <a:t>버튼</a:t>
            </a:r>
            <a:endParaRPr lang="en-US"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'Remove'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버튼 기능 및 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'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Checkout＇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 확인</a:t>
            </a:r>
            <a:endParaRPr dirty="0"/>
          </a:p>
        </p:txBody>
      </p:sp>
      <p:pic>
        <p:nvPicPr>
          <p:cNvPr id="17" name="그림 16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823631-444C-6820-7C90-48E262778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2"/>
          <a:stretch/>
        </p:blipFill>
        <p:spPr>
          <a:xfrm>
            <a:off x="4297680" y="868681"/>
            <a:ext cx="7782911" cy="57607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t>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Logout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20472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 err="1"/>
              <a:t>로그아웃</a:t>
            </a:r>
            <a:r>
              <a:rPr dirty="0"/>
              <a:t> (Logout)</a:t>
            </a:r>
            <a:endParaRPr lang="en-US" dirty="0"/>
          </a:p>
          <a:p>
            <a:pPr>
              <a:defRPr sz="2400" b="1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사용자의 안전한 세션 종료와 </a:t>
            </a:r>
            <a:r>
              <a:rPr lang="ko-KR" altLang="en-US" sz="1200" b="0" i="0" dirty="0" err="1">
                <a:solidFill>
                  <a:srgbClr val="8B949E"/>
                </a:solidFill>
                <a:effectLst/>
                <a:latin typeface="Noto Sans KR"/>
              </a:rPr>
              <a:t>리디렉션</a:t>
            </a: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 동작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, 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그리고 로그아웃 완료 메시지를 검증합니다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.</a:t>
            </a:r>
            <a:endParaRPr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t>Insert Screenshot for Logout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79142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로그아웃</a:t>
            </a:r>
            <a:r>
              <a:rPr dirty="0"/>
              <a:t> </a:t>
            </a:r>
            <a:r>
              <a:rPr dirty="0" err="1"/>
              <a:t>플로우</a:t>
            </a: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네비게이션 바의 </a:t>
            </a:r>
            <a:r>
              <a:rPr lang="en" altLang="ko-KR" b="0" i="0" dirty="0">
                <a:solidFill>
                  <a:srgbClr val="8B949E"/>
                </a:solidFill>
                <a:effectLst/>
                <a:latin typeface="Noto Sans KR"/>
              </a:rPr>
              <a:t>Logout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버튼 클릭 시 세션 종료 및 홈으로 </a:t>
            </a:r>
            <a:r>
              <a:rPr lang="ko-KR" altLang="en-US" b="0" i="0" dirty="0" err="1">
                <a:solidFill>
                  <a:srgbClr val="8B949E"/>
                </a:solidFill>
                <a:effectLst/>
                <a:latin typeface="Noto Sans KR"/>
              </a:rPr>
              <a:t>리디렉션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 검증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3018775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플래시</a:t>
            </a:r>
            <a:r>
              <a:rPr dirty="0"/>
              <a:t> </a:t>
            </a:r>
            <a:r>
              <a:rPr dirty="0" err="1"/>
              <a:t>메시지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/>
              <a:t>'</a:t>
            </a:r>
            <a:r>
              <a:rPr dirty="0" err="1"/>
              <a:t>성공적으로</a:t>
            </a:r>
            <a:r>
              <a:rPr dirty="0"/>
              <a:t> </a:t>
            </a:r>
            <a:r>
              <a:rPr dirty="0" err="1"/>
              <a:t>로그아웃되었습니다</a:t>
            </a:r>
            <a:r>
              <a:rPr dirty="0"/>
              <a:t>' </a:t>
            </a:r>
            <a:r>
              <a:rPr dirty="0" err="1"/>
              <a:t>알림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 </a:t>
            </a:r>
            <a:r>
              <a:rPr dirty="0" err="1"/>
              <a:t>출력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2975495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로그인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UI </a:t>
            </a:r>
            <a:r>
              <a:rPr dirty="0" err="1"/>
              <a:t>변경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로그아웃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내비게이션</a:t>
            </a:r>
            <a:r>
              <a:rPr dirty="0"/>
              <a:t> </a:t>
            </a:r>
            <a:r>
              <a:rPr dirty="0" err="1"/>
              <a:t>바</a:t>
            </a:r>
            <a:r>
              <a:rPr dirty="0"/>
              <a:t> </a:t>
            </a:r>
            <a:r>
              <a:rPr dirty="0" err="1"/>
              <a:t>상태가</a:t>
            </a:r>
            <a:r>
              <a:rPr dirty="0"/>
              <a:t> '</a:t>
            </a:r>
            <a:r>
              <a:rPr dirty="0" err="1"/>
              <a:t>Login'으로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pic>
        <p:nvPicPr>
          <p:cNvPr id="18" name="그림 17" descr="텍스트, 고양잇과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19A400-4366-ABDD-2252-249B92FC7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264" y="929358"/>
            <a:ext cx="7179084" cy="56543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t>Form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Checkout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495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입력</a:t>
            </a:r>
            <a:endParaRPr lang="en-US" dirty="0"/>
          </a:p>
          <a:p>
            <a:pPr>
              <a:defRPr sz="2400" b="1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주문 처리를 위한 필수 정보 입력 폼의 </a:t>
            </a:r>
            <a:endParaRPr lang="en-US" altLang="ko-KR" sz="1200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유효성 검사 및 상태 변화를 검증합니다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.</a:t>
            </a:r>
            <a:endParaRPr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rPr dirty="0"/>
              <a:t>Insert Screenshot for Checkout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8587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ko-KR" altLang="en-US" dirty="0"/>
              <a:t>입력 필드 검증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sz="900" spc="-50" dirty="0"/>
              <a:t>이름</a:t>
            </a:r>
            <a:r>
              <a:rPr lang="en-US" altLang="ko-KR" sz="900" spc="-50" dirty="0"/>
              <a:t>, </a:t>
            </a:r>
            <a:r>
              <a:rPr lang="ko-KR" altLang="en-US" sz="900" spc="-50" dirty="0"/>
              <a:t>전화번호</a:t>
            </a:r>
            <a:r>
              <a:rPr lang="en-US" altLang="ko-KR" sz="900" spc="-50" dirty="0"/>
              <a:t>, </a:t>
            </a:r>
            <a:r>
              <a:rPr lang="ko-KR" altLang="en-US" sz="900" spc="-50" dirty="0"/>
              <a:t>주소 등 필수 입력 필드의 데이터 바인딩 및 입력 가능 여부 확인</a:t>
            </a:r>
            <a:endParaRPr spc="-50"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37497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lang="ko-KR" altLang="en-US" dirty="0"/>
              <a:t>유효성 피드백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altLang="ko-KR"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필수 항목 누락 시 실시간 에러 메시지 표시 및 폼 제출 차단 기능 테스트</a:t>
            </a:r>
            <a:endParaRPr lang="ko-KR" alt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35894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버튼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변화</a:t>
            </a: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결제완료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취소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,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장바구니로 돌아가기 버튼의 활성 상태 및 동작 확인</a:t>
            </a:r>
            <a:endParaRPr dirty="0"/>
          </a:p>
        </p:txBody>
      </p:sp>
      <p:pic>
        <p:nvPicPr>
          <p:cNvPr id="17" name="그림 16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8290CFA-6A31-C88C-01B2-D338AF67B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89" y="1021489"/>
            <a:ext cx="7253632" cy="55621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8B949E"/>
                </a:solidFill>
              </a:defRPr>
            </a:pPr>
            <a:r>
              <a:t>Final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>
                <a:solidFill>
                  <a:srgbClr val="8B949E"/>
                </a:solidFill>
              </a:defRPr>
            </a:pPr>
            <a:r>
              <a:t>Page: Order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3889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완료</a:t>
            </a:r>
            <a:endParaRPr lang="en-US" dirty="0"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사용자가 결제를 완료하고 주문 접수 팝업 및 </a:t>
            </a:r>
            <a:endParaRPr lang="en-US" altLang="ko-KR" sz="1200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lang="ko-KR" altLang="en-US" sz="1200" b="0" i="0" dirty="0">
                <a:solidFill>
                  <a:srgbClr val="8B949E"/>
                </a:solidFill>
                <a:effectLst/>
                <a:latin typeface="Noto Sans KR"/>
              </a:rPr>
              <a:t>완료 페이지가 정상적으로 표시되는지 최종 검증합니다</a:t>
            </a:r>
            <a:r>
              <a:rPr lang="en-US" altLang="ko-KR" sz="1200" b="0" i="0" dirty="0">
                <a:solidFill>
                  <a:srgbClr val="8B949E"/>
                </a:solidFill>
                <a:effectLst/>
                <a:latin typeface="Noto Sans KR"/>
              </a:rPr>
              <a:t>.</a:t>
            </a:r>
            <a:endParaRPr sz="1200" dirty="0"/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6858000" cy="5303520"/>
          </a:xfrm>
          <a:prstGeom prst="roundRect">
            <a:avLst/>
          </a:prstGeom>
          <a:noFill/>
          <a:ln w="25400">
            <a:solidFill>
              <a:srgbClr val="58A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3C3C3C"/>
                </a:solidFill>
              </a:defRPr>
            </a:pPr>
            <a:r>
              <a:t>Insert Screenshot for Order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2697479"/>
            <a:ext cx="73152" cy="822960"/>
          </a:xfrm>
          <a:prstGeom prst="roundRect">
            <a:avLst/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99660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접수</a:t>
            </a:r>
            <a:r>
              <a:rPr dirty="0"/>
              <a:t> </a:t>
            </a:r>
            <a:r>
              <a:rPr dirty="0" err="1"/>
              <a:t>팝업</a:t>
            </a:r>
            <a:r>
              <a:rPr dirty="0"/>
              <a:t> (Alert)</a:t>
            </a:r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"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주문이 접수되었습니다</a:t>
            </a:r>
            <a:r>
              <a:rPr lang="en-US" altLang="ko-KR" b="0" i="0" dirty="0">
                <a:solidFill>
                  <a:srgbClr val="8B949E"/>
                </a:solidFill>
                <a:effectLst/>
                <a:latin typeface="Noto Sans KR"/>
              </a:rPr>
              <a:t>" </a:t>
            </a: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시스템 알림 팝업의 정상 출력 및 메시지 내용 검증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840479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3977639"/>
            <a:ext cx="73152" cy="822960"/>
          </a:xfrm>
          <a:prstGeom prst="roundRect">
            <a:avLst/>
          </a:prstGeom>
          <a:solidFill>
            <a:srgbClr val="F85149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19"/>
            <a:ext cx="384592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페이지</a:t>
            </a: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endParaRPr lang="en-US" altLang="ko-KR" b="0" i="0" dirty="0">
              <a:solidFill>
                <a:srgbClr val="8B949E"/>
              </a:solidFill>
              <a:effectLst/>
              <a:latin typeface="Noto Sans KR"/>
            </a:endParaRPr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lang="ko-KR" altLang="en-US" b="0" i="0" spc="-50" dirty="0">
                <a:solidFill>
                  <a:srgbClr val="8B949E"/>
                </a:solidFill>
                <a:effectLst/>
                <a:latin typeface="Noto Sans KR"/>
              </a:rPr>
              <a:t>주문 완료 메시지와 홈으로 돌아가기 버튼이 있는 페이지로의 </a:t>
            </a:r>
            <a:r>
              <a:rPr lang="ko-KR" altLang="en-US" b="0" i="0" spc="-50" dirty="0" err="1">
                <a:solidFill>
                  <a:srgbClr val="8B949E"/>
                </a:solidFill>
                <a:effectLst/>
                <a:latin typeface="Noto Sans KR"/>
              </a:rPr>
              <a:t>리다이렉션</a:t>
            </a:r>
            <a:r>
              <a:rPr lang="ko-KR" altLang="en-US" b="0" i="0" spc="-50" dirty="0">
                <a:solidFill>
                  <a:srgbClr val="8B949E"/>
                </a:solidFill>
                <a:effectLst/>
                <a:latin typeface="Noto Sans KR"/>
              </a:rPr>
              <a:t> 확인</a:t>
            </a:r>
            <a:endParaRPr spc="-50"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4114800" cy="1097280"/>
          </a:xfrm>
          <a:prstGeom prst="roundRect">
            <a:avLst/>
          </a:prstGeom>
          <a:solidFill>
            <a:srgbClr val="191E2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5257800"/>
            <a:ext cx="73152" cy="822960"/>
          </a:xfrm>
          <a:prstGeom prst="roundRect">
            <a:avLst/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2949846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rPr dirty="0" err="1"/>
              <a:t>장바구니</a:t>
            </a:r>
            <a:r>
              <a:rPr dirty="0"/>
              <a:t> </a:t>
            </a:r>
            <a:r>
              <a:rPr dirty="0" err="1"/>
              <a:t>초기화</a:t>
            </a:r>
            <a:endParaRPr lang="en-US" dirty="0"/>
          </a:p>
          <a:p>
            <a:pPr>
              <a:defRPr sz="1200" b="1">
                <a:solidFill>
                  <a:srgbClr val="FFFFFF"/>
                </a:solidFill>
              </a:defRPr>
            </a:pPr>
            <a:endParaRPr dirty="0"/>
          </a:p>
          <a:p>
            <a:pPr>
              <a:defRPr sz="900">
                <a:solidFill>
                  <a:srgbClr val="8B949E"/>
                </a:solidFill>
              </a:defRPr>
            </a:pPr>
            <a:r>
              <a:rPr dirty="0" err="1"/>
              <a:t>주문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후</a:t>
            </a:r>
            <a:r>
              <a:rPr dirty="0"/>
              <a:t> </a:t>
            </a:r>
            <a:r>
              <a:rPr dirty="0" err="1"/>
              <a:t>장바구니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(Cart(0))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무결성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  <p:pic>
        <p:nvPicPr>
          <p:cNvPr id="17" name="그림 16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DECC64-0D7B-4D3D-B3E1-133493299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990" y="1001836"/>
            <a:ext cx="7129236" cy="55818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사용자 플로우 (User 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4149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  <a:latin typeface="Arial"/>
              </a:defRPr>
            </a:pPr>
            <a:r>
              <a:rPr lang="ko-KR" altLang="en-US" b="0" i="0" dirty="0">
                <a:solidFill>
                  <a:srgbClr val="8B949E"/>
                </a:solidFill>
                <a:effectLst/>
                <a:latin typeface="Noto Sans KR"/>
              </a:rPr>
              <a:t>회원가입부터 주문 완료까지의 핵심 경로 및 예외 처리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4572000"/>
          </a:xfrm>
          <a:prstGeom prst="roundRect">
            <a:avLst/>
          </a:prstGeom>
          <a:solidFill>
            <a:srgbClr val="12161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4BABA06-4931-553E-8E0B-2675D7E72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0" t="16240" r="3383" b="12765"/>
          <a:stretch>
            <a:fillRect/>
          </a:stretch>
        </p:blipFill>
        <p:spPr>
          <a:xfrm>
            <a:off x="457201" y="1371600"/>
            <a:ext cx="11247120" cy="45720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A3D41CF1-AAC5-6AC8-9079-055FFA428A8C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94A3B8"/>
                </a:solidFill>
              </a:rPr>
              <a:t>테스트 시나리오 상세</a:t>
            </a:r>
            <a:endParaRPr lang="en-US" sz="2667" dirty="0"/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TC-001: 로그인 성공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10972800" cy="426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5360" y="2316480"/>
            <a:ext cx="1828800" cy="36576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975360" y="231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Positive Test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975360" y="292608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E2E8F0"/>
                </a:solidFill>
              </a:rPr>
              <a:t>유효한 사용자 계정 정보를 입력했을 때 정상적으로 인증 처리되고 메인 페이지로 진입하는지 검증합니다.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536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563EB"/>
                </a:solidFill>
              </a:rPr>
              <a:t>PROCEDURE</a:t>
            </a:r>
            <a:r>
              <a:rPr lang="ko-KR" altLang="en-US" sz="1333" b="1" dirty="0">
                <a:solidFill>
                  <a:srgbClr val="2563EB"/>
                </a:solidFill>
              </a:rPr>
              <a:t>  </a:t>
            </a:r>
            <a:r>
              <a:rPr lang="en-US" altLang="ko-KR" sz="1333" b="1" dirty="0">
                <a:solidFill>
                  <a:srgbClr val="2563EB"/>
                </a:solidFill>
              </a:rPr>
              <a:t>(</a:t>
            </a:r>
            <a:r>
              <a:rPr lang="ko-KR" altLang="en-US" sz="1333" b="1" dirty="0">
                <a:solidFill>
                  <a:srgbClr val="2563EB"/>
                </a:solidFill>
              </a:rPr>
              <a:t>테스트 절차</a:t>
            </a:r>
            <a:r>
              <a:rPr lang="en-US" altLang="ko-KR" sz="1333" b="1" dirty="0">
                <a:solidFill>
                  <a:srgbClr val="2563EB"/>
                </a:solidFill>
              </a:rPr>
              <a:t>)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975360" y="4023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sz="1333" dirty="0" err="1">
                <a:solidFill>
                  <a:srgbClr val="CBD5E1"/>
                </a:solidFill>
              </a:rPr>
              <a:t>메인</a:t>
            </a:r>
            <a:r>
              <a:rPr lang="en-US" sz="1333" dirty="0">
                <a:solidFill>
                  <a:srgbClr val="CBD5E1"/>
                </a:solidFill>
              </a:rPr>
              <a:t> 홈에서 'Login' 메뉴를 클릭하여 /login 페이지로 </a:t>
            </a:r>
            <a:r>
              <a:rPr lang="en-US" sz="1333" dirty="0" err="1">
                <a:solidFill>
                  <a:srgbClr val="CBD5E1"/>
                </a:solidFill>
              </a:rPr>
              <a:t>이동합니다</a:t>
            </a:r>
            <a:r>
              <a:rPr lang="en-US" sz="1333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10" name="Text 8"/>
          <p:cNvSpPr/>
          <p:nvPr/>
        </p:nvSpPr>
        <p:spPr>
          <a:xfrm>
            <a:off x="975360" y="4389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2. 계정 정보 입력 (Username / Password)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975360" y="4754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3. 로그인(Submit) 버튼 클릭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12064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A78BFA"/>
                </a:solidFill>
              </a:rPr>
              <a:t>TEST DATA</a:t>
            </a:r>
            <a:r>
              <a:rPr lang="ko-KR" altLang="en-US" sz="1333" b="1" dirty="0">
                <a:solidFill>
                  <a:srgbClr val="A78BFA"/>
                </a:solidFill>
              </a:rPr>
              <a:t>  </a:t>
            </a:r>
            <a:r>
              <a:rPr lang="en-US" altLang="ko-KR" sz="1333" b="1" dirty="0">
                <a:solidFill>
                  <a:srgbClr val="A78BFA"/>
                </a:solidFill>
              </a:rPr>
              <a:t>(</a:t>
            </a:r>
            <a:r>
              <a:rPr lang="ko-KR" altLang="en-US" sz="1333" b="1" dirty="0">
                <a:solidFill>
                  <a:srgbClr val="A78BFA"/>
                </a:solidFill>
              </a:rPr>
              <a:t>테스트 데이터</a:t>
            </a:r>
            <a:r>
              <a:rPr lang="en-US" altLang="ko-KR" sz="1333" b="1" dirty="0">
                <a:solidFill>
                  <a:srgbClr val="A78BFA"/>
                </a:solidFill>
              </a:rPr>
              <a:t>)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120640" y="402336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5181600" y="40233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Username: testuser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38912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5181600" y="438912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Password: password123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475488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5181600" y="475488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Role: Customer (집사)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056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0B981"/>
                </a:solidFill>
              </a:rPr>
              <a:t>EXPECTED RESULTS</a:t>
            </a:r>
            <a:r>
              <a:rPr lang="ko-KR" altLang="en-US" sz="1333" b="1" dirty="0">
                <a:solidFill>
                  <a:srgbClr val="10B981"/>
                </a:solidFill>
              </a:rPr>
              <a:t> </a:t>
            </a:r>
            <a:r>
              <a:rPr lang="en-US" altLang="ko-KR" sz="1333" b="1" dirty="0">
                <a:solidFill>
                  <a:srgbClr val="10B981"/>
                </a:solidFill>
              </a:rPr>
              <a:t>(</a:t>
            </a:r>
            <a:r>
              <a:rPr lang="ko-KR" altLang="en-US" sz="1333" b="1" dirty="0">
                <a:solidFill>
                  <a:srgbClr val="10B981"/>
                </a:solidFill>
              </a:rPr>
              <a:t>기대 결과</a:t>
            </a:r>
            <a:r>
              <a:rPr lang="en-US" altLang="ko-KR" sz="1333" b="1" dirty="0">
                <a:solidFill>
                  <a:srgbClr val="10B981"/>
                </a:solidFill>
              </a:rPr>
              <a:t>)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8290560" y="402336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상품 목록 페이지 로딩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8290560" y="43891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사용자 상태 표시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8290560" y="475488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Cart 배지 초기화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8290560" y="512064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플래시 메시지</a:t>
            </a:r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94A3B8"/>
                </a:solidFill>
              </a:rPr>
              <a:t>테스트 시나리오 상세</a:t>
            </a:r>
            <a:endParaRPr lang="en-US" sz="2667" dirty="0"/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TC-002: 로그인 실패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10972800" cy="426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5360" y="2316480"/>
            <a:ext cx="1828800" cy="36576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975360" y="231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Negative Test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975360" y="292608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E2E8F0"/>
                </a:solidFill>
              </a:rPr>
              <a:t>잘못된 계정 정보 입력 시 시스템이 접근을 거부하고 적절한 오류 메시지를 표시하는지 검증합니다.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536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563EB"/>
                </a:solidFill>
              </a:rPr>
              <a:t>PROCEDURE</a:t>
            </a:r>
            <a:r>
              <a:rPr lang="ko-KR" altLang="en-US" sz="1333" b="1" dirty="0">
                <a:solidFill>
                  <a:srgbClr val="2563EB"/>
                </a:solidFill>
              </a:rPr>
              <a:t> </a:t>
            </a:r>
            <a:r>
              <a:rPr lang="en-US" altLang="ko-KR" sz="1333" b="1" dirty="0">
                <a:solidFill>
                  <a:srgbClr val="2563EB"/>
                </a:solidFill>
              </a:rPr>
              <a:t>(</a:t>
            </a:r>
            <a:r>
              <a:rPr lang="ko-KR" altLang="en-US" sz="1333" b="1" dirty="0">
                <a:solidFill>
                  <a:srgbClr val="2563EB"/>
                </a:solidFill>
              </a:rPr>
              <a:t>테스트 절차</a:t>
            </a:r>
            <a:r>
              <a:rPr lang="en-US" altLang="ko-KR" sz="1333" b="1" dirty="0">
                <a:solidFill>
                  <a:srgbClr val="2563EB"/>
                </a:solidFill>
              </a:rPr>
              <a:t>)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975360" y="4023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1. 메인 홈에서 'Login' 메뉴를 클릭하여 /login 페이지로 이동합니다.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975360" y="4389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2. 잘못된 정보 입력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975360" y="47548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3. 로그인 버튼을 클릭하여 인증 요청 전송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12064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A78BFA"/>
                </a:solidFill>
              </a:rPr>
              <a:t>TEST DATA</a:t>
            </a:r>
            <a:r>
              <a:rPr lang="ko-KR" altLang="en-US" sz="1333" b="1" dirty="0">
                <a:solidFill>
                  <a:srgbClr val="A78BFA"/>
                </a:solidFill>
              </a:rPr>
              <a:t> </a:t>
            </a:r>
            <a:r>
              <a:rPr lang="en-US" altLang="ko-KR" sz="1333" b="1" dirty="0">
                <a:solidFill>
                  <a:srgbClr val="A78BFA"/>
                </a:solidFill>
              </a:rPr>
              <a:t>(</a:t>
            </a:r>
            <a:r>
              <a:rPr lang="ko-KR" altLang="en-US" sz="1333" b="1" dirty="0">
                <a:solidFill>
                  <a:srgbClr val="A78BFA"/>
                </a:solidFill>
              </a:rPr>
              <a:t>테스트 데이터</a:t>
            </a:r>
            <a:r>
              <a:rPr lang="en-US" altLang="ko-KR" sz="1333" b="1" dirty="0">
                <a:solidFill>
                  <a:srgbClr val="A78BFA"/>
                </a:solidFill>
              </a:rPr>
              <a:t>)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120640" y="402336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5181600" y="40233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Username: wronguser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38912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5181600" y="438912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Password: wrongpass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475488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5181600" y="475488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Expected: Access Denied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056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0B981"/>
                </a:solidFill>
              </a:rPr>
              <a:t>EXPECTED RESULTS</a:t>
            </a:r>
            <a:r>
              <a:rPr lang="ko-KR" altLang="en-US" sz="1333" b="1" dirty="0">
                <a:solidFill>
                  <a:srgbClr val="10B981"/>
                </a:solidFill>
              </a:rPr>
              <a:t> </a:t>
            </a:r>
            <a:r>
              <a:rPr lang="en-US" altLang="ko-KR" sz="1333" b="1" dirty="0">
                <a:solidFill>
                  <a:srgbClr val="10B981"/>
                </a:solidFill>
              </a:rPr>
              <a:t>(</a:t>
            </a:r>
            <a:r>
              <a:rPr lang="ko-KR" altLang="en-US" sz="1333" b="1" dirty="0">
                <a:solidFill>
                  <a:srgbClr val="10B981"/>
                </a:solidFill>
              </a:rPr>
              <a:t>기대 결과</a:t>
            </a:r>
            <a:r>
              <a:rPr lang="en-US" altLang="ko-KR" sz="1333" b="1" dirty="0">
                <a:solidFill>
                  <a:srgbClr val="10B981"/>
                </a:solidFill>
              </a:rPr>
              <a:t>)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8290560" y="402336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오류 배너 출력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8290560" y="43891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페이지 유지 (No Redirect)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8290560" y="475488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세션 생성 불가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8290560" y="512064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UI 피드백</a:t>
            </a:r>
            <a:endParaRPr lang="en-US" sz="13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94A3B8"/>
                </a:solidFill>
              </a:rPr>
              <a:t>테스트 시나리오 상세</a:t>
            </a:r>
            <a:endParaRPr lang="en-US" sz="2667" dirty="0"/>
          </a:p>
        </p:txBody>
      </p:sp>
      <p:sp>
        <p:nvSpPr>
          <p:cNvPr id="3" name="Text 1"/>
          <p:cNvSpPr/>
          <p:nvPr/>
        </p:nvSpPr>
        <p:spPr>
          <a:xfrm>
            <a:off x="6096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</a:rPr>
              <a:t>TC-003: 장바구니 동기화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609600" y="1950720"/>
            <a:ext cx="10972800" cy="426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75360" y="2316480"/>
            <a:ext cx="1828800" cy="36576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975360" y="2316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Functional Test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975360" y="2926080"/>
            <a:ext cx="10241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E2E8F0"/>
                </a:solidFill>
              </a:rPr>
              <a:t>상품을 장바구니에 추가하거나 삭제할 때, 상단 내비게이션의 배지(Badge) 수량과 실제 장바구니 상태가 동기화되는지 검증합니다.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5360" y="35433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563EB"/>
                </a:solidFill>
              </a:rPr>
              <a:t>PROCEDURE</a:t>
            </a:r>
            <a:r>
              <a:rPr lang="ko-KR" altLang="en-US" sz="1333" b="1" dirty="0">
                <a:solidFill>
                  <a:srgbClr val="2563EB"/>
                </a:solidFill>
              </a:rPr>
              <a:t> </a:t>
            </a:r>
            <a:r>
              <a:rPr lang="en-US" altLang="ko-KR" sz="1333" b="1" dirty="0">
                <a:solidFill>
                  <a:srgbClr val="2563EB"/>
                </a:solidFill>
              </a:rPr>
              <a:t>(</a:t>
            </a:r>
            <a:r>
              <a:rPr lang="ko-KR" altLang="en-US" sz="1333" b="1" dirty="0">
                <a:solidFill>
                  <a:srgbClr val="2563EB"/>
                </a:solidFill>
              </a:rPr>
              <a:t>테스트 절차</a:t>
            </a:r>
            <a:r>
              <a:rPr lang="en-US" altLang="ko-KR" sz="1333" b="1" dirty="0">
                <a:solidFill>
                  <a:srgbClr val="2563EB"/>
                </a:solidFill>
              </a:rPr>
              <a:t>)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975360" y="40233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1. </a:t>
            </a:r>
            <a:r>
              <a:rPr lang="en-US" sz="1333" dirty="0" err="1">
                <a:solidFill>
                  <a:srgbClr val="CBD5E1"/>
                </a:solidFill>
              </a:rPr>
              <a:t>상품</a:t>
            </a:r>
            <a:r>
              <a:rPr lang="en-US" sz="1333" dirty="0">
                <a:solidFill>
                  <a:srgbClr val="CBD5E1"/>
                </a:solidFill>
              </a:rPr>
              <a:t> 목록(Index) 페이지에서 'Add to Cart' 버튼을 </a:t>
            </a:r>
            <a:r>
              <a:rPr lang="en-US" sz="1333" dirty="0" err="1">
                <a:solidFill>
                  <a:srgbClr val="CBD5E1"/>
                </a:solidFill>
              </a:rPr>
              <a:t>클릭합니다</a:t>
            </a:r>
            <a:r>
              <a:rPr lang="en-US" sz="1333" dirty="0">
                <a:solidFill>
                  <a:srgbClr val="CBD5E1"/>
                </a:solidFill>
              </a:rPr>
              <a:t>.</a:t>
            </a:r>
          </a:p>
          <a:p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975360" y="4389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2. 상단 내비게이션의 'Cart (1)' 링크를 클릭하여 /cart로 </a:t>
            </a:r>
            <a:r>
              <a:rPr lang="en-US" sz="1333" dirty="0" err="1">
                <a:solidFill>
                  <a:srgbClr val="CBD5E1"/>
                </a:solidFill>
              </a:rPr>
              <a:t>이동합니다</a:t>
            </a:r>
            <a:r>
              <a:rPr lang="en-US" sz="1333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11" name="Text 9"/>
          <p:cNvSpPr/>
          <p:nvPr/>
        </p:nvSpPr>
        <p:spPr>
          <a:xfrm>
            <a:off x="975360" y="485013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CBD5E1"/>
                </a:solidFill>
              </a:rPr>
              <a:t>3. 장바구니 목록에서 해당 상품의 'Remove' 버튼을 클릭합니다.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120640" y="35528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A78BFA"/>
                </a:solidFill>
              </a:rPr>
              <a:t>TEST DATA</a:t>
            </a:r>
            <a:r>
              <a:rPr lang="ko-KR" altLang="en-US" sz="1333" b="1" dirty="0">
                <a:solidFill>
                  <a:srgbClr val="A78BFA"/>
                </a:solidFill>
              </a:rPr>
              <a:t> </a:t>
            </a:r>
            <a:r>
              <a:rPr lang="en-US" altLang="ko-KR" sz="1333" b="1" dirty="0">
                <a:solidFill>
                  <a:srgbClr val="A78BFA"/>
                </a:solidFill>
              </a:rPr>
              <a:t>(</a:t>
            </a:r>
            <a:r>
              <a:rPr lang="ko-KR" altLang="en-US" sz="1333" b="1" dirty="0">
                <a:solidFill>
                  <a:srgbClr val="A78BFA"/>
                </a:solidFill>
              </a:rPr>
              <a:t>테스트 데이터</a:t>
            </a:r>
            <a:r>
              <a:rPr lang="en-US" altLang="ko-KR" sz="1333" b="1" dirty="0">
                <a:solidFill>
                  <a:srgbClr val="A78BFA"/>
                </a:solidFill>
              </a:rPr>
              <a:t>)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120640" y="402336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5181600" y="402336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Initial State: Cart: Empty (0)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438912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5181600" y="438912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Target Item: Product ID: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4754880"/>
            <a:ext cx="2438400" cy="30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5181600" y="4754880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8FAFC"/>
                </a:solidFill>
              </a:rPr>
              <a:t>Action Flow: Add 1 → Remove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0560" y="3581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0B981"/>
                </a:solidFill>
              </a:rPr>
              <a:t>EXPECTED RESULTS</a:t>
            </a:r>
            <a:r>
              <a:rPr lang="ko-KR" altLang="en-US" sz="1333" b="1" dirty="0">
                <a:solidFill>
                  <a:srgbClr val="10B981"/>
                </a:solidFill>
              </a:rPr>
              <a:t> </a:t>
            </a:r>
            <a:r>
              <a:rPr lang="en-US" altLang="ko-KR" sz="1333" b="1" dirty="0">
                <a:solidFill>
                  <a:srgbClr val="10B981"/>
                </a:solidFill>
              </a:rPr>
              <a:t>(</a:t>
            </a:r>
            <a:r>
              <a:rPr lang="ko-KR" altLang="en-US" sz="1333" b="1" dirty="0">
                <a:solidFill>
                  <a:srgbClr val="10B981"/>
                </a:solidFill>
              </a:rPr>
              <a:t>기대 결과</a:t>
            </a:r>
            <a:r>
              <a:rPr lang="en-US" altLang="ko-KR" sz="1333" b="1" dirty="0">
                <a:solidFill>
                  <a:srgbClr val="10B981"/>
                </a:solidFill>
              </a:rPr>
              <a:t>)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8290560" y="402336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항목 정상 제거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8290560" y="438912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합계 금액 갱신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8290560" y="475488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2E8F0"/>
                </a:solidFill>
              </a:rPr>
              <a:t>✔ Badge 수량 동기화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8290560" y="5120640"/>
            <a:ext cx="304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93B"/>
                </a:solidFill>
              </a:rPr>
              <a:t>테스트 결과 (Test Metrics)</a:t>
            </a:r>
            <a:endParaRPr lang="en-US" sz="3733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09600" y="1828800"/>
          <a:ext cx="73152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534400" y="1828800"/>
            <a:ext cx="3048000" cy="426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2"/>
          <p:cNvSpPr/>
          <p:nvPr/>
        </p:nvSpPr>
        <p:spPr>
          <a:xfrm>
            <a:off x="877824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</a:rPr>
              <a:t>TOTAL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778240" y="2560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2563EB"/>
                </a:solidFill>
              </a:rPr>
              <a:t>38 Cases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778240" y="3413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64748B"/>
                </a:solidFill>
              </a:rPr>
              <a:t>PASS RATE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78240" y="3779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0B981"/>
                </a:solidFill>
              </a:rPr>
              <a:t>100%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Test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  <a:latin typeface="Arial"/>
              </a:defRPr>
            </a:pPr>
            <a:r>
              <a:t>Result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6400800" cy="4114800"/>
          </a:xfrm>
          <a:prstGeom prst="round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t>Graph Placeholder</a:t>
            </a:r>
          </a:p>
          <a:p>
            <a:r>
              <a:t>(Base, Index, Login, Cart, Product, Checkout)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3200400" cy="3200400"/>
          </a:xfrm>
          <a:prstGeom prst="round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949E"/>
                </a:solidFill>
              </a:defRPr>
            </a:pPr>
            <a:r>
              <a:t>TOTAL CASES</a:t>
            </a:r>
          </a:p>
          <a:p>
            <a:pPr algn="ctr">
              <a:defRPr sz="4800" b="1">
                <a:solidFill>
                  <a:srgbClr val="58A6FF"/>
                </a:solidFill>
              </a:defRPr>
            </a:pPr>
            <a:r>
              <a:t>38</a:t>
            </a:r>
          </a:p>
          <a:p>
            <a:br/>
            <a:r>
              <a:t>PASS RATE</a:t>
            </a:r>
          </a:p>
          <a:p>
            <a:pPr algn="ctr">
              <a:defRPr sz="4800" b="1">
                <a:solidFill>
                  <a:srgbClr val="3FB950"/>
                </a:solidFill>
              </a:defRPr>
            </a:pPr>
            <a:r>
              <a:t>100%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FEA4AA0F-4710-F9E5-3A3B-08FB39741958}"/>
              </a:ext>
            </a:extLst>
          </p:cNvPr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4C635-9825-D67B-CCD7-7C51D6A9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A4D1E344-8805-8BA7-5072-B0AF7E8E4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902"/>
            <a:ext cx="12192000" cy="67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56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E7AC-9D95-3D17-15F5-6595C71B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EA9E04C-9419-2AB0-924E-225552519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9888"/>
            <a:ext cx="12192000" cy="67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35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F51E-77D4-488E-B803-306ECB92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2BEB94-D0D1-2607-34C7-904CEC38D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11"/>
          <a:stretch>
            <a:fillRect/>
          </a:stretch>
        </p:blipFill>
        <p:spPr>
          <a:xfrm>
            <a:off x="0" y="158550"/>
            <a:ext cx="12192000" cy="6699450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E6C05C7-CEE3-FECE-738E-3261FAECC01E}"/>
              </a:ext>
            </a:extLst>
          </p:cNvPr>
          <p:cNvSpPr/>
          <p:nvPr/>
        </p:nvSpPr>
        <p:spPr>
          <a:xfrm>
            <a:off x="6749591" y="5458120"/>
            <a:ext cx="5344998" cy="1112363"/>
          </a:xfrm>
          <a:prstGeom prst="roundRect">
            <a:avLst/>
          </a:prstGeom>
          <a:solidFill>
            <a:srgbClr val="0C1117"/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/>
              <a:t>끝까지 봐주셔서 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78434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1806</Words>
  <Application>Microsoft Office PowerPoint</Application>
  <PresentationFormat>와이드스크린</PresentationFormat>
  <Paragraphs>368</Paragraphs>
  <Slides>23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Noto Sans KR</vt:lpstr>
      <vt:lpstr>맑은 고딕</vt:lpstr>
      <vt:lpstr>Arial</vt:lpstr>
      <vt:lpstr>Calibri</vt:lpstr>
      <vt:lpstr>Helvetica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31</cp:revision>
  <dcterms:created xsi:type="dcterms:W3CDTF">2013-01-27T09:14:16Z</dcterms:created>
  <dcterms:modified xsi:type="dcterms:W3CDTF">2025-12-04T05:58:53Z</dcterms:modified>
  <cp:category/>
</cp:coreProperties>
</file>