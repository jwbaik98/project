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81" r:id="rId3"/>
    <p:sldId id="256" r:id="rId4"/>
    <p:sldId id="257" r:id="rId5"/>
    <p:sldId id="258" r:id="rId6"/>
    <p:sldId id="279" r:id="rId7"/>
    <p:sldId id="259" r:id="rId8"/>
    <p:sldId id="260" r:id="rId9"/>
    <p:sldId id="261" r:id="rId10"/>
    <p:sldId id="262" r:id="rId11"/>
    <p:sldId id="280" r:id="rId12"/>
    <p:sldId id="264" r:id="rId13"/>
    <p:sldId id="265" r:id="rId14"/>
    <p:sldId id="266" r:id="rId15"/>
    <p:sldId id="263" r:id="rId16"/>
    <p:sldId id="267" r:id="rId17"/>
    <p:sldId id="284" r:id="rId18"/>
    <p:sldId id="269" r:id="rId19"/>
    <p:sldId id="270" r:id="rId20"/>
    <p:sldId id="272" r:id="rId21"/>
    <p:sldId id="275" r:id="rId22"/>
    <p:sldId id="276" r:id="rId23"/>
    <p:sldId id="277" r:id="rId24"/>
    <p:sldId id="282" r:id="rId25"/>
    <p:sldId id="28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vertBarState="minimized">
    <p:restoredLeft sz="14995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614" y="30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presProps" Target="presProps.xml"  /><Relationship Id="rId28" Type="http://schemas.openxmlformats.org/officeDocument/2006/relationships/viewProps" Target="viewProps.xml"  /><Relationship Id="rId29" Type="http://schemas.openxmlformats.org/officeDocument/2006/relationships/theme" Target="theme/theme1.xml"  /><Relationship Id="rId3" Type="http://schemas.openxmlformats.org/officeDocument/2006/relationships/slide" Target="slides/slide1.xml"  /><Relationship Id="rId30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1.xlsx"  /></Relationships>
</file>

<file path=ppt/charts/_rels/chart2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2.xlsx" 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6B-4214-95B7-5E5E63C36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base</c:v>
                </c:pt>
                <c:pt idx="1">
                  <c:v>index</c:v>
                </c:pt>
                <c:pt idx="2">
                  <c:v>register</c:v>
                </c:pt>
                <c:pt idx="3">
                  <c:v>login</c:v>
                </c:pt>
                <c:pt idx="4">
                  <c:v>cart</c:v>
                </c:pt>
                <c:pt idx="5">
                  <c:v>product</c:v>
                </c:pt>
                <c:pt idx="6">
                  <c:v>checkout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4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E0-47D3-9CFB-C144942E9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94A5B7A1-F27C-4F97-A3C4-EF92E3293E7C}" type="datetime1">
              <a:rPr lang="ko-KR" altLang="en-US"/>
              <a:pPr lvl="0">
                <a:defRPr/>
              </a:pPr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910F4BF-B131-4CA0-A505-78F72BC4623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910F4BF-B131-4CA0-A505-78F72BC4623D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910F4BF-B131-4CA0-A505-78F72BC4623D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910F4BF-B131-4CA0-A505-78F72BC4623D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D8DF94-25AE-BD02-89DA-5709572D8F5F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1.png"  /><Relationship Id="rId4" Type="http://schemas.openxmlformats.org/officeDocument/2006/relationships/image" Target="../media/image4.png"  /><Relationship Id="rId5" Type="http://schemas.openxmlformats.org/officeDocument/2006/relationships/image" Target="../media/image6.png"  /><Relationship Id="rId6" Type="http://schemas.openxmlformats.org/officeDocument/2006/relationships/image" Target="../media/image7.png"  /><Relationship Id="rId7" Type="http://schemas.openxmlformats.org/officeDocument/2006/relationships/image" Target="../media/image8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Relationship Id="rId3" Type="http://schemas.openxmlformats.org/officeDocument/2006/relationships/image" Target="../media/image4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chart" Target="../charts/chart1.xml"  /><Relationship Id="rId3" Type="http://schemas.openxmlformats.org/officeDocument/2006/relationships/chart" Target="../charts/chart2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3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F691E6F-673E-E79A-545C-5206BEDF69CC}"/>
              </a:ext>
            </a:extLst>
          </p:cNvPr>
          <p:cNvCxnSpPr>
            <a:cxnSpLocks/>
          </p:cNvCxnSpPr>
          <p:nvPr/>
        </p:nvCxnSpPr>
        <p:spPr>
          <a:xfrm>
            <a:off x="372670" y="3893172"/>
            <a:ext cx="7927268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BECE118-7D51-63D5-79E3-8454280254E7}"/>
              </a:ext>
            </a:extLst>
          </p:cNvPr>
          <p:cNvSpPr txBox="1"/>
          <p:nvPr/>
        </p:nvSpPr>
        <p:spPr>
          <a:xfrm>
            <a:off x="465221" y="1373833"/>
            <a:ext cx="7792518" cy="2434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조 </a:t>
            </a: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SW </a:t>
            </a:r>
            <a:r>
              <a:rPr lang="ko-KR" altLang="en-US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테스팅 프로젝트</a:t>
            </a:r>
            <a:endParaRPr lang="en-US" altLang="ko-KR" sz="5500" b="1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en-US" altLang="ko-KR" sz="5500" b="1" spc="-15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catshop</a:t>
            </a: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5500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09190-4A3F-9DD5-342B-CF3C30F3DC81}"/>
              </a:ext>
            </a:extLst>
          </p:cNvPr>
          <p:cNvSpPr txBox="1"/>
          <p:nvPr/>
        </p:nvSpPr>
        <p:spPr>
          <a:xfrm>
            <a:off x="6696221" y="4224956"/>
            <a:ext cx="2419643" cy="2326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백종우</a:t>
            </a:r>
            <a:r>
              <a:rPr lang="en-US" altLang="ko-KR" sz="25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조장</a:t>
            </a:r>
            <a:r>
              <a:rPr lang="en-US" altLang="ko-KR" sz="2500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500" b="1" dirty="0" err="1">
                <a:solidFill>
                  <a:schemeClr val="bg1"/>
                </a:solidFill>
                <a:latin typeface="+mj-ea"/>
                <a:ea typeface="+mj-ea"/>
              </a:rPr>
              <a:t>박서아</a:t>
            </a:r>
            <a:endParaRPr lang="en-US" altLang="ko-KR" sz="25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안재원</a:t>
            </a:r>
            <a:endParaRPr lang="en-US" altLang="ko-KR" sz="25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500" b="1" dirty="0" err="1">
                <a:solidFill>
                  <a:schemeClr val="bg1"/>
                </a:solidFill>
                <a:latin typeface="+mj-ea"/>
                <a:ea typeface="+mj-ea"/>
              </a:rPr>
              <a:t>오예린</a:t>
            </a:r>
            <a:endParaRPr lang="ko-KR" altLang="en-US" sz="25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1799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B91B532A-E7ED-E6A6-5ED0-8606627AF0D0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2386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Catshop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E2E Test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lang="en-US" dirty="0" err="1"/>
              <a:t>P</a:t>
            </a:r>
            <a:r>
              <a:rPr dirty="0" err="1"/>
              <a:t>ytest</a:t>
            </a:r>
            <a:r>
              <a:rPr lang="en-US" dirty="0"/>
              <a:t> + selenium</a:t>
            </a:r>
          </a:p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dirty="0"/>
              <a:t>Gradient Startup Template (Clean Ver.)</a:t>
            </a:r>
          </a:p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dirty="0"/>
              <a:t>Actual UI + Test Case Based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C487CF8-9867-B0EE-5351-F288988E2301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14994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개요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+mj-ea"/>
                <a:ea typeface="+mj-ea"/>
              </a:rPr>
              <a:t>□ 대상 사이트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catshop</a:t>
            </a:r>
            <a:r>
              <a:rPr lang="en-US" altLang="ko-KR" dirty="0">
                <a:latin typeface="+mj-ea"/>
                <a:ea typeface="+mj-ea"/>
              </a:rPr>
              <a:t>(local)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프로젝트 목표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실무 수준의 </a:t>
            </a:r>
            <a:r>
              <a:rPr lang="en-US" altLang="ko-KR" dirty="0">
                <a:latin typeface="+mj-ea"/>
                <a:ea typeface="+mj-ea"/>
              </a:rPr>
              <a:t>E2E </a:t>
            </a:r>
            <a:r>
              <a:rPr lang="ko-KR" altLang="en-US" dirty="0">
                <a:latin typeface="+mj-ea"/>
                <a:ea typeface="+mj-ea"/>
              </a:rPr>
              <a:t>자동화 테스트 구축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산출물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테스트 스위트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pytest</a:t>
            </a:r>
            <a:r>
              <a:rPr lang="en-US" altLang="ko-KR" dirty="0">
                <a:latin typeface="+mj-ea"/>
                <a:ea typeface="+mj-ea"/>
              </a:rPr>
              <a:t> + Selenium), </a:t>
            </a:r>
            <a:r>
              <a:rPr lang="ko-KR" altLang="en-US" dirty="0">
                <a:latin typeface="+mj-ea"/>
                <a:ea typeface="+mj-ea"/>
              </a:rPr>
              <a:t>테스트 리포트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프로젝트 기간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2</a:t>
            </a:r>
            <a:r>
              <a:rPr lang="ko-KR" altLang="en-US" dirty="0">
                <a:latin typeface="+mj-ea"/>
                <a:ea typeface="+mj-ea"/>
              </a:rPr>
              <a:t>주 팀 프로젝트</a:t>
            </a: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/>
          <p:cNvSpPr/>
          <p:nvPr/>
        </p:nvSpPr>
        <p:spPr>
          <a:xfrm>
            <a:off x="249382" y="1097280"/>
            <a:ext cx="8765309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3733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latin typeface="HY견고딕"/>
                <a:ea typeface="HY견고딕"/>
              </a:rPr>
              <a:t>2. 팀 구성 및 역할 (Team Project)</a:t>
            </a:r>
            <a:endParaRPr sz="2000" b="1">
              <a:latin typeface="HY견고딕"/>
              <a:ea typeface="HY견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4070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b="1"/>
              <a:t>□ 팀장 </a:t>
            </a:r>
            <a:r>
              <a:rPr lang="en-US" altLang="ko-KR" b="1"/>
              <a:t>(Team Lead)</a:t>
            </a:r>
            <a:endParaRPr lang="en-US" altLang="ko-KR" b="1"/>
          </a:p>
          <a:p>
            <a:pPr lvl="0">
              <a:lnSpc>
                <a:spcPct val="150000"/>
              </a:lnSpc>
              <a:defRPr/>
            </a:pPr>
            <a:r>
              <a:rPr lang="en-US" altLang="ko-KR"/>
              <a:t>   </a:t>
            </a:r>
            <a:r>
              <a:rPr lang="ko-KR" altLang="en-US"/>
              <a:t>전체 일정 관리</a:t>
            </a:r>
            <a:endParaRPr lang="ko-KR" altLang="en-US"/>
          </a:p>
          <a:p>
            <a:pPr lvl="0">
              <a:lnSpc>
                <a:spcPct val="150000"/>
              </a:lnSpc>
              <a:defRPr/>
            </a:pPr>
            <a:r>
              <a:rPr lang="en-US" altLang="ko-KR"/>
              <a:t>   E2E </a:t>
            </a:r>
            <a:r>
              <a:rPr lang="ko-KR" altLang="en-US"/>
              <a:t>테스트 구축 및 운영</a:t>
            </a:r>
            <a:endParaRPr lang="ko-KR" altLang="en-US"/>
          </a:p>
          <a:p>
            <a:pPr lvl="0">
              <a:lnSpc>
                <a:spcPct val="150000"/>
              </a:lnSpc>
              <a:defRPr/>
            </a:pPr>
            <a:r>
              <a:rPr lang="en-US" altLang="ko-KR"/>
              <a:t>  test_base.py </a:t>
            </a:r>
            <a:r>
              <a:rPr lang="ko-KR" altLang="en-US"/>
              <a:t>제작 </a:t>
            </a:r>
            <a:endParaRPr lang="ko-KR" altLang="en-US"/>
          </a:p>
          <a:p>
            <a:pPr lvl="0">
              <a:lnSpc>
                <a:spcPct val="150000"/>
              </a:lnSpc>
              <a:defRPr/>
            </a:pPr>
            <a:r>
              <a:rPr lang="ko-KR" altLang="en-US"/>
              <a:t>  통합 및 최종 품질 검토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lnSpc>
                <a:spcPct val="150000"/>
              </a:lnSpc>
              <a:defRPr/>
            </a:pPr>
            <a:r>
              <a:rPr lang="ko-KR" altLang="en-US" b="1"/>
              <a:t>□ 팀원 </a:t>
            </a:r>
            <a:r>
              <a:rPr lang="en-US" altLang="ko-KR" b="1"/>
              <a:t>(Team Members)</a:t>
            </a:r>
            <a:endParaRPr lang="en-US" altLang="ko-KR" b="1"/>
          </a:p>
          <a:p>
            <a:pPr lvl="0">
              <a:lnSpc>
                <a:spcPct val="150000"/>
              </a:lnSpc>
              <a:defRPr/>
            </a:pPr>
            <a:r>
              <a:rPr lang="en-US" altLang="ko-KR" b="1"/>
              <a:t>   </a:t>
            </a:r>
            <a:r>
              <a:rPr lang="ko-KR" altLang="en-US" b="1"/>
              <a:t>박서아 </a:t>
            </a:r>
            <a:r>
              <a:rPr lang="en-US" altLang="ko-KR" b="1"/>
              <a:t>:</a:t>
            </a:r>
            <a:r>
              <a:rPr lang="ko-KR" altLang="en-US"/>
              <a:t> </a:t>
            </a:r>
            <a:r>
              <a:rPr lang="en-US" altLang="ko-KR"/>
              <a:t>test_login, test_product_detail </a:t>
            </a:r>
            <a:r>
              <a:rPr lang="ko-KR" altLang="en-US"/>
              <a:t>제작</a:t>
            </a:r>
            <a:r>
              <a:rPr lang="en-US" altLang="ko-KR"/>
              <a:t>,</a:t>
            </a:r>
            <a:r>
              <a:rPr lang="ko-KR" altLang="en-US"/>
              <a:t> 발표 </a:t>
            </a:r>
            <a:r>
              <a:rPr lang="en-US" altLang="ko-KR"/>
              <a:t>ppt</a:t>
            </a:r>
            <a:r>
              <a:rPr lang="ko-KR" altLang="en-US"/>
              <a:t>제작</a:t>
            </a:r>
            <a:endParaRPr lang="ko-KR" altLang="en-US"/>
          </a:p>
          <a:p>
            <a:pPr lvl="0">
              <a:lnSpc>
                <a:spcPct val="150000"/>
              </a:lnSpc>
              <a:defRPr/>
            </a:pPr>
            <a:r>
              <a:rPr lang="en-US" altLang="ko-KR" b="1"/>
              <a:t>   </a:t>
            </a:r>
            <a:r>
              <a:rPr lang="ko-KR" altLang="en-US" b="1"/>
              <a:t>안재원 </a:t>
            </a:r>
            <a:r>
              <a:rPr lang="en-US" altLang="ko-KR" b="1"/>
              <a:t>:</a:t>
            </a:r>
            <a:r>
              <a:rPr lang="en-US" altLang="ko-KR"/>
              <a:t> test_cart, test_checkout</a:t>
            </a:r>
            <a:r>
              <a:rPr lang="ko-KR" altLang="en-US"/>
              <a:t> 제작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/>
              <a:t>발표 </a:t>
            </a:r>
            <a:r>
              <a:rPr lang="en-US" altLang="ko-KR"/>
              <a:t>ppt</a:t>
            </a:r>
            <a:r>
              <a:rPr lang="ko-KR" altLang="en-US"/>
              <a:t>제작</a:t>
            </a:r>
            <a:endParaRPr lang="ko-KR" altLang="en-US"/>
          </a:p>
          <a:p>
            <a:pPr lvl="0">
              <a:lnSpc>
                <a:spcPct val="150000"/>
              </a:lnSpc>
              <a:defRPr/>
            </a:pPr>
            <a:r>
              <a:rPr lang="ko-KR" altLang="en-US" b="1"/>
              <a:t>  </a:t>
            </a:r>
            <a:r>
              <a:rPr lang="en-US" altLang="ko-KR" b="1"/>
              <a:t> </a:t>
            </a:r>
            <a:r>
              <a:rPr lang="ko-KR" altLang="en-US" b="1"/>
              <a:t>오예린</a:t>
            </a:r>
            <a:r>
              <a:rPr lang="en-US" altLang="ko-KR" b="1"/>
              <a:t>:</a:t>
            </a:r>
            <a:r>
              <a:rPr lang="ko-KR" altLang="en-US"/>
              <a:t> </a:t>
            </a:r>
            <a:r>
              <a:rPr lang="en-US" altLang="ko-KR"/>
              <a:t>test_index, test_register</a:t>
            </a:r>
            <a:r>
              <a:rPr lang="ko-KR" altLang="en-US"/>
              <a:t> 제작</a:t>
            </a:r>
            <a:r>
              <a:rPr lang="en-US" altLang="ko-KR"/>
              <a:t>,</a:t>
            </a:r>
            <a:r>
              <a:rPr lang="ko-KR" altLang="en-US"/>
              <a:t> 발표 </a:t>
            </a:r>
            <a:r>
              <a:rPr lang="en-US" altLang="ko-KR"/>
              <a:t>ppt</a:t>
            </a:r>
            <a:r>
              <a:rPr lang="ko-KR" altLang="en-US"/>
              <a:t>제작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E5E5C-48C6-7B1F-281B-070F8F836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1EC81-B8E6-FE22-9FCC-CC771D21B5DC}"/>
              </a:ext>
            </a:extLst>
          </p:cNvPr>
          <p:cNvSpPr txBox="1"/>
          <p:nvPr/>
        </p:nvSpPr>
        <p:spPr>
          <a:xfrm>
            <a:off x="640080" y="274320"/>
            <a:ext cx="34211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범위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(In Scope)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786B61F-F921-0909-0B30-933B95B69892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2DA42-FA05-E286-3EA3-644C724F4CC4}"/>
              </a:ext>
            </a:extLst>
          </p:cNvPr>
          <p:cNvSpPr txBox="1"/>
          <p:nvPr/>
        </p:nvSpPr>
        <p:spPr>
          <a:xfrm>
            <a:off x="1062182" y="1280160"/>
            <a:ext cx="73706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UcPeriod"/>
            </a:pPr>
            <a:r>
              <a:rPr lang="ko-KR" altLang="en-US" b="1" dirty="0"/>
              <a:t>베이스</a:t>
            </a:r>
            <a:r>
              <a:rPr lang="en-US" altLang="ko-KR" b="1" dirty="0"/>
              <a:t>(base)</a:t>
            </a:r>
          </a:p>
          <a:p>
            <a:r>
              <a:rPr lang="ko-KR" altLang="en-US" dirty="0"/>
              <a:t>메뉴</a:t>
            </a:r>
            <a:r>
              <a:rPr lang="en-US" altLang="ko-KR" dirty="0"/>
              <a:t>(Home, Cart(0), Login, Sing Up)</a:t>
            </a:r>
          </a:p>
          <a:p>
            <a:r>
              <a:rPr lang="ko-KR" altLang="en-US" dirty="0"/>
              <a:t>사용자 </a:t>
            </a:r>
            <a:r>
              <a:rPr lang="ko-KR" altLang="en-US" dirty="0" err="1"/>
              <a:t>상태창</a:t>
            </a:r>
            <a:r>
              <a:rPr lang="en-US" altLang="ko-KR" dirty="0"/>
              <a:t>(</a:t>
            </a:r>
            <a:r>
              <a:rPr lang="ko-KR" altLang="en-US" dirty="0"/>
              <a:t>집사</a:t>
            </a:r>
            <a:r>
              <a:rPr lang="en-US" altLang="ko-KR" dirty="0"/>
              <a:t>, username)</a:t>
            </a:r>
          </a:p>
          <a:p>
            <a:r>
              <a:rPr lang="ko-KR" altLang="en-US" dirty="0"/>
              <a:t>로그아웃 버튼</a:t>
            </a:r>
            <a:endParaRPr lang="en-US" altLang="ko-KR" dirty="0"/>
          </a:p>
          <a:p>
            <a:endParaRPr lang="en-US" altLang="ko-KR" b="1" dirty="0"/>
          </a:p>
          <a:p>
            <a:pPr marL="342900" indent="-342900">
              <a:buAutoNum type="alphaUcPeriod" startAt="2"/>
            </a:pPr>
            <a:r>
              <a:rPr lang="ko-KR" altLang="en-US" b="1" dirty="0"/>
              <a:t>인덱스</a:t>
            </a:r>
            <a:r>
              <a:rPr lang="en-US" altLang="ko-KR" b="1" dirty="0"/>
              <a:t>(index)</a:t>
            </a:r>
          </a:p>
          <a:p>
            <a:r>
              <a:rPr lang="ko-KR" altLang="en-US" dirty="0"/>
              <a:t>상품</a:t>
            </a:r>
            <a:r>
              <a:rPr lang="en-US" altLang="ko-KR" dirty="0"/>
              <a:t>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ko-KR" altLang="en-US" dirty="0"/>
              <a:t>장바구니 추가</a:t>
            </a:r>
            <a:r>
              <a:rPr lang="en-US" altLang="ko-KR" dirty="0"/>
              <a:t>/</a:t>
            </a:r>
            <a:r>
              <a:rPr lang="ko-KR" altLang="en-US" dirty="0"/>
              <a:t>제거 버튼</a:t>
            </a:r>
          </a:p>
          <a:p>
            <a:endParaRPr lang="en-US" altLang="ko-KR" b="1" dirty="0"/>
          </a:p>
          <a:p>
            <a:r>
              <a:rPr lang="en-US" altLang="ko-KR" b="1" dirty="0"/>
              <a:t>C. </a:t>
            </a:r>
            <a:r>
              <a:rPr lang="ko-KR" altLang="en-US" b="1" dirty="0"/>
              <a:t>상품 상세페이지</a:t>
            </a:r>
            <a:r>
              <a:rPr lang="en-US" altLang="ko-KR" b="1" dirty="0"/>
              <a:t>(</a:t>
            </a:r>
            <a:r>
              <a:rPr lang="en-US" altLang="ko-KR" b="1" dirty="0" err="1"/>
              <a:t>product_detail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단일상품의 상세정보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장바구니 버튼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D. </a:t>
            </a:r>
            <a:r>
              <a:rPr lang="ko-KR" altLang="en-US" b="1" dirty="0"/>
              <a:t>장바구니페이지</a:t>
            </a:r>
            <a:r>
              <a:rPr lang="en-US" altLang="ko-KR" b="1" dirty="0"/>
              <a:t>(cart)</a:t>
            </a:r>
          </a:p>
          <a:p>
            <a:r>
              <a:rPr lang="ko-KR" altLang="en-US" dirty="0"/>
              <a:t> 장바구니에 담긴 상품 목록 및 합계 표시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제거</a:t>
            </a:r>
            <a:r>
              <a:rPr lang="en-US" altLang="ko-KR" dirty="0"/>
              <a:t>, </a:t>
            </a:r>
            <a:r>
              <a:rPr lang="ko-KR" altLang="en-US" dirty="0" err="1"/>
              <a:t>쇼핑계속하기</a:t>
            </a:r>
            <a:r>
              <a:rPr lang="en-US" altLang="ko-KR" dirty="0"/>
              <a:t>, </a:t>
            </a:r>
            <a:r>
              <a:rPr lang="ko-KR" altLang="en-US" dirty="0"/>
              <a:t>결제 버튼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1012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3618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범위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(In Scope)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21EF948-79CA-2E9E-638A-50881D7A713A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2182" y="1280160"/>
            <a:ext cx="737061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E. </a:t>
            </a:r>
            <a:r>
              <a:rPr lang="ko-KR" altLang="en-US" b="1" dirty="0"/>
              <a:t>결제</a:t>
            </a:r>
            <a:r>
              <a:rPr lang="en-US" altLang="ko-KR" b="1" dirty="0"/>
              <a:t> </a:t>
            </a:r>
            <a:r>
              <a:rPr lang="ko-KR" altLang="en-US" b="1" dirty="0"/>
              <a:t>페이지</a:t>
            </a:r>
            <a:r>
              <a:rPr lang="en-US" altLang="ko-KR" b="1" dirty="0"/>
              <a:t>(checkout)</a:t>
            </a:r>
          </a:p>
          <a:p>
            <a:r>
              <a:rPr lang="ko-KR" altLang="en-US" dirty="0"/>
              <a:t> 결제정보</a:t>
            </a:r>
            <a:r>
              <a:rPr lang="en-US" altLang="ko-KR" dirty="0"/>
              <a:t>(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전화번호</a:t>
            </a:r>
            <a:r>
              <a:rPr lang="en-US" altLang="ko-KR" dirty="0"/>
              <a:t>, </a:t>
            </a:r>
            <a:r>
              <a:rPr lang="ko-KR" altLang="en-US" dirty="0"/>
              <a:t>주소</a:t>
            </a:r>
            <a:r>
              <a:rPr lang="en-US" altLang="ko-KR" dirty="0"/>
              <a:t>)</a:t>
            </a:r>
            <a:r>
              <a:rPr lang="ko-KR" altLang="en-US" dirty="0"/>
              <a:t> 입력</a:t>
            </a:r>
            <a:endParaRPr lang="en-US" altLang="ko-KR" dirty="0"/>
          </a:p>
          <a:p>
            <a:r>
              <a:rPr lang="ko-KR" altLang="en-US" dirty="0"/>
              <a:t> 결제완료</a:t>
            </a:r>
            <a:r>
              <a:rPr lang="en-US" altLang="ko-KR" dirty="0"/>
              <a:t>, </a:t>
            </a:r>
            <a:r>
              <a:rPr lang="ko-KR" altLang="en-US" dirty="0"/>
              <a:t>취소</a:t>
            </a:r>
            <a:r>
              <a:rPr lang="en-US" altLang="ko-KR" dirty="0"/>
              <a:t>, </a:t>
            </a:r>
            <a:r>
              <a:rPr lang="ko-KR" altLang="en-US" dirty="0"/>
              <a:t>장바구니로 돌아가기 버튼</a:t>
            </a:r>
            <a:endParaRPr lang="en-US" altLang="ko-KR" dirty="0"/>
          </a:p>
          <a:p>
            <a:r>
              <a:rPr lang="ko-KR" altLang="en-US" b="1" dirty="0"/>
              <a:t> </a:t>
            </a:r>
            <a:r>
              <a:rPr lang="ko-KR" altLang="en-US" dirty="0"/>
              <a:t>결제완료시 주문접수 팝업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F. </a:t>
            </a:r>
            <a:r>
              <a:rPr lang="ko-KR" altLang="en-US" b="1" dirty="0"/>
              <a:t>로그인 페이지</a:t>
            </a:r>
            <a:r>
              <a:rPr lang="en-US" altLang="ko-KR" b="1" dirty="0"/>
              <a:t>(login) 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유저명</a:t>
            </a:r>
            <a:r>
              <a:rPr lang="en-US" altLang="ko-KR" dirty="0"/>
              <a:t>, </a:t>
            </a:r>
            <a:r>
              <a:rPr lang="ko-KR" altLang="en-US" dirty="0"/>
              <a:t>패스워드 입력</a:t>
            </a:r>
            <a:endParaRPr lang="en-US" altLang="ko-KR" dirty="0"/>
          </a:p>
          <a:p>
            <a:r>
              <a:rPr lang="en-US" altLang="ko-KR" dirty="0"/>
              <a:t> login</a:t>
            </a:r>
            <a:r>
              <a:rPr lang="ko-KR" altLang="en-US" dirty="0"/>
              <a:t> 버튼입력</a:t>
            </a:r>
            <a:endParaRPr lang="en-US" altLang="ko-KR" dirty="0"/>
          </a:p>
          <a:p>
            <a:r>
              <a:rPr lang="en-US" altLang="ko-KR" dirty="0"/>
              <a:t> logout</a:t>
            </a:r>
          </a:p>
          <a:p>
            <a:r>
              <a:rPr lang="en-US" altLang="ko-KR" dirty="0"/>
              <a:t> register </a:t>
            </a:r>
            <a:r>
              <a:rPr lang="ko-KR" altLang="en-US" dirty="0"/>
              <a:t>버튼입력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G. </a:t>
            </a:r>
            <a:r>
              <a:rPr lang="ko-KR" altLang="en-US" b="1" dirty="0"/>
              <a:t>회원가입</a:t>
            </a:r>
            <a:r>
              <a:rPr lang="en-US" altLang="ko-KR" b="1" dirty="0"/>
              <a:t>(register)</a:t>
            </a:r>
          </a:p>
          <a:p>
            <a:r>
              <a:rPr lang="en-US" altLang="ko-KR" dirty="0"/>
              <a:t> </a:t>
            </a:r>
            <a:r>
              <a:rPr lang="ko-KR" altLang="en-US" dirty="0" err="1"/>
              <a:t>유저명</a:t>
            </a:r>
            <a:r>
              <a:rPr lang="en-US" altLang="ko-KR" dirty="0"/>
              <a:t>, </a:t>
            </a:r>
            <a:r>
              <a:rPr lang="ko-KR" altLang="en-US" dirty="0"/>
              <a:t>패스워드 입력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패스워드 재확인 입력</a:t>
            </a:r>
            <a:endParaRPr lang="en-US" altLang="ko-KR" dirty="0"/>
          </a:p>
          <a:p>
            <a:r>
              <a:rPr lang="en-US" altLang="ko-KR" dirty="0"/>
              <a:t> sign up </a:t>
            </a:r>
            <a:r>
              <a:rPr lang="ko-KR" altLang="en-US" dirty="0"/>
              <a:t>버튼</a:t>
            </a:r>
            <a:endParaRPr lang="en-US" altLang="ko-K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5DCCA428-26A9-85F8-074F-CF8CB2D254D7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8614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4.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전략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896167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테스트 유형 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smoke</a:t>
            </a:r>
            <a:endParaRPr lang="ko-KR" altLang="en-US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회귀 테스트</a:t>
            </a:r>
            <a:r>
              <a:rPr lang="en-US" altLang="ko-KR" b="1" dirty="0"/>
              <a:t>(Regression) :</a:t>
            </a:r>
            <a:r>
              <a:rPr lang="ko-KR" altLang="en-US" dirty="0"/>
              <a:t> 전체 스위트 실행 </a:t>
            </a:r>
            <a:r>
              <a:rPr lang="en-US" altLang="ko-KR" dirty="0"/>
              <a:t>(main push)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○ 네거티브</a:t>
            </a:r>
            <a:r>
              <a:rPr lang="en-US" altLang="ko-KR" b="1" dirty="0"/>
              <a:t>(Negative) :</a:t>
            </a:r>
            <a:r>
              <a:rPr lang="ko-KR" altLang="en-US" dirty="0"/>
              <a:t> 실패</a:t>
            </a:r>
            <a:r>
              <a:rPr lang="en-US" altLang="ko-KR" dirty="0"/>
              <a:t>/</a:t>
            </a:r>
            <a:r>
              <a:rPr lang="ko-KR" altLang="en-US" dirty="0"/>
              <a:t>오류 처리 검증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○ 안정성 규칙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</a:t>
            </a:r>
            <a:r>
              <a:rPr lang="ko-KR" altLang="en-US" dirty="0"/>
              <a:t>모든 액션 전 </a:t>
            </a:r>
            <a:r>
              <a:rPr lang="en-US" altLang="ko-KR" b="1" dirty="0"/>
              <a:t>Explicit Wait</a:t>
            </a:r>
            <a:r>
              <a:rPr lang="ko-KR" altLang="en-US" dirty="0"/>
              <a:t> 적용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</a:t>
            </a:r>
            <a:r>
              <a:rPr lang="ko-KR" altLang="en-US" dirty="0"/>
              <a:t>실패 시 자동 스크린샷 저장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CI </a:t>
            </a:r>
            <a:r>
              <a:rPr lang="ko-KR" altLang="en-US" dirty="0"/>
              <a:t>환경에서는 </a:t>
            </a:r>
            <a:r>
              <a:rPr lang="en-US" altLang="ko-KR" dirty="0"/>
              <a:t>Selenium Manager </a:t>
            </a:r>
            <a:r>
              <a:rPr lang="ko-KR" altLang="en-US" dirty="0"/>
              <a:t>기반으로 </a:t>
            </a:r>
            <a:r>
              <a:rPr lang="en-US" altLang="ko-KR" dirty="0"/>
              <a:t>Chrome/Driver </a:t>
            </a:r>
            <a:r>
              <a:rPr lang="ko-KR" altLang="en-US" dirty="0"/>
              <a:t>동기화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4064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5. </a:t>
            </a:r>
            <a:r>
              <a:rPr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아키텍처</a:t>
            </a:r>
            <a:endParaRPr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859222" cy="1702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Service </a:t>
            </a:r>
            <a:r>
              <a:rPr lang="ko-KR" altLang="ko-KR" b="1" dirty="0" err="1">
                <a:latin typeface="Arial" panose="020B0604020202020204" pitchFamily="34" charset="0"/>
              </a:rPr>
              <a:t>Layer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로그인/상품추가 등 반복 동작 공통 처리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latin typeface="Arial" panose="020B0604020202020204" pitchFamily="34" charset="0"/>
              </a:rPr>
              <a:t>Fixtures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브라우저 및 세션 재사용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latin typeface="Arial" panose="020B0604020202020204" pitchFamily="34" charset="0"/>
              </a:rPr>
              <a:t>Utils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dirty="0">
                <a:latin typeface="Arial" panose="020B0604020202020204" pitchFamily="34" charset="0"/>
              </a:rPr>
              <a:t>공용 </a:t>
            </a:r>
            <a:r>
              <a:rPr lang="ko-KR" altLang="ko-KR" dirty="0" err="1">
                <a:latin typeface="Arial" panose="020B0604020202020204" pitchFamily="34" charset="0"/>
              </a:rPr>
              <a:t>waits</a:t>
            </a:r>
            <a:r>
              <a:rPr lang="ko-KR" altLang="ko-KR" dirty="0">
                <a:latin typeface="Arial" panose="020B0604020202020204" pitchFamily="34" charset="0"/>
              </a:rPr>
              <a:t>, </a:t>
            </a:r>
            <a:r>
              <a:rPr lang="ko-KR" altLang="ko-KR" dirty="0" err="1">
                <a:latin typeface="Arial" panose="020B0604020202020204" pitchFamily="34" charset="0"/>
              </a:rPr>
              <a:t>assertions</a:t>
            </a:r>
            <a:r>
              <a:rPr lang="ko-KR" altLang="ko-KR" dirty="0">
                <a:latin typeface="Arial" panose="020B0604020202020204" pitchFamily="34" charset="0"/>
              </a:rPr>
              <a:t>, 데이터 </a:t>
            </a:r>
            <a:r>
              <a:rPr lang="ko-KR" altLang="ko-KR" dirty="0" err="1">
                <a:latin typeface="Arial" panose="020B0604020202020204" pitchFamily="34" charset="0"/>
              </a:rPr>
              <a:t>생성기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CI 파이프라인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</a:rPr>
              <a:t>pytest</a:t>
            </a:r>
            <a:r>
              <a:rPr lang="en-US" altLang="ko-KR" dirty="0">
                <a:latin typeface="Arial" panose="020B0604020202020204" pitchFamily="34" charset="0"/>
              </a:rPr>
              <a:t> + selenium</a:t>
            </a:r>
            <a:r>
              <a:rPr lang="ko-KR" altLang="ko-KR" dirty="0">
                <a:latin typeface="Arial" panose="020B0604020202020204" pitchFamily="34" charset="0"/>
              </a:rPr>
              <a:t>기반 자동 테스트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65141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베이스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9309" y="1097280"/>
            <a:ext cx="9014691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0A5A08C-330E-D71F-87B9-AF5163AAB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540" y="1190546"/>
            <a:ext cx="4416920" cy="47512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2381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집사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9309" y="1097280"/>
            <a:ext cx="9014691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DEB1DF0-7D50-B9AE-4191-1F9F9514C4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26"/>
          <a:stretch/>
        </p:blipFill>
        <p:spPr>
          <a:xfrm>
            <a:off x="193174" y="1874982"/>
            <a:ext cx="8821517" cy="284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17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4897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집사 회원가입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6182" y="1097280"/>
            <a:ext cx="9033163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소프트웨어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831EDEA-5387-B74A-C095-A82E90C2D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7877"/>
            <a:ext cx="9144000" cy="31165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9030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장바구니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5135" y="1097280"/>
            <a:ext cx="896573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C55BB73-FEC2-62F0-81DD-106F263A87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32"/>
          <a:stretch/>
        </p:blipFill>
        <p:spPr>
          <a:xfrm>
            <a:off x="238382" y="1736453"/>
            <a:ext cx="8667236" cy="33850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9030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로그아웃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5135" y="1097280"/>
            <a:ext cx="896573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그림 6" descr="텍스트, 고양잇과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46733FD-7AEF-B6FF-63D4-72D1F85E2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232" y="1237944"/>
            <a:ext cx="6887536" cy="43821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4897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결제 정보 입력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3128" y="748145"/>
            <a:ext cx="8931564" cy="5938981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4482512-3D64-5E06-6BA2-04FAEE04F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58" y="1147443"/>
            <a:ext cx="7253632" cy="50871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9915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결제 및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주문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완료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28" y="1097280"/>
            <a:ext cx="867294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그림 6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2FE1236-7AEF-CB0B-5679-350DCCFCD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70" y="1200713"/>
            <a:ext cx="4717061" cy="47308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58811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6. User Flow with UI Thumbnails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948" y="894080"/>
            <a:ext cx="907010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48743" y="2896535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로그인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065069" y="2923176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베이스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740103" y="5109867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장바구니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12408" y="5109867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체크아웃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060093" y="5109867"/>
            <a:ext cx="2147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주문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페이지</a:t>
            </a:r>
            <a:endParaRPr dirty="0"/>
          </a:p>
        </p:txBody>
      </p:sp>
      <p:cxnSp>
        <p:nvCxnSpPr>
          <p:cNvPr id="17" name="Connector 16"/>
          <p:cNvCxnSpPr/>
          <p:nvPr/>
        </p:nvCxnSpPr>
        <p:spPr>
          <a:xfrm>
            <a:off x="246888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3484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6676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3272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림 22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194D88F-7911-802E-2251-FD1076E7BD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43" r="38586" b="7718"/>
          <a:stretch/>
        </p:blipFill>
        <p:spPr>
          <a:xfrm>
            <a:off x="3436452" y="1288291"/>
            <a:ext cx="2352457" cy="1647338"/>
          </a:xfrm>
          <a:prstGeom prst="rect">
            <a:avLst/>
          </a:prstGeom>
        </p:spPr>
      </p:pic>
      <p:pic>
        <p:nvPicPr>
          <p:cNvPr id="25" name="그림 24" descr="텍스트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741C151-DE47-9EC4-3C07-EBBF3B559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275" y="1318020"/>
            <a:ext cx="1408629" cy="1515245"/>
          </a:xfrm>
          <a:prstGeom prst="rect">
            <a:avLst/>
          </a:prstGeom>
        </p:spPr>
      </p:pic>
      <p:pic>
        <p:nvPicPr>
          <p:cNvPr id="27" name="그림 26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2D0EEC-3E7F-EFBA-D357-D72C6D9DB4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583" b="9449"/>
          <a:stretch/>
        </p:blipFill>
        <p:spPr>
          <a:xfrm>
            <a:off x="5343273" y="3732253"/>
            <a:ext cx="3653844" cy="1268109"/>
          </a:xfrm>
          <a:prstGeom prst="rect">
            <a:avLst/>
          </a:prstGeom>
        </p:spPr>
      </p:pic>
      <p:pic>
        <p:nvPicPr>
          <p:cNvPr id="29" name="그림 28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69737CC-2C99-2905-E49D-EF710D42F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6" y="3442420"/>
            <a:ext cx="2231958" cy="1565311"/>
          </a:xfrm>
          <a:prstGeom prst="rect">
            <a:avLst/>
          </a:prstGeom>
        </p:spPr>
      </p:pic>
      <p:pic>
        <p:nvPicPr>
          <p:cNvPr id="31" name="그림 30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AEE793F-030B-4A2E-51B7-C383D37F1B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2380" b="70329"/>
          <a:stretch/>
        </p:blipFill>
        <p:spPr>
          <a:xfrm>
            <a:off x="2716563" y="3732253"/>
            <a:ext cx="2265504" cy="996985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1153859C-E24C-9E88-A181-A93FF2EF8D12}"/>
              </a:ext>
            </a:extLst>
          </p:cNvPr>
          <p:cNvSpPr/>
          <p:nvPr/>
        </p:nvSpPr>
        <p:spPr>
          <a:xfrm>
            <a:off x="6009536" y="1756847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B8437657-4B33-4BF9-2DAB-2F2686451D40}"/>
              </a:ext>
            </a:extLst>
          </p:cNvPr>
          <p:cNvSpPr/>
          <p:nvPr/>
        </p:nvSpPr>
        <p:spPr>
          <a:xfrm rot="10800000">
            <a:off x="5036839" y="4033367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B73701C2-E9BE-E5DB-6D2F-DC4881FB4840}"/>
              </a:ext>
            </a:extLst>
          </p:cNvPr>
          <p:cNvSpPr/>
          <p:nvPr/>
        </p:nvSpPr>
        <p:spPr>
          <a:xfrm rot="5400000">
            <a:off x="7332356" y="3147964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D7E13A1-CC82-1B7A-FC56-358576772C70}"/>
              </a:ext>
            </a:extLst>
          </p:cNvPr>
          <p:cNvSpPr/>
          <p:nvPr/>
        </p:nvSpPr>
        <p:spPr>
          <a:xfrm rot="10800000">
            <a:off x="2452593" y="4225076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548A5B1-1B87-8AAF-5E99-3C18295551B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181" r="25204"/>
          <a:stretch/>
        </p:blipFill>
        <p:spPr>
          <a:xfrm>
            <a:off x="575448" y="1318020"/>
            <a:ext cx="2077687" cy="1529720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D5D9D64D-B216-8B53-9CFC-12F6A244F60B}"/>
              </a:ext>
            </a:extLst>
          </p:cNvPr>
          <p:cNvSpPr/>
          <p:nvPr/>
        </p:nvSpPr>
        <p:spPr>
          <a:xfrm>
            <a:off x="2997776" y="1756847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F7A9B3-9C25-208E-6BA5-D4849DD90434}"/>
              </a:ext>
            </a:extLst>
          </p:cNvPr>
          <p:cNvSpPr txBox="1"/>
          <p:nvPr/>
        </p:nvSpPr>
        <p:spPr>
          <a:xfrm>
            <a:off x="1016507" y="2923176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회원가입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26563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TC‑001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215" y="566928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목적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정상 계정 로그인 가능 여부 확인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절차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password123</a:t>
            </a:r>
            <a:r>
              <a:rPr lang="ko-KR" altLang="ko-KR" dirty="0"/>
              <a:t>입력 → 로그인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기대 결과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상품 목록 페이지(Products) 로딩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2CF45290-2357-07ED-8E46-2AEB56CD7101}"/>
              </a:ext>
            </a:extLst>
          </p:cNvPr>
          <p:cNvSpPr/>
          <p:nvPr/>
        </p:nvSpPr>
        <p:spPr>
          <a:xfrm>
            <a:off x="393931" y="766618"/>
            <a:ext cx="8356138" cy="475672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그림 4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46A3F4C-06CA-05EB-3A96-23EDB2D03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668" y="848451"/>
            <a:ext cx="4593060" cy="45930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3268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TC‑002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Failure (Invalid)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931" y="766618"/>
            <a:ext cx="8356138" cy="475672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그림 6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F03692C-036B-BC29-89CC-C56150732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49" y="1005840"/>
            <a:ext cx="7193611" cy="40741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F63EF2-82D8-D528-33D1-4D76DD2999E3}"/>
              </a:ext>
            </a:extLst>
          </p:cNvPr>
          <p:cNvSpPr txBox="1"/>
          <p:nvPr/>
        </p:nvSpPr>
        <p:spPr>
          <a:xfrm>
            <a:off x="481215" y="566928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목적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잘못된 계정 정보 입력 시 오류 표시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절차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잘못된 ID/비밀번호 입력 → 로그인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기대 결과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“사용자명이 일치하지 않습니다” 오류 배너 출력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48392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</a:t>
            </a:r>
            <a:r>
              <a:rPr 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Add/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삭제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&amp; Badge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8549" y="727824"/>
            <a:ext cx="8346902" cy="4850939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그림 7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82F2C25-4564-3C4A-2197-9A118A1DBB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91"/>
          <a:stretch/>
        </p:blipFill>
        <p:spPr>
          <a:xfrm>
            <a:off x="2774791" y="3736110"/>
            <a:ext cx="3256556" cy="1754104"/>
          </a:xfrm>
          <a:prstGeom prst="rect">
            <a:avLst/>
          </a:prstGeom>
        </p:spPr>
      </p:pic>
      <p:pic>
        <p:nvPicPr>
          <p:cNvPr id="5" name="그림 4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DDFCF3-75F8-4115-49B6-43A7ED449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150" b="12091"/>
          <a:stretch/>
        </p:blipFill>
        <p:spPr>
          <a:xfrm>
            <a:off x="1213341" y="869605"/>
            <a:ext cx="6717317" cy="2252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CE0F79-B8DD-2713-5232-E78E2E5E2FD3}"/>
              </a:ext>
            </a:extLst>
          </p:cNvPr>
          <p:cNvSpPr txBox="1"/>
          <p:nvPr/>
        </p:nvSpPr>
        <p:spPr>
          <a:xfrm>
            <a:off x="481215" y="566928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en-US" b="1" dirty="0">
                <a:latin typeface="Arial" panose="020B0604020202020204" pitchFamily="34" charset="0"/>
              </a:rPr>
              <a:t>목적 </a:t>
            </a:r>
            <a:r>
              <a:rPr lang="en-US" altLang="ko-KR" b="1" dirty="0">
                <a:latin typeface="Arial" panose="020B0604020202020204" pitchFamily="34" charset="0"/>
              </a:rPr>
              <a:t>: </a:t>
            </a:r>
            <a:r>
              <a:rPr lang="ko-KR" altLang="en-US" dirty="0">
                <a:latin typeface="Arial" panose="020B0604020202020204" pitchFamily="34" charset="0"/>
              </a:rPr>
              <a:t>장바구니 페이지에서 항목 제거 기능 검증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en-US" b="1" dirty="0">
                <a:latin typeface="Arial" panose="020B0604020202020204" pitchFamily="34" charset="0"/>
              </a:rPr>
              <a:t>절차 </a:t>
            </a:r>
            <a:r>
              <a:rPr lang="en-US" altLang="ko-KR" b="1" dirty="0">
                <a:latin typeface="Arial" panose="020B0604020202020204" pitchFamily="34" charset="0"/>
              </a:rPr>
              <a:t>: </a:t>
            </a:r>
            <a:r>
              <a:rPr lang="en-US" altLang="ko-KR" dirty="0">
                <a:latin typeface="Arial" panose="020B0604020202020204" pitchFamily="34" charset="0"/>
              </a:rPr>
              <a:t>Cart → </a:t>
            </a:r>
            <a:r>
              <a:rPr lang="ko-KR" altLang="en-US" dirty="0">
                <a:latin typeface="Arial" panose="020B0604020202020204" pitchFamily="34" charset="0"/>
              </a:rPr>
              <a:t>제거 클릭</a:t>
            </a:r>
            <a:endParaRPr lang="ko-KR" altLang="ko-KR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기대 결과 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항목 제거 및 갱신된 카트 상태 표시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95813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7. Test Results &amp;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0771" y="1189644"/>
            <a:ext cx="7906327" cy="355784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696296"/>
              </p:ext>
            </p:extLst>
          </p:nvPr>
        </p:nvGraphicFramePr>
        <p:xfrm>
          <a:off x="560007" y="1738284"/>
          <a:ext cx="3162531" cy="2371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07623"/>
              </p:ext>
            </p:extLst>
          </p:nvPr>
        </p:nvGraphicFramePr>
        <p:xfrm>
          <a:off x="3638551" y="1738284"/>
          <a:ext cx="4537478" cy="2371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41659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8. </a:t>
            </a:r>
            <a:r>
              <a:rPr 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E2E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lang="en-US" altLang="ko-KR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(End-to-End Test)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89542" y="1280160"/>
            <a:ext cx="7940502" cy="4139738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4022" y="1555404"/>
            <a:ext cx="7808160" cy="378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구성 요소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Python 3.14 matrix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Chrome + </a:t>
            </a:r>
            <a:r>
              <a:rPr lang="en-US" altLang="ko-KR" dirty="0" err="1"/>
              <a:t>ChromeDriver</a:t>
            </a:r>
            <a:r>
              <a:rPr lang="en-US" altLang="ko-KR" dirty="0"/>
              <a:t> </a:t>
            </a:r>
            <a:r>
              <a:rPr lang="ko-KR" altLang="en-US" dirty="0"/>
              <a:t>자동 설치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Headless </a:t>
            </a:r>
            <a:r>
              <a:rPr lang="ko-KR" altLang="en-US" dirty="0"/>
              <a:t>모드에서 </a:t>
            </a:r>
            <a:r>
              <a:rPr lang="en-US" altLang="ko-KR" dirty="0" err="1"/>
              <a:t>pytest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HTML </a:t>
            </a:r>
            <a:r>
              <a:rPr lang="ko-KR" altLang="en-US" dirty="0"/>
              <a:t>리포트 </a:t>
            </a:r>
            <a:r>
              <a:rPr lang="en-US" altLang="ko-KR" dirty="0"/>
              <a:t>+ </a:t>
            </a:r>
            <a:r>
              <a:rPr lang="ko-KR" altLang="en-US" dirty="0"/>
              <a:t>스크린샷 </a:t>
            </a:r>
            <a:r>
              <a:rPr lang="ko-KR" altLang="en-US" dirty="0" err="1"/>
              <a:t>아티팩트</a:t>
            </a:r>
            <a:r>
              <a:rPr lang="ko-KR" altLang="en-US" dirty="0"/>
              <a:t> 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트리거 조건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	Pull Request : </a:t>
            </a:r>
            <a:r>
              <a:rPr lang="ko-KR" altLang="en-US" dirty="0"/>
              <a:t> </a:t>
            </a:r>
            <a:r>
              <a:rPr lang="ko-KR" altLang="en-US" dirty="0" err="1"/>
              <a:t>스모크</a:t>
            </a:r>
            <a:r>
              <a:rPr lang="ko-KR" altLang="en-US" dirty="0"/>
              <a:t> 테스트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	main </a:t>
            </a:r>
            <a:r>
              <a:rPr lang="ko-KR" altLang="en-US" b="1" dirty="0" err="1"/>
              <a:t>브랜치</a:t>
            </a:r>
            <a:r>
              <a:rPr lang="ko-KR" altLang="en-US" b="1" dirty="0"/>
              <a:t> </a:t>
            </a:r>
            <a:r>
              <a:rPr lang="en-US" altLang="ko-KR" b="1" dirty="0"/>
              <a:t>push : </a:t>
            </a:r>
            <a:r>
              <a:rPr lang="ko-KR" altLang="en-US" dirty="0"/>
              <a:t> 전체 회귀 테스트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5571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9. Issues &amp; Fixes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85" y="1153901"/>
            <a:ext cx="8226829" cy="4130502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3665F39-9BC3-30AF-507E-DF2A327A8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308040"/>
              </p:ext>
            </p:extLst>
          </p:nvPr>
        </p:nvGraphicFramePr>
        <p:xfrm>
          <a:off x="815925" y="1441121"/>
          <a:ext cx="7512147" cy="3556061"/>
        </p:xfrm>
        <a:graphic>
          <a:graphicData uri="http://schemas.openxmlformats.org/drawingml/2006/table">
            <a:tbl>
              <a:tblPr/>
              <a:tblGrid>
                <a:gridCol w="2504049">
                  <a:extLst>
                    <a:ext uri="{9D8B030D-6E8A-4147-A177-3AD203B41FA5}">
                      <a16:colId xmlns:a16="http://schemas.microsoft.com/office/drawing/2014/main" val="1451833938"/>
                    </a:ext>
                  </a:extLst>
                </a:gridCol>
                <a:gridCol w="2504049">
                  <a:extLst>
                    <a:ext uri="{9D8B030D-6E8A-4147-A177-3AD203B41FA5}">
                      <a16:colId xmlns:a16="http://schemas.microsoft.com/office/drawing/2014/main" val="3192138511"/>
                    </a:ext>
                  </a:extLst>
                </a:gridCol>
                <a:gridCol w="2504049">
                  <a:extLst>
                    <a:ext uri="{9D8B030D-6E8A-4147-A177-3AD203B41FA5}">
                      <a16:colId xmlns:a16="http://schemas.microsoft.com/office/drawing/2014/main" val="420442795"/>
                    </a:ext>
                  </a:extLst>
                </a:gridCol>
              </a:tblGrid>
              <a:tr h="451821"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문제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원인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해결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699891"/>
                  </a:ext>
                </a:extLst>
              </a:tr>
              <a:tr h="65983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 단계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 로직이 없거나 실패하여 카트 기능 사용 불가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명확한 로그인 로직을 추가하고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Logout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버튼 확인으로 로그인 성공을 보장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159764"/>
                  </a:ext>
                </a:extLst>
              </a:tr>
              <a:tr h="83609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장바구니 추가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제거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**Selenium add_button.click()**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사용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에 의존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**browser.execute_script()**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 </a:t>
                      </a:r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JavaScript fetch API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직접 호출하여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cart/toggle/1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엔드포인트에 </a:t>
                      </a:r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POST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요청 전송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214179"/>
                  </a:ext>
                </a:extLst>
              </a:tr>
              <a:tr h="65983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개선 효과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 실패 및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불안정성으로 인한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TimeoutException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빈번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상호작용을 우회하여 백엔드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API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호출을 직접 테스트함으로써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E2E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테스트의 안정성을 극대화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977384"/>
                  </a:ext>
                </a:extLst>
              </a:tr>
              <a:tr h="83609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검증 방식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Cart (1)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텍스트가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XPATH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에 명확히 포함된 링크를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wait.until()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 대기하도록 수정하여 검증의 정확성을 높임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4015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5571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9. Issues &amp; Fixes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85" y="1153901"/>
            <a:ext cx="8226829" cy="4130502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4223D-9275-DB03-65DB-86C1D9BF7F39}"/>
              </a:ext>
            </a:extLst>
          </p:cNvPr>
          <p:cNvSpPr txBox="1"/>
          <p:nvPr/>
        </p:nvSpPr>
        <p:spPr>
          <a:xfrm>
            <a:off x="762355" y="1385500"/>
            <a:ext cx="7056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Arial Unicode MS"/>
              </a:rPr>
              <a:t>Test_index.py</a:t>
            </a:r>
            <a:r>
              <a:rPr lang="ko-KR" altLang="en-US" sz="1200" dirty="0">
                <a:latin typeface="Arial Unicode MS"/>
              </a:rPr>
              <a:t>에서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get_product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함수를 찾을 수 없는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NameError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가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발생</a:t>
            </a:r>
            <a:endParaRPr kumimoji="0" lang="en-US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ko-KR" sz="1200" dirty="0"/>
              <a:t>App.py </a:t>
            </a:r>
            <a:r>
              <a:rPr lang="ko-KR" altLang="en-US" sz="1200" dirty="0"/>
              <a:t>전체</a:t>
            </a:r>
            <a:r>
              <a:rPr lang="en-US" altLang="ko-KR" sz="1200" dirty="0"/>
              <a:t> </a:t>
            </a:r>
            <a:r>
              <a:rPr lang="ko-KR" altLang="en-US" sz="1200" dirty="0"/>
              <a:t>코드와 함께</a:t>
            </a:r>
            <a:r>
              <a:rPr lang="en-US" altLang="ko-KR" sz="1200" dirty="0"/>
              <a:t>, </a:t>
            </a:r>
            <a:r>
              <a:rPr lang="ko-KR" altLang="en-US" sz="1200" dirty="0"/>
              <a:t>테스트 파일 상단에 </a:t>
            </a:r>
            <a:r>
              <a:rPr lang="ko-KR" altLang="en-US" sz="1200" dirty="0">
                <a:latin typeface="Arial" panose="020B0604020202020204" pitchFamily="34" charset="0"/>
              </a:rPr>
              <a:t>필요한 함수들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import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USERS,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get_product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등)을 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명시적으로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Import하여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모든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NameError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문제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해결</a:t>
            </a:r>
            <a:endParaRPr lang="ko-KR" altLang="en-US" sz="1200" dirty="0"/>
          </a:p>
        </p:txBody>
      </p:sp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D9182618-5F91-EF7D-B571-FCECA790A6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7088405"/>
              </p:ext>
            </p:extLst>
          </p:nvPr>
        </p:nvGraphicFramePr>
        <p:xfrm>
          <a:off x="640080" y="1839129"/>
          <a:ext cx="7870874" cy="3126766"/>
        </p:xfrm>
        <a:graphic>
          <a:graphicData uri="http://schemas.openxmlformats.org/drawingml/2006/table">
            <a:tbl>
              <a:tblPr/>
              <a:tblGrid>
                <a:gridCol w="1715878">
                  <a:extLst>
                    <a:ext uri="{9D8B030D-6E8A-4147-A177-3AD203B41FA5}">
                      <a16:colId xmlns:a16="http://schemas.microsoft.com/office/drawing/2014/main" val="1430633378"/>
                    </a:ext>
                  </a:extLst>
                </a:gridCol>
                <a:gridCol w="3510846">
                  <a:extLst>
                    <a:ext uri="{9D8B030D-6E8A-4147-A177-3AD203B41FA5}">
                      <a16:colId xmlns:a16="http://schemas.microsoft.com/office/drawing/2014/main" val="2834473205"/>
                    </a:ext>
                  </a:extLst>
                </a:gridCol>
                <a:gridCol w="2644150">
                  <a:extLst>
                    <a:ext uri="{9D8B030D-6E8A-4147-A177-3AD203B41FA5}">
                      <a16:colId xmlns:a16="http://schemas.microsoft.com/office/drawing/2014/main" val="1336564105"/>
                    </a:ext>
                  </a:extLst>
                </a:gridCol>
              </a:tblGrid>
              <a:tr h="925267">
                <a:tc>
                  <a:txBody>
                    <a:bodyPr/>
                    <a:lstStyle/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파일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역할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문제점 해결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59332"/>
                  </a:ext>
                </a:extLst>
              </a:tr>
              <a:tr h="733833"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test_base.py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레이아웃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네비게이션 링크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 상태에 따른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UI,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플래시 메시지 렌더링 등 공통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UI/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레이아웃 검증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Flask-client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활용한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UI/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인증 상태 테스트가 체계적으로 정리됨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735580"/>
                  </a:ext>
                </a:extLst>
              </a:tr>
              <a:tr h="733833"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test_login.py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회원가입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로그아웃의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Flask-client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통한 단위 테스트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리디렉션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세션 변경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오류 메시지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Flask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인증 로직의 백엔드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/API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레벨 안정성을 완벽하게 검증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511730"/>
                  </a:ext>
                </a:extLst>
              </a:tr>
              <a:tr h="733833"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test_product.py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상품 상세 페이지 접근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카트 </a:t>
                      </a:r>
                      <a:r>
                        <a:rPr lang="ko-KR" altLang="en-US" sz="1200" b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토글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API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의 인증 게이트웨이 역할 및 세션 조작 테스트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test_index.py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에 혼재되어 있던 상품 상세 및 카트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테스트를 분리하여 명확화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46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216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8585" y="1153901"/>
            <a:ext cx="8226829" cy="4130502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dirty="0"/>
              <a:t>전 기능을 포함한 </a:t>
            </a:r>
            <a:r>
              <a:rPr lang="ko-KR" altLang="en-US" b="1" dirty="0"/>
              <a:t>완성형 </a:t>
            </a:r>
            <a:r>
              <a:rPr lang="en-US" altLang="ko-KR" b="1" dirty="0"/>
              <a:t>E2E </a:t>
            </a:r>
            <a:r>
              <a:rPr lang="ko-KR" altLang="en-US" b="1" dirty="0"/>
              <a:t>자동화</a:t>
            </a:r>
            <a:r>
              <a:rPr lang="ko-KR" altLang="en-US" dirty="0"/>
              <a:t> 구축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테스트 커버리지 시각화 및 문서화 완료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향후 개선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Allure </a:t>
            </a:r>
            <a:r>
              <a:rPr lang="ko-KR" altLang="en-US" dirty="0"/>
              <a:t>기반 리포트 적용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크로스 브라우저 테스트</a:t>
            </a:r>
            <a:r>
              <a:rPr lang="en-US" altLang="ko-KR" dirty="0"/>
              <a:t>(Edge, Firefox)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Nightly </a:t>
            </a:r>
            <a:r>
              <a:rPr lang="ko-KR" altLang="en-US" dirty="0"/>
              <a:t>전체 회귀 스케줄링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4FB5A-F454-8820-EA21-FC29D096C02B}"/>
              </a:ext>
            </a:extLst>
          </p:cNvPr>
          <p:cNvSpPr txBox="1"/>
          <p:nvPr/>
        </p:nvSpPr>
        <p:spPr>
          <a:xfrm>
            <a:off x="640080" y="1558460"/>
            <a:ext cx="768100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성과</a:t>
            </a: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+mn-ea"/>
              </a:rPr>
              <a:t>catshop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/>
              <a:t>전 기능을 포함한 </a:t>
            </a:r>
            <a:r>
              <a:rPr lang="ko-KR" altLang="en-US" b="1" dirty="0"/>
              <a:t>완성형 </a:t>
            </a:r>
            <a:r>
              <a:rPr lang="en-US" altLang="ko-KR" b="1" dirty="0"/>
              <a:t>E2E </a:t>
            </a:r>
            <a:r>
              <a:rPr lang="ko-KR" altLang="en-US" b="1" dirty="0"/>
              <a:t>자동화</a:t>
            </a:r>
            <a:r>
              <a:rPr lang="ko-KR" altLang="en-US" dirty="0"/>
              <a:t> 구축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테스트 커버리지 시각화 및 문서화 완료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향후 개선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Allure </a:t>
            </a:r>
            <a:r>
              <a:rPr lang="ko-KR" altLang="en-US" dirty="0"/>
              <a:t>기반 리포트 적용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크로스 브라우저 테스트</a:t>
            </a:r>
            <a:r>
              <a:rPr lang="en-US" altLang="ko-KR" dirty="0"/>
              <a:t>(Edge, Firefox)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Nightly </a:t>
            </a:r>
            <a:r>
              <a:rPr lang="ko-KR" altLang="en-US" dirty="0"/>
              <a:t>전체 회귀 스케줄링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23D829-D492-7C3A-CAF2-E66F659769E2}"/>
              </a:ext>
            </a:extLst>
          </p:cNvPr>
          <p:cNvSpPr txBox="1"/>
          <p:nvPr/>
        </p:nvSpPr>
        <p:spPr>
          <a:xfrm>
            <a:off x="640080" y="274320"/>
            <a:ext cx="461857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10.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결론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및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향후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계획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170349551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663</ep:Words>
  <ep:PresentationFormat>화면 슬라이드 쇼(4:3)</ep:PresentationFormat>
  <ep:Paragraphs>120</ep:Paragraphs>
  <ep:Slides>24</ep:Slides>
  <ep:Notes>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ep:HeadingPairs>
  <ep:TitlesOfParts>
    <vt:vector size="2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JY</dc:creator>
  <dc:description>generated using python-pptx</dc:description>
  <cp:lastModifiedBy>USER</cp:lastModifiedBy>
  <dcterms:modified xsi:type="dcterms:W3CDTF">2025-12-02T05:13:19.472</dcterms:modified>
  <cp:revision>60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