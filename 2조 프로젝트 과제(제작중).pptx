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9" r:id="rId5"/>
    <p:sldId id="259" r:id="rId6"/>
    <p:sldId id="260" r:id="rId7"/>
    <p:sldId id="261" r:id="rId8"/>
    <p:sldId id="262" r:id="rId9"/>
    <p:sldId id="280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4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6B-4214-95B7-5E5E63C360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Auth</c:v>
                </c:pt>
                <c:pt idx="1">
                  <c:v>Inventory</c:v>
                </c:pt>
                <c:pt idx="2">
                  <c:v>Cart</c:v>
                </c:pt>
                <c:pt idx="3">
                  <c:v>Checkout</c:v>
                </c:pt>
                <c:pt idx="4">
                  <c:v>Menu/Footer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5</c:v>
                </c:pt>
                <c:pt idx="3">
                  <c:v>6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E0-47D3-9CFB-C144942E9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4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91B532A-E7ED-E6A6-5ED0-8606627AF0D0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SauceDemo E2E Test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E1E1E"/>
                </a:solidFill>
              </a:defRPr>
            </a:pPr>
            <a:r>
              <a:rPr lang="en-US" dirty="0" err="1"/>
              <a:t>P</a:t>
            </a:r>
            <a:r>
              <a:rPr dirty="0" err="1"/>
              <a:t>ytest</a:t>
            </a:r>
            <a:r>
              <a:rPr lang="en-US" dirty="0"/>
              <a:t> </a:t>
            </a:r>
            <a:r>
              <a:rPr dirty="0"/>
              <a:t>GitHub Actions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r>
              <a:rPr dirty="0"/>
              <a:t>Gradient Startup Template (Clean Ver.)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r>
              <a:rPr dirty="0"/>
              <a:t>Actual UI + Test Case Based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C487CF8-9867-B0EE-5351-F288988E2301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1. 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대상 사이트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en-US" altLang="ko-KR" dirty="0" err="1"/>
              <a:t>catshop</a:t>
            </a:r>
            <a:r>
              <a:rPr lang="en-US" altLang="ko-KR" dirty="0"/>
              <a:t>(local)</a:t>
            </a:r>
          </a:p>
          <a:p>
            <a:r>
              <a:rPr lang="ko-KR" altLang="en-US" b="1" dirty="0"/>
              <a:t>프로젝트 목표</a:t>
            </a:r>
            <a:r>
              <a:rPr lang="en-US" altLang="ko-KR" b="1" dirty="0"/>
              <a:t>:</a:t>
            </a:r>
            <a:r>
              <a:rPr lang="ko-KR" altLang="en-US" dirty="0"/>
              <a:t> 실무 수준의 </a:t>
            </a:r>
            <a:r>
              <a:rPr lang="en-US" altLang="ko-KR" dirty="0"/>
              <a:t>E2E </a:t>
            </a:r>
            <a:r>
              <a:rPr lang="ko-KR" altLang="en-US" dirty="0"/>
              <a:t>자동화 테스트 구축</a:t>
            </a:r>
          </a:p>
          <a:p>
            <a:r>
              <a:rPr lang="ko-KR" altLang="en-US" b="1" dirty="0"/>
              <a:t>산출물</a:t>
            </a:r>
            <a:r>
              <a:rPr lang="en-US" altLang="ko-KR" b="1" dirty="0"/>
              <a:t>:</a:t>
            </a:r>
            <a:r>
              <a:rPr lang="ko-KR" altLang="en-US" dirty="0"/>
              <a:t> 테스트 스위트</a:t>
            </a:r>
            <a:r>
              <a:rPr lang="en-US" altLang="ko-KR" dirty="0"/>
              <a:t>(</a:t>
            </a:r>
            <a:r>
              <a:rPr lang="en-US" altLang="ko-KR" dirty="0" err="1"/>
              <a:t>pytest</a:t>
            </a:r>
            <a:r>
              <a:rPr lang="en-US" altLang="ko-KR" dirty="0"/>
              <a:t> + Selenium), CI </a:t>
            </a:r>
            <a:r>
              <a:rPr lang="ko-KR" altLang="en-US" dirty="0"/>
              <a:t>파이프라인</a:t>
            </a:r>
            <a:r>
              <a:rPr lang="en-US" altLang="ko-KR" dirty="0"/>
              <a:t>, </a:t>
            </a:r>
            <a:r>
              <a:rPr lang="ko-KR" altLang="en-US" dirty="0"/>
              <a:t>테스트 리포트</a:t>
            </a:r>
          </a:p>
          <a:p>
            <a:r>
              <a:rPr lang="ko-KR" altLang="en-US" b="1" dirty="0"/>
              <a:t>프로젝트 기간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주 팀 프로젝트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1562C942-5DE9-CCF1-D516-02CABC7086EF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2. 팀 구성 및 역할 (Team Project)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팀장 </a:t>
            </a:r>
            <a:r>
              <a:rPr lang="en-US" altLang="ko-KR" b="1" dirty="0"/>
              <a:t>(Team Lead)</a:t>
            </a:r>
          </a:p>
          <a:p>
            <a:r>
              <a:rPr lang="ko-KR" altLang="en-US" dirty="0"/>
              <a:t>전체 일정 관리</a:t>
            </a:r>
          </a:p>
          <a:p>
            <a:r>
              <a:rPr lang="ko-KR" altLang="en-US" dirty="0"/>
              <a:t>테스트 아키텍처 및 통합</a:t>
            </a:r>
          </a:p>
          <a:p>
            <a:r>
              <a:rPr lang="en-US" altLang="ko-KR" dirty="0"/>
              <a:t>CI </a:t>
            </a:r>
            <a:r>
              <a:rPr lang="ko-KR" altLang="en-US" dirty="0"/>
              <a:t>파이프라인 구축 및 운영</a:t>
            </a:r>
          </a:p>
          <a:p>
            <a:r>
              <a:rPr lang="ko-KR" altLang="en-US" dirty="0"/>
              <a:t>최종 품질 검토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팀원 </a:t>
            </a:r>
            <a:r>
              <a:rPr lang="en-US" altLang="ko-KR" b="1" dirty="0"/>
              <a:t>(Team Members)</a:t>
            </a:r>
          </a:p>
          <a:p>
            <a:r>
              <a:rPr lang="en-US" altLang="ko-KR" b="1" dirty="0"/>
              <a:t>QA1:</a:t>
            </a:r>
            <a:r>
              <a:rPr lang="ko-KR" altLang="en-US" dirty="0"/>
              <a:t> 테스트 케이스 설계</a:t>
            </a:r>
            <a:r>
              <a:rPr lang="en-US" altLang="ko-KR" dirty="0"/>
              <a:t>, </a:t>
            </a:r>
            <a:r>
              <a:rPr lang="ko-KR" altLang="en-US" dirty="0"/>
              <a:t>커버리지 매핑</a:t>
            </a:r>
          </a:p>
          <a:p>
            <a:r>
              <a:rPr lang="en-US" altLang="ko-KR" b="1" dirty="0"/>
              <a:t>QA2:</a:t>
            </a:r>
            <a:r>
              <a:rPr lang="ko-KR" altLang="en-US" dirty="0"/>
              <a:t> </a:t>
            </a:r>
            <a:r>
              <a:rPr lang="en-US" altLang="ko-KR" dirty="0"/>
              <a:t>Page Object Model(POM) </a:t>
            </a:r>
            <a:r>
              <a:rPr lang="ko-KR" altLang="en-US" dirty="0"/>
              <a:t>페이지 개발</a:t>
            </a:r>
          </a:p>
          <a:p>
            <a:r>
              <a:rPr lang="en-US" altLang="ko-KR" b="1" dirty="0"/>
              <a:t>QA3:</a:t>
            </a:r>
            <a:r>
              <a:rPr lang="ko-KR" altLang="en-US" dirty="0"/>
              <a:t> 테스트 스크립트 구현</a:t>
            </a:r>
            <a:r>
              <a:rPr lang="en-US" altLang="ko-KR" dirty="0"/>
              <a:t>, </a:t>
            </a:r>
            <a:r>
              <a:rPr lang="ko-KR" altLang="en-US" dirty="0"/>
              <a:t>예외</a:t>
            </a:r>
            <a:r>
              <a:rPr lang="en-US" altLang="ko-KR" dirty="0"/>
              <a:t>·</a:t>
            </a:r>
            <a:r>
              <a:rPr lang="ko-KR" altLang="en-US" dirty="0"/>
              <a:t>실패 케이스 처리</a:t>
            </a:r>
          </a:p>
          <a:p>
            <a:r>
              <a:rPr lang="en-US" altLang="ko-KR" b="1" dirty="0"/>
              <a:t>QA4:</a:t>
            </a:r>
            <a:r>
              <a:rPr lang="ko-KR" altLang="en-US" dirty="0"/>
              <a:t> 결과 분석</a:t>
            </a:r>
            <a:r>
              <a:rPr lang="en-US" altLang="ko-KR" dirty="0"/>
              <a:t>, </a:t>
            </a:r>
            <a:r>
              <a:rPr lang="ko-KR" altLang="en-US" dirty="0"/>
              <a:t>보고서 및 발표 자료 제작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5E5C-48C6-7B1F-281B-070F8F836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>
            <a:extLst>
              <a:ext uri="{FF2B5EF4-FFF2-40B4-BE49-F238E27FC236}">
                <a16:creationId xmlns:a16="http://schemas.microsoft.com/office/drawing/2014/main" id="{3E5BAE34-5C24-7D34-A4C8-376A42BB1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51EC81-B8E6-FE22-9FCC-CC771D21B5DC}"/>
              </a:ext>
            </a:extLst>
          </p:cNvPr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3. 테스트 범위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786B61F-F921-0909-0B30-933B95B69892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2DA42-FA05-E286-3EA3-644C724F4CC4}"/>
              </a:ext>
            </a:extLst>
          </p:cNvPr>
          <p:cNvSpPr txBox="1"/>
          <p:nvPr/>
        </p:nvSpPr>
        <p:spPr>
          <a:xfrm>
            <a:off x="1062182" y="1280160"/>
            <a:ext cx="73706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lphaUcPeriod"/>
            </a:pPr>
            <a:r>
              <a:rPr lang="ko-KR" altLang="en-US" b="1" dirty="0"/>
              <a:t>베이스</a:t>
            </a:r>
            <a:r>
              <a:rPr lang="en-US" altLang="ko-KR" b="1" dirty="0"/>
              <a:t>(base)</a:t>
            </a:r>
          </a:p>
          <a:p>
            <a:r>
              <a:rPr lang="en-US" altLang="ko-KR" b="1" dirty="0"/>
              <a:t>B.  </a:t>
            </a:r>
            <a:r>
              <a:rPr lang="ko-KR" altLang="en-US" b="1" dirty="0"/>
              <a:t>인덱스</a:t>
            </a:r>
            <a:r>
              <a:rPr lang="en-US" altLang="ko-KR" b="1" dirty="0"/>
              <a:t>(index)</a:t>
            </a:r>
          </a:p>
          <a:p>
            <a:r>
              <a:rPr lang="en-US" altLang="ko-KR" b="1" dirty="0"/>
              <a:t>C. </a:t>
            </a:r>
            <a:r>
              <a:rPr lang="ko-KR" altLang="en-US" b="1" dirty="0"/>
              <a:t>장바구니</a:t>
            </a:r>
            <a:r>
              <a:rPr lang="en-US" altLang="ko-KR" b="1" dirty="0"/>
              <a:t>(Cart)</a:t>
            </a:r>
          </a:p>
          <a:p>
            <a:r>
              <a:rPr lang="ko-KR" altLang="en-US" dirty="0"/>
              <a:t>상품 추가</a:t>
            </a:r>
            <a:r>
              <a:rPr lang="en-US" altLang="ko-KR" dirty="0"/>
              <a:t>/</a:t>
            </a:r>
            <a:r>
              <a:rPr lang="ko-KR" altLang="en-US" dirty="0"/>
              <a:t>삭제</a:t>
            </a:r>
          </a:p>
          <a:p>
            <a:r>
              <a:rPr lang="ko-KR" altLang="en-US" dirty="0"/>
              <a:t>장바구니 배지</a:t>
            </a:r>
            <a:r>
              <a:rPr lang="en-US" altLang="ko-KR" dirty="0"/>
              <a:t>(</a:t>
            </a:r>
            <a:r>
              <a:rPr lang="ko-KR" altLang="en-US" dirty="0"/>
              <a:t>숫자</a:t>
            </a:r>
            <a:r>
              <a:rPr lang="en-US" altLang="ko-KR" dirty="0"/>
              <a:t>) </a:t>
            </a:r>
            <a:r>
              <a:rPr lang="ko-KR" altLang="en-US" dirty="0"/>
              <a:t>동기화</a:t>
            </a:r>
          </a:p>
          <a:p>
            <a:r>
              <a:rPr lang="ko-KR" altLang="en-US" dirty="0"/>
              <a:t>장바구니 페이지에서 항목 삭제</a:t>
            </a:r>
          </a:p>
          <a:p>
            <a:r>
              <a:rPr lang="en-US" altLang="ko-KR" dirty="0"/>
              <a:t>"</a:t>
            </a:r>
            <a:r>
              <a:rPr lang="ko-KR" altLang="en-US" dirty="0"/>
              <a:t>계속 쇼핑하기</a:t>
            </a:r>
            <a:r>
              <a:rPr lang="en-US" altLang="ko-KR" dirty="0"/>
              <a:t>" </a:t>
            </a:r>
            <a:r>
              <a:rPr lang="ko-KR" altLang="en-US" dirty="0"/>
              <a:t>동작 확인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1012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3. 테스트 범위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21EF948-79CA-2E9E-638A-50881D7A713A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2182" y="1280160"/>
            <a:ext cx="73706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D. </a:t>
            </a:r>
            <a:r>
              <a:rPr lang="ko-KR" altLang="en-US" b="1" dirty="0"/>
              <a:t>로그인</a:t>
            </a:r>
            <a:r>
              <a:rPr lang="en-US" altLang="ko-KR" b="1" dirty="0"/>
              <a:t>(login)</a:t>
            </a:r>
          </a:p>
          <a:p>
            <a:r>
              <a:rPr lang="en-US" altLang="ko-KR" b="1" dirty="0"/>
              <a:t>E. </a:t>
            </a:r>
            <a:r>
              <a:rPr lang="ko-KR" altLang="en-US" b="1" dirty="0"/>
              <a:t>체크아웃</a:t>
            </a:r>
            <a:r>
              <a:rPr lang="en-US" altLang="ko-KR" b="1" dirty="0"/>
              <a:t>(Checkout)</a:t>
            </a:r>
          </a:p>
          <a:p>
            <a:r>
              <a:rPr lang="ko-KR" altLang="en-US" dirty="0"/>
              <a:t>필수 </a:t>
            </a:r>
            <a:r>
              <a:rPr lang="ko-KR" altLang="en-US" dirty="0" err="1"/>
              <a:t>입력값</a:t>
            </a:r>
            <a:r>
              <a:rPr lang="ko-KR" altLang="en-US" dirty="0"/>
              <a:t> 검증</a:t>
            </a:r>
          </a:p>
          <a:p>
            <a:r>
              <a:rPr lang="ko-KR" altLang="en-US" dirty="0"/>
              <a:t>총합 계산</a:t>
            </a:r>
            <a:r>
              <a:rPr lang="en-US" altLang="ko-KR" dirty="0"/>
              <a:t>(</a:t>
            </a:r>
            <a:r>
              <a:rPr lang="ko-KR" altLang="en-US" dirty="0"/>
              <a:t>소계 </a:t>
            </a:r>
            <a:r>
              <a:rPr lang="en-US" altLang="ko-KR" dirty="0"/>
              <a:t>+ </a:t>
            </a:r>
            <a:r>
              <a:rPr lang="ko-KR" altLang="en-US" dirty="0"/>
              <a:t>세금 </a:t>
            </a:r>
            <a:r>
              <a:rPr lang="en-US" altLang="ko-KR" dirty="0"/>
              <a:t>= </a:t>
            </a:r>
            <a:r>
              <a:rPr lang="ko-KR" altLang="en-US" dirty="0"/>
              <a:t>총액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주문 완료 및 홈으로 이동</a:t>
            </a:r>
          </a:p>
          <a:p>
            <a:r>
              <a:rPr lang="en-US" altLang="ko-KR" b="1" dirty="0"/>
              <a:t>F. </a:t>
            </a:r>
            <a:r>
              <a:rPr lang="ko-KR" altLang="en-US" b="1" dirty="0"/>
              <a:t>레지스터리</a:t>
            </a:r>
            <a:endParaRPr lang="en-US" altLang="ko-KR" b="1" dirty="0"/>
          </a:p>
          <a:p>
            <a:r>
              <a:rPr lang="en-US" altLang="ko-KR" b="1" dirty="0"/>
              <a:t>G. </a:t>
            </a:r>
            <a:r>
              <a:rPr lang="ko-KR" altLang="en-US" b="1" dirty="0" err="1"/>
              <a:t>제품상세</a:t>
            </a:r>
            <a:endParaRPr lang="en-US" altLang="ko-KR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DCCA428-26A9-85F8-074F-CF8CB2D254D7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4. 테스트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9616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테스트 유형</a:t>
            </a:r>
          </a:p>
          <a:p>
            <a:r>
              <a:rPr lang="ko-KR" altLang="en-US" b="1" dirty="0" err="1"/>
              <a:t>스모크</a:t>
            </a:r>
            <a:r>
              <a:rPr lang="en-US" altLang="ko-KR" b="1" dirty="0"/>
              <a:t>(Smoke):</a:t>
            </a:r>
            <a:r>
              <a:rPr lang="ko-KR" altLang="en-US" dirty="0"/>
              <a:t> 핵심 기능 빠른 검증 </a:t>
            </a:r>
            <a:r>
              <a:rPr lang="en-US" altLang="ko-KR" dirty="0"/>
              <a:t>(PR </a:t>
            </a:r>
            <a:r>
              <a:rPr lang="ko-KR" altLang="en-US" dirty="0"/>
              <a:t>기준</a:t>
            </a:r>
            <a:r>
              <a:rPr lang="en-US" altLang="ko-KR" dirty="0"/>
              <a:t>)</a:t>
            </a:r>
          </a:p>
          <a:p>
            <a:r>
              <a:rPr lang="ko-KR" altLang="en-US" b="1" dirty="0"/>
              <a:t>회귀 테스트</a:t>
            </a:r>
            <a:r>
              <a:rPr lang="en-US" altLang="ko-KR" b="1" dirty="0"/>
              <a:t>(Regression):</a:t>
            </a:r>
            <a:r>
              <a:rPr lang="ko-KR" altLang="en-US" dirty="0"/>
              <a:t> 전체 스위트 실행 </a:t>
            </a:r>
            <a:r>
              <a:rPr lang="en-US" altLang="ko-KR" dirty="0"/>
              <a:t>(main push / nightly)</a:t>
            </a:r>
          </a:p>
          <a:p>
            <a:r>
              <a:rPr lang="ko-KR" altLang="en-US" b="1" dirty="0"/>
              <a:t>네거티브</a:t>
            </a:r>
            <a:r>
              <a:rPr lang="en-US" altLang="ko-KR" b="1" dirty="0"/>
              <a:t>(Negative):</a:t>
            </a:r>
            <a:r>
              <a:rPr lang="ko-KR" altLang="en-US" dirty="0"/>
              <a:t> 실패</a:t>
            </a:r>
            <a:r>
              <a:rPr lang="en-US" altLang="ko-KR" dirty="0"/>
              <a:t>/</a:t>
            </a:r>
            <a:r>
              <a:rPr lang="ko-KR" altLang="en-US" dirty="0"/>
              <a:t>오류 처리 검증</a:t>
            </a:r>
          </a:p>
          <a:p>
            <a:r>
              <a:rPr lang="ko-KR" altLang="en-US" b="1" dirty="0"/>
              <a:t>안정성 규칙</a:t>
            </a:r>
          </a:p>
          <a:p>
            <a:r>
              <a:rPr lang="ko-KR" altLang="en-US" dirty="0"/>
              <a:t>모든 액션 전 </a:t>
            </a:r>
            <a:r>
              <a:rPr lang="en-US" altLang="ko-KR" b="1" dirty="0"/>
              <a:t>Explicit Wait</a:t>
            </a:r>
            <a:r>
              <a:rPr lang="ko-KR" altLang="en-US" dirty="0"/>
              <a:t> 적용</a:t>
            </a:r>
          </a:p>
          <a:p>
            <a:r>
              <a:rPr lang="ko-KR" altLang="en-US" dirty="0"/>
              <a:t>실패 시 자동 스크린샷 저장</a:t>
            </a:r>
          </a:p>
          <a:p>
            <a:r>
              <a:rPr lang="en-US" altLang="ko-KR" dirty="0"/>
              <a:t>CI </a:t>
            </a:r>
            <a:r>
              <a:rPr lang="ko-KR" altLang="en-US" dirty="0"/>
              <a:t>환경에서는 </a:t>
            </a:r>
            <a:r>
              <a:rPr lang="en-US" altLang="ko-KR" dirty="0"/>
              <a:t>Selenium Manager </a:t>
            </a:r>
            <a:r>
              <a:rPr lang="ko-KR" altLang="en-US" dirty="0"/>
              <a:t>기반으로 </a:t>
            </a:r>
            <a:r>
              <a:rPr lang="en-US" altLang="ko-KR" dirty="0"/>
              <a:t>Chrome/Driver </a:t>
            </a:r>
            <a:r>
              <a:rPr lang="ko-KR" altLang="en-US" dirty="0"/>
              <a:t>동기화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5. 테스트 아키텍처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5922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2000" b="1" dirty="0" err="1">
                <a:latin typeface="Arial" panose="020B0604020202020204" pitchFamily="34" charset="0"/>
              </a:rPr>
              <a:t>Page</a:t>
            </a:r>
            <a:r>
              <a:rPr lang="ko-KR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Object</a:t>
            </a:r>
            <a:r>
              <a:rPr lang="ko-KR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Model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UI 요소와 동작을 페이지별로 분리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2000" b="1" dirty="0">
                <a:latin typeface="Arial" panose="020B0604020202020204" pitchFamily="34" charset="0"/>
              </a:rPr>
              <a:t>Service </a:t>
            </a:r>
            <a:r>
              <a:rPr lang="ko-KR" altLang="ko-KR" sz="2000" b="1" dirty="0" err="1">
                <a:latin typeface="Arial" panose="020B0604020202020204" pitchFamily="34" charset="0"/>
              </a:rPr>
              <a:t>Layer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로그인/상품추가 등 반복 동작 공통 처리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2000" b="1" dirty="0" err="1">
                <a:latin typeface="Arial" panose="020B0604020202020204" pitchFamily="34" charset="0"/>
              </a:rPr>
              <a:t>Fixtures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브라우저 및 세션 재사용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2000" b="1" dirty="0" err="1">
                <a:latin typeface="Arial" panose="020B0604020202020204" pitchFamily="34" charset="0"/>
              </a:rPr>
              <a:t>Utils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공용 </a:t>
            </a:r>
            <a:r>
              <a:rPr lang="ko-KR" altLang="ko-KR" sz="2000" dirty="0" err="1">
                <a:latin typeface="Arial" panose="020B0604020202020204" pitchFamily="34" charset="0"/>
              </a:rPr>
              <a:t>waits</a:t>
            </a:r>
            <a:r>
              <a:rPr lang="ko-KR" altLang="ko-KR" sz="2000" dirty="0">
                <a:latin typeface="Arial" panose="020B0604020202020204" pitchFamily="34" charset="0"/>
              </a:rPr>
              <a:t>, </a:t>
            </a:r>
            <a:r>
              <a:rPr lang="ko-KR" altLang="ko-KR" sz="2000" dirty="0" err="1">
                <a:latin typeface="Arial" panose="020B0604020202020204" pitchFamily="34" charset="0"/>
              </a:rPr>
              <a:t>assertions</a:t>
            </a:r>
            <a:r>
              <a:rPr lang="ko-KR" altLang="ko-KR" sz="2000" dirty="0">
                <a:latin typeface="Arial" panose="020B0604020202020204" pitchFamily="34" charset="0"/>
              </a:rPr>
              <a:t>, 데이터 </a:t>
            </a:r>
            <a:r>
              <a:rPr lang="ko-KR" altLang="ko-KR" sz="2000" dirty="0" err="1">
                <a:latin typeface="Arial" panose="020B0604020202020204" pitchFamily="34" charset="0"/>
              </a:rPr>
              <a:t>생성기</a:t>
            </a:r>
            <a:endParaRPr lang="ko-KR" altLang="ko-KR" sz="20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2000" b="1" dirty="0">
                <a:latin typeface="Arial" panose="020B0604020202020204" pitchFamily="34" charset="0"/>
              </a:rPr>
              <a:t>CI 파이프라인:</a:t>
            </a:r>
            <a:r>
              <a:rPr lang="ko-KR" altLang="ko-KR" sz="2000" dirty="0">
                <a:latin typeface="Arial" panose="020B0604020202020204" pitchFamily="34" charset="0"/>
              </a:rPr>
              <a:t> GitHub </a:t>
            </a:r>
            <a:r>
              <a:rPr lang="ko-KR" altLang="ko-KR" sz="2000" dirty="0" err="1">
                <a:latin typeface="Arial" panose="020B0604020202020204" pitchFamily="34" charset="0"/>
              </a:rPr>
              <a:t>Actions</a:t>
            </a:r>
            <a:r>
              <a:rPr lang="ko-KR" altLang="ko-KR" sz="2000" dirty="0">
                <a:latin typeface="Arial" panose="020B0604020202020204" pitchFamily="34" charset="0"/>
              </a:rPr>
              <a:t> 기반 자동 테스트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39653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UI — </a:t>
            </a:r>
            <a:r>
              <a:rPr lang="ko-KR" altLang="en-US" dirty="0"/>
              <a:t>베이스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UI — </a:t>
            </a:r>
            <a:r>
              <a:rPr dirty="0" err="1"/>
              <a:t>로그인</a:t>
            </a:r>
            <a:r>
              <a:rPr dirty="0"/>
              <a:t>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76417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UI — 상품 목록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128" y="748145"/>
            <a:ext cx="8931564" cy="593898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UI — Item Detail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182" y="1097280"/>
            <a:ext cx="9033163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UI — 장바구니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UI — 체크아웃 Info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eckout_in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55" y="1371600"/>
            <a:ext cx="8442737" cy="39046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UI — 체크아웃 주문 완료 페이지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728" y="1097280"/>
            <a:ext cx="8672946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eckout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10" y="1371600"/>
            <a:ext cx="8167024" cy="34697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6. User Flow with UI Thumbnails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948" y="894080"/>
            <a:ext cx="907010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290" y="1874520"/>
            <a:ext cx="1395153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6290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로그인</a:t>
            </a:r>
          </a:p>
        </p:txBody>
      </p:sp>
      <p:pic>
        <p:nvPicPr>
          <p:cNvPr id="7" name="Picture 6" descr="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1622" y="1874520"/>
            <a:ext cx="1395153" cy="914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61622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상품 목록</a:t>
            </a:r>
          </a:p>
        </p:txBody>
      </p:sp>
      <p:pic>
        <p:nvPicPr>
          <p:cNvPr id="9" name="Picture 8" descr="item 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1465" y="1874520"/>
            <a:ext cx="1395153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81465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Detail</a:t>
            </a:r>
          </a:p>
        </p:txBody>
      </p:sp>
      <p:pic>
        <p:nvPicPr>
          <p:cNvPr id="11" name="Picture 10" descr="c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309" y="1874520"/>
            <a:ext cx="1395153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1309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장바구니</a:t>
            </a:r>
          </a:p>
        </p:txBody>
      </p:sp>
      <p:pic>
        <p:nvPicPr>
          <p:cNvPr id="13" name="Picture 12" descr="checkout_inf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1153" y="1874520"/>
            <a:ext cx="1395153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21153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체크아웃</a:t>
            </a:r>
          </a:p>
        </p:txBody>
      </p:sp>
      <p:pic>
        <p:nvPicPr>
          <p:cNvPr id="15" name="Picture 14" descr="checkout_comple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74955" y="1920240"/>
            <a:ext cx="1395153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74955" y="2880360"/>
            <a:ext cx="13951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주문 완료 페이지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6676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3272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TC‑001 로그인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7899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목적:</a:t>
            </a:r>
            <a:r>
              <a:rPr lang="ko-KR" altLang="ko-KR" sz="1600" dirty="0">
                <a:latin typeface="Arial" panose="020B0604020202020204" pitchFamily="34" charset="0"/>
              </a:rPr>
              <a:t> 정상 계정 로그인 가능 여부 확인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절차:</a:t>
            </a:r>
            <a:r>
              <a:rPr lang="ko-KR" altLang="ko-KR" sz="1600" dirty="0">
                <a:latin typeface="Arial" panose="020B0604020202020204" pitchFamily="34" charset="0"/>
              </a:rPr>
              <a:t> </a:t>
            </a:r>
            <a:r>
              <a:rPr lang="ko-KR" altLang="ko-KR" sz="1600" dirty="0" err="1">
                <a:latin typeface="Arial Unicode MS"/>
              </a:rPr>
              <a:t>standard_user</a:t>
            </a:r>
            <a:r>
              <a:rPr lang="ko-KR" altLang="ko-KR" sz="1050" dirty="0"/>
              <a:t> / </a:t>
            </a:r>
            <a:r>
              <a:rPr lang="ko-KR" altLang="ko-KR" sz="1600" dirty="0" err="1">
                <a:latin typeface="Arial Unicode MS"/>
              </a:rPr>
              <a:t>secret_sauce</a:t>
            </a:r>
            <a:r>
              <a:rPr lang="ko-KR" altLang="ko-KR" sz="1050" dirty="0"/>
              <a:t> </a:t>
            </a:r>
            <a:r>
              <a:rPr lang="ko-KR" altLang="ko-KR" sz="1600" dirty="0"/>
              <a:t>입력 → 로그인</a:t>
            </a:r>
            <a:endParaRPr lang="ko-KR" altLang="ko-KR" sz="36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기대 결과:</a:t>
            </a:r>
            <a:r>
              <a:rPr lang="ko-KR" altLang="ko-KR" sz="1600" dirty="0">
                <a:latin typeface="Arial" panose="020B0604020202020204" pitchFamily="34" charset="0"/>
              </a:rPr>
              <a:t> 상품 목록 페이지(Products) 로딩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2CF45290-2357-07ED-8E46-2AEB56CD7101}"/>
              </a:ext>
            </a:extLst>
          </p:cNvPr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4" descr="login.png">
            <a:extLst>
              <a:ext uri="{FF2B5EF4-FFF2-40B4-BE49-F238E27FC236}">
                <a16:creationId xmlns:a16="http://schemas.microsoft.com/office/drawing/2014/main" id="{F256E703-EB40-6720-FA9A-FDDA563F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27" y="1041861"/>
            <a:ext cx="568098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TC‑002 로그인 Failure (Invalid)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27" y="1041861"/>
            <a:ext cx="5680988" cy="42062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C0A337-90EF-479F-4556-860BB65F6B9D}"/>
              </a:ext>
            </a:extLst>
          </p:cNvPr>
          <p:cNvSpPr txBox="1"/>
          <p:nvPr/>
        </p:nvSpPr>
        <p:spPr>
          <a:xfrm>
            <a:off x="563418" y="5689798"/>
            <a:ext cx="62760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목적:</a:t>
            </a:r>
            <a:r>
              <a:rPr lang="ko-KR" altLang="ko-KR" dirty="0">
                <a:latin typeface="Arial" panose="020B0604020202020204" pitchFamily="34" charset="0"/>
              </a:rPr>
              <a:t> 잘못된 계정 정보 입력 시 오류 표시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절차:</a:t>
            </a:r>
            <a:r>
              <a:rPr lang="ko-KR" altLang="ko-KR" dirty="0">
                <a:latin typeface="Arial" panose="020B0604020202020204" pitchFamily="34" charset="0"/>
              </a:rPr>
              <a:t> 잘못된 ID/비밀번호 입력 → 로그인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기대 결과:</a:t>
            </a:r>
            <a:r>
              <a:rPr lang="ko-KR" altLang="ko-KR" dirty="0">
                <a:latin typeface="Arial" panose="020B0604020202020204" pitchFamily="34" charset="0"/>
              </a:rPr>
              <a:t> “사용자명이 일치하지 않습니다” 오류 배너 출력</a:t>
            </a: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TC‑003 상품 목록 정렬 기능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8023629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nven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807" y="1346787"/>
            <a:ext cx="4744720" cy="38652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86582"/>
            <a:ext cx="80236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4</a:t>
            </a:r>
            <a:r>
              <a:rPr lang="ko-KR" altLang="en-US" dirty="0"/>
              <a:t>가지 정렬 옵션 동작 검증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</a:t>
            </a:r>
            <a:r>
              <a:rPr lang="ko-KR" altLang="en-US" dirty="0"/>
              <a:t>정렬 옵션 선택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목록 순서가 정렬 규칙에 맞게 변동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TC‑004 Add/삭제 &amp; Badge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8549" y="727824"/>
            <a:ext cx="8346902" cy="4850939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nven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3811" y="848485"/>
            <a:ext cx="5659115" cy="46102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장바구니 배지 숫자 동기화 확인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2</a:t>
            </a:r>
            <a:r>
              <a:rPr lang="ko-KR" altLang="en-US" dirty="0"/>
              <a:t>개 항목 추가 → </a:t>
            </a:r>
            <a:r>
              <a:rPr lang="en-US" altLang="ko-KR" dirty="0"/>
              <a:t>1</a:t>
            </a:r>
            <a:r>
              <a:rPr lang="ko-KR" altLang="en-US" dirty="0"/>
              <a:t>개 삭제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배지 숫자가 </a:t>
            </a:r>
            <a:r>
              <a:rPr lang="en-US" altLang="ko-KR" dirty="0"/>
              <a:t>2 → 1</a:t>
            </a:r>
            <a:r>
              <a:rPr lang="ko-KR" altLang="en-US" dirty="0"/>
              <a:t>로 정확히 반영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TC‑005 장바구니 Page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7279" y="1208116"/>
            <a:ext cx="8522084" cy="38349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99" y="1482437"/>
            <a:ext cx="8024963" cy="28851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장바구니 페이지에서 항목 제거 기능 검증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Cart → Remove </a:t>
            </a:r>
            <a:r>
              <a:rPr lang="ko-KR" altLang="en-US" dirty="0"/>
              <a:t>클릭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항목 제거 및 갱신된 카트 상태 표시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TC‑006 체크아웃 Validation &amp; Total Math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0625" y="1208116"/>
            <a:ext cx="8316833" cy="3742575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eckout_in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45" y="1482437"/>
            <a:ext cx="7831685" cy="29595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필수 값 검증 및 총액 계산 확인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</a:t>
            </a:r>
            <a:r>
              <a:rPr lang="ko-KR" altLang="en-US" dirty="0"/>
              <a:t>빈 값 제출 → 오류 확인 → 정보 입력 → 주문 개요 페이지 확인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오류 메시지 출력</a:t>
            </a:r>
            <a:r>
              <a:rPr lang="en-US" altLang="ko-KR" dirty="0"/>
              <a:t>, </a:t>
            </a:r>
            <a:r>
              <a:rPr lang="ko-KR" altLang="en-US" dirty="0"/>
              <a:t>소계 </a:t>
            </a:r>
            <a:r>
              <a:rPr lang="en-US" altLang="ko-KR" dirty="0"/>
              <a:t>+ </a:t>
            </a:r>
            <a:r>
              <a:rPr lang="ko-KR" altLang="en-US" dirty="0"/>
              <a:t>세금 </a:t>
            </a:r>
            <a:r>
              <a:rPr lang="en-US" altLang="ko-KR" dirty="0"/>
              <a:t>= </a:t>
            </a:r>
            <a:r>
              <a:rPr lang="ko-KR" altLang="en-US" dirty="0"/>
              <a:t>총액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7. Test Results &amp;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0771" y="1189644"/>
            <a:ext cx="7906327" cy="355784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357171"/>
              </p:ext>
            </p:extLst>
          </p:nvPr>
        </p:nvGraphicFramePr>
        <p:xfrm>
          <a:off x="967971" y="1738284"/>
          <a:ext cx="316253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372282"/>
              </p:ext>
            </p:extLst>
          </p:nvPr>
        </p:nvGraphicFramePr>
        <p:xfrm>
          <a:off x="4413597" y="1738284"/>
          <a:ext cx="349196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8. CI Pipeline (GitHub Actions)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9542" y="1280160"/>
            <a:ext cx="7940502" cy="41397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4022" y="1555404"/>
            <a:ext cx="780816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구성 요소</a:t>
            </a:r>
          </a:p>
          <a:p>
            <a:r>
              <a:rPr lang="en-US" altLang="ko-KR" dirty="0"/>
              <a:t>Python 3.10–3.12 matrix</a:t>
            </a:r>
          </a:p>
          <a:p>
            <a:r>
              <a:rPr lang="en-US" altLang="ko-KR" dirty="0"/>
              <a:t>Chrome + </a:t>
            </a:r>
            <a:r>
              <a:rPr lang="en-US" altLang="ko-KR" dirty="0" err="1"/>
              <a:t>ChromeDriver</a:t>
            </a:r>
            <a:r>
              <a:rPr lang="en-US" altLang="ko-KR" dirty="0"/>
              <a:t> </a:t>
            </a:r>
            <a:r>
              <a:rPr lang="ko-KR" altLang="en-US" dirty="0"/>
              <a:t>자동 설치</a:t>
            </a:r>
          </a:p>
          <a:p>
            <a:r>
              <a:rPr lang="en-US" altLang="ko-KR" dirty="0"/>
              <a:t>Headless </a:t>
            </a:r>
            <a:r>
              <a:rPr lang="ko-KR" altLang="en-US" dirty="0"/>
              <a:t>모드에서 </a:t>
            </a:r>
            <a:r>
              <a:rPr lang="en-US" altLang="ko-KR" dirty="0" err="1"/>
              <a:t>pytest</a:t>
            </a:r>
            <a:r>
              <a:rPr lang="en-US" altLang="ko-KR" dirty="0"/>
              <a:t> </a:t>
            </a:r>
            <a:r>
              <a:rPr lang="ko-KR" altLang="en-US" dirty="0"/>
              <a:t>실행</a:t>
            </a:r>
          </a:p>
          <a:p>
            <a:r>
              <a:rPr lang="en-US" altLang="ko-KR" dirty="0"/>
              <a:t>HTML </a:t>
            </a:r>
            <a:r>
              <a:rPr lang="ko-KR" altLang="en-US" dirty="0"/>
              <a:t>리포트 </a:t>
            </a:r>
            <a:r>
              <a:rPr lang="en-US" altLang="ko-KR" dirty="0"/>
              <a:t>+ </a:t>
            </a:r>
            <a:r>
              <a:rPr lang="ko-KR" altLang="en-US" dirty="0"/>
              <a:t>스크린샷 </a:t>
            </a:r>
            <a:r>
              <a:rPr lang="ko-KR" altLang="en-US" dirty="0" err="1"/>
              <a:t>아티팩트</a:t>
            </a:r>
            <a:r>
              <a:rPr lang="ko-KR" altLang="en-US" dirty="0"/>
              <a:t> 업로드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트리거 조건</a:t>
            </a:r>
          </a:p>
          <a:p>
            <a:r>
              <a:rPr lang="en-US" altLang="ko-KR" b="1" dirty="0"/>
              <a:t>Pull Request:</a:t>
            </a:r>
            <a:r>
              <a:rPr lang="ko-KR" altLang="en-US" dirty="0"/>
              <a:t> </a:t>
            </a:r>
            <a:r>
              <a:rPr lang="ko-KR" altLang="en-US" dirty="0" err="1"/>
              <a:t>스모크</a:t>
            </a:r>
            <a:r>
              <a:rPr lang="ko-KR" altLang="en-US" dirty="0"/>
              <a:t> 테스트</a:t>
            </a:r>
          </a:p>
          <a:p>
            <a:r>
              <a:rPr lang="en-US" altLang="ko-KR" b="1" dirty="0"/>
              <a:t>main </a:t>
            </a:r>
            <a:r>
              <a:rPr lang="ko-KR" altLang="en-US" b="1" dirty="0" err="1"/>
              <a:t>브랜치</a:t>
            </a:r>
            <a:r>
              <a:rPr lang="ko-KR" altLang="en-US" b="1" dirty="0"/>
              <a:t> </a:t>
            </a:r>
            <a:r>
              <a:rPr lang="en-US" altLang="ko-KR" b="1" dirty="0"/>
              <a:t>push:</a:t>
            </a:r>
            <a:r>
              <a:rPr lang="ko-KR" altLang="en-US" dirty="0"/>
              <a:t> 전체 회귀 테스트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9. Issues &amp;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50F911B-7066-1DAA-D6C8-99350E6453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643732"/>
              </p:ext>
            </p:extLst>
          </p:nvPr>
        </p:nvGraphicFramePr>
        <p:xfrm>
          <a:off x="458585" y="2389473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2440978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97059448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904675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원인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해결책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23867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3D035AF-8093-A8FF-BFED-847C57520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352579"/>
              </p:ext>
            </p:extLst>
          </p:nvPr>
        </p:nvGraphicFramePr>
        <p:xfrm>
          <a:off x="455814" y="2798858"/>
          <a:ext cx="8229600" cy="6400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8548791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2755634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804246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ChromeDriver </a:t>
                      </a:r>
                      <a:r>
                        <a:rPr lang="ko-KR" altLang="en-US"/>
                        <a:t>버전 불일치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OS/</a:t>
                      </a:r>
                      <a:r>
                        <a:rPr lang="ko-KR" altLang="en-US" dirty="0"/>
                        <a:t>브라우저 업데이트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setup-chrome + Selenium Manager </a:t>
                      </a:r>
                      <a:r>
                        <a:rPr lang="ko-KR" altLang="en-US" dirty="0"/>
                        <a:t>사용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195090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09624D-7D8F-BB84-5C2A-C6C1CBB46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652026"/>
              </p:ext>
            </p:extLst>
          </p:nvPr>
        </p:nvGraphicFramePr>
        <p:xfrm>
          <a:off x="455814" y="3472404"/>
          <a:ext cx="8229600" cy="6400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73650741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0225639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273685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Headless </a:t>
                      </a:r>
                      <a:r>
                        <a:rPr lang="ko-KR" altLang="en-US" dirty="0"/>
                        <a:t>모드 불안정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리소스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윈도우 크기 설정 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window-size </a:t>
                      </a:r>
                      <a:r>
                        <a:rPr lang="ko-KR" altLang="en-US" dirty="0"/>
                        <a:t>강제 지정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469805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7E7C4E2-F6B2-9712-7E04-0A8BDA16D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252103"/>
              </p:ext>
            </p:extLst>
          </p:nvPr>
        </p:nvGraphicFramePr>
        <p:xfrm>
          <a:off x="457200" y="4145950"/>
          <a:ext cx="8229600" cy="464017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4399137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76994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01859943"/>
                    </a:ext>
                  </a:extLst>
                </a:gridCol>
              </a:tblGrid>
              <a:tr h="4640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SNS </a:t>
                      </a:r>
                      <a:r>
                        <a:rPr lang="ko-KR" altLang="en-US" dirty="0"/>
                        <a:t>링크 응답 지연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외부 도메인 로딩 시간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URL contains </a:t>
                      </a:r>
                      <a:r>
                        <a:rPr lang="ko-KR" altLang="en-US" dirty="0"/>
                        <a:t>방식 검증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9162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di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10. 결론 및 향후 계획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280" y="912553"/>
            <a:ext cx="7811193" cy="415821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8160" y="1095433"/>
            <a:ext cx="768100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성과</a:t>
            </a:r>
          </a:p>
          <a:p>
            <a:r>
              <a:rPr lang="en-US" altLang="ko-KR" dirty="0" err="1"/>
              <a:t>SauceDemo</a:t>
            </a:r>
            <a:r>
              <a:rPr lang="en-US" altLang="ko-KR" dirty="0"/>
              <a:t> </a:t>
            </a:r>
            <a:r>
              <a:rPr lang="ko-KR" altLang="en-US" dirty="0"/>
              <a:t>전 기능을 포함한 </a:t>
            </a:r>
            <a:r>
              <a:rPr lang="ko-KR" altLang="en-US" b="1" dirty="0"/>
              <a:t>완성형 </a:t>
            </a:r>
            <a:r>
              <a:rPr lang="en-US" altLang="ko-KR" b="1" dirty="0"/>
              <a:t>E2E </a:t>
            </a:r>
            <a:r>
              <a:rPr lang="ko-KR" altLang="en-US" b="1" dirty="0"/>
              <a:t>자동화</a:t>
            </a:r>
            <a:r>
              <a:rPr lang="ko-KR" altLang="en-US" dirty="0"/>
              <a:t> 구축</a:t>
            </a:r>
          </a:p>
          <a:p>
            <a:r>
              <a:rPr lang="en-US" altLang="ko-KR" dirty="0"/>
              <a:t>GitHub Actions </a:t>
            </a:r>
            <a:r>
              <a:rPr lang="ko-KR" altLang="en-US" dirty="0"/>
              <a:t>기반 </a:t>
            </a:r>
            <a:r>
              <a:rPr lang="en-US" altLang="ko-KR" b="1" dirty="0"/>
              <a:t>CI </a:t>
            </a:r>
            <a:r>
              <a:rPr lang="ko-KR" altLang="en-US" b="1" dirty="0"/>
              <a:t>품질 게이트 운영 가능</a:t>
            </a:r>
            <a:endParaRPr lang="ko-KR" altLang="en-US" dirty="0"/>
          </a:p>
          <a:p>
            <a:r>
              <a:rPr lang="ko-KR" altLang="en-US" dirty="0"/>
              <a:t>테스트 커버리지 시각화 및 문서화 완료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향후 개선</a:t>
            </a:r>
          </a:p>
          <a:p>
            <a:r>
              <a:rPr lang="en-US" altLang="ko-KR" dirty="0"/>
              <a:t>Allure </a:t>
            </a:r>
            <a:r>
              <a:rPr lang="ko-KR" altLang="en-US" dirty="0"/>
              <a:t>기반 리포트 적용</a:t>
            </a:r>
          </a:p>
          <a:p>
            <a:r>
              <a:rPr lang="ko-KR" altLang="en-US" dirty="0"/>
              <a:t>크로스 브라우저 테스트</a:t>
            </a:r>
            <a:r>
              <a:rPr lang="en-US" altLang="ko-KR" dirty="0"/>
              <a:t>(Edge, Firefox)</a:t>
            </a:r>
          </a:p>
          <a:p>
            <a:r>
              <a:rPr lang="en-US" altLang="ko-KR" dirty="0"/>
              <a:t>Nightly </a:t>
            </a:r>
            <a:r>
              <a:rPr lang="ko-KR" altLang="en-US" dirty="0"/>
              <a:t>전체 회귀 스케줄링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741</Words>
  <Application>Microsoft Office PowerPoint</Application>
  <PresentationFormat>화면 슬라이드 쇼(4:3)</PresentationFormat>
  <Paragraphs>126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Arial Unicode MS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JY</dc:creator>
  <cp:keywords/>
  <dc:description>generated using python-pptx</dc:description>
  <cp:lastModifiedBy>Administrator</cp:lastModifiedBy>
  <cp:revision>5</cp:revision>
  <dcterms:created xsi:type="dcterms:W3CDTF">2013-01-27T09:14:16Z</dcterms:created>
  <dcterms:modified xsi:type="dcterms:W3CDTF">2025-11-27T03:16:37Z</dcterms:modified>
  <cp:category/>
</cp:coreProperties>
</file>