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81" r:id="rId2"/>
    <p:sldId id="256" r:id="rId3"/>
    <p:sldId id="257" r:id="rId4"/>
    <p:sldId id="258" r:id="rId5"/>
    <p:sldId id="279" r:id="rId6"/>
    <p:sldId id="259" r:id="rId7"/>
    <p:sldId id="260" r:id="rId8"/>
    <p:sldId id="261" r:id="rId9"/>
    <p:sldId id="262" r:id="rId10"/>
    <p:sldId id="280" r:id="rId11"/>
    <p:sldId id="264" r:id="rId12"/>
    <p:sldId id="265" r:id="rId13"/>
    <p:sldId id="266" r:id="rId14"/>
    <p:sldId id="263" r:id="rId15"/>
    <p:sldId id="267" r:id="rId16"/>
    <p:sldId id="268" r:id="rId17"/>
    <p:sldId id="269" r:id="rId18"/>
    <p:sldId id="270" r:id="rId19"/>
    <p:sldId id="272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E6EEE3"/>
    <a:srgbClr val="95BC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270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title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Results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6B-4214-95B7-5E5E63C360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Auth</c:v>
                </c:pt>
                <c:pt idx="1">
                  <c:v>Inventory</c:v>
                </c:pt>
                <c:pt idx="2">
                  <c:v>Cart</c:v>
                </c:pt>
                <c:pt idx="3">
                  <c:v>Checkout</c:v>
                </c:pt>
                <c:pt idx="4">
                  <c:v>Menu/Footer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8</c:v>
                </c:pt>
                <c:pt idx="2">
                  <c:v>5</c:v>
                </c:pt>
                <c:pt idx="3">
                  <c:v>6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E0-47D3-9CFB-C144942E97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A5B7A1-F27C-4F97-A3C4-EF92E3293E7C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10F4BF-B131-4CA0-A505-78F72BC462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2397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0F4BF-B131-4CA0-A505-78F72BC4623D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0967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3D8DF94-25AE-BD02-89DA-5709572D8F5F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F691E6F-673E-E79A-545C-5206BEDF69CC}"/>
              </a:ext>
            </a:extLst>
          </p:cNvPr>
          <p:cNvCxnSpPr>
            <a:cxnSpLocks/>
          </p:cNvCxnSpPr>
          <p:nvPr/>
        </p:nvCxnSpPr>
        <p:spPr>
          <a:xfrm>
            <a:off x="372670" y="3893172"/>
            <a:ext cx="7927268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BECE118-7D51-63D5-79E3-8454280254E7}"/>
              </a:ext>
            </a:extLst>
          </p:cNvPr>
          <p:cNvSpPr txBox="1"/>
          <p:nvPr/>
        </p:nvSpPr>
        <p:spPr>
          <a:xfrm>
            <a:off x="465221" y="1373833"/>
            <a:ext cx="7792518" cy="2434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5500" b="1" spc="-15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2</a:t>
            </a:r>
            <a:r>
              <a:rPr lang="ko-KR" altLang="en-US" sz="5500" b="1" spc="-15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조 </a:t>
            </a:r>
            <a:r>
              <a:rPr lang="en-US" altLang="ko-KR" sz="5500" b="1" spc="-15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SW </a:t>
            </a:r>
            <a:r>
              <a:rPr lang="ko-KR" altLang="en-US" sz="5500" b="1" spc="-15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테스팅 프로젝트</a:t>
            </a:r>
            <a:endParaRPr lang="en-US" altLang="ko-KR" sz="5500" b="1" spc="-15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5500" b="1" spc="-15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en-US" altLang="ko-KR" sz="5500" b="1" spc="-150" dirty="0" err="1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catshop</a:t>
            </a:r>
            <a:r>
              <a:rPr lang="en-US" altLang="ko-KR" sz="5500" b="1" spc="-15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endParaRPr lang="ko-KR" altLang="en-US" sz="5500" spc="-15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709190-4A3F-9DD5-342B-CF3C30F3DC81}"/>
              </a:ext>
            </a:extLst>
          </p:cNvPr>
          <p:cNvSpPr txBox="1"/>
          <p:nvPr/>
        </p:nvSpPr>
        <p:spPr>
          <a:xfrm>
            <a:off x="6696221" y="4224956"/>
            <a:ext cx="2419643" cy="2326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500" b="1" dirty="0">
                <a:solidFill>
                  <a:schemeClr val="bg1"/>
                </a:solidFill>
                <a:latin typeface="+mj-ea"/>
                <a:ea typeface="+mj-ea"/>
              </a:rPr>
              <a:t>백종우</a:t>
            </a:r>
            <a:r>
              <a:rPr lang="en-US" altLang="ko-KR" sz="2500" b="1" dirty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sz="2500" b="1" dirty="0">
                <a:solidFill>
                  <a:schemeClr val="bg1"/>
                </a:solidFill>
                <a:latin typeface="+mj-ea"/>
                <a:ea typeface="+mj-ea"/>
              </a:rPr>
              <a:t>조장</a:t>
            </a:r>
            <a:r>
              <a:rPr lang="en-US" altLang="ko-KR" sz="2500" b="1" dirty="0">
                <a:solidFill>
                  <a:schemeClr val="bg1"/>
                </a:solidFill>
                <a:latin typeface="+mj-ea"/>
                <a:ea typeface="+mj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500" b="1" dirty="0" err="1">
                <a:solidFill>
                  <a:schemeClr val="bg1"/>
                </a:solidFill>
                <a:latin typeface="+mj-ea"/>
                <a:ea typeface="+mj-ea"/>
              </a:rPr>
              <a:t>박서아</a:t>
            </a:r>
            <a:endParaRPr lang="en-US" altLang="ko-KR" sz="25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2500" b="1" dirty="0">
                <a:solidFill>
                  <a:schemeClr val="bg1"/>
                </a:solidFill>
                <a:latin typeface="+mj-ea"/>
                <a:ea typeface="+mj-ea"/>
              </a:rPr>
              <a:t>안재원</a:t>
            </a:r>
            <a:endParaRPr lang="en-US" altLang="ko-KR" sz="25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2500" b="1" dirty="0" err="1">
                <a:solidFill>
                  <a:schemeClr val="bg1"/>
                </a:solidFill>
                <a:latin typeface="+mj-ea"/>
                <a:ea typeface="+mj-ea"/>
              </a:rPr>
              <a:t>오예림</a:t>
            </a:r>
            <a:endParaRPr lang="ko-KR" altLang="en-US" sz="25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1799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B91B532A-E7ED-E6A6-5ED0-8606627AF0D0}"/>
              </a:ext>
            </a:extLst>
          </p:cNvPr>
          <p:cNvSpPr/>
          <p:nvPr/>
        </p:nvSpPr>
        <p:spPr>
          <a:xfrm>
            <a:off x="249382" y="1097280"/>
            <a:ext cx="8765309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423866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Catshop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E2E Test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789920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000">
                <a:solidFill>
                  <a:srgbClr val="1E1E1E"/>
                </a:solidFill>
              </a:defRPr>
            </a:pPr>
            <a:r>
              <a:rPr lang="en-US" dirty="0" err="1"/>
              <a:t>P</a:t>
            </a:r>
            <a:r>
              <a:rPr dirty="0" err="1"/>
              <a:t>ytest</a:t>
            </a:r>
            <a:r>
              <a:rPr lang="en-US" dirty="0"/>
              <a:t> + selenium</a:t>
            </a:r>
          </a:p>
          <a:p>
            <a:pPr>
              <a:lnSpc>
                <a:spcPct val="150000"/>
              </a:lnSpc>
              <a:defRPr sz="2000">
                <a:solidFill>
                  <a:srgbClr val="1E1E1E"/>
                </a:solidFill>
              </a:defRPr>
            </a:pPr>
            <a:r>
              <a:rPr dirty="0"/>
              <a:t>Gradient Startup Template (Clean Ver.)</a:t>
            </a:r>
          </a:p>
          <a:p>
            <a:pPr>
              <a:lnSpc>
                <a:spcPct val="150000"/>
              </a:lnSpc>
              <a:defRPr sz="2000">
                <a:solidFill>
                  <a:srgbClr val="1E1E1E"/>
                </a:solidFill>
              </a:defRPr>
            </a:pPr>
            <a:r>
              <a:rPr dirty="0"/>
              <a:t>Actual UI + Test Case Based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CC487CF8-9867-B0EE-5351-F288988E2301}"/>
              </a:ext>
            </a:extLst>
          </p:cNvPr>
          <p:cNvSpPr/>
          <p:nvPr/>
        </p:nvSpPr>
        <p:spPr>
          <a:xfrm>
            <a:off x="249382" y="1097280"/>
            <a:ext cx="8765309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214994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1.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프로젝트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개요</a:t>
            </a:r>
            <a:endParaRPr sz="2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7899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latin typeface="+mj-ea"/>
                <a:ea typeface="+mj-ea"/>
              </a:rPr>
              <a:t>□ 대상 사이트 </a:t>
            </a:r>
            <a:r>
              <a:rPr lang="en-US" altLang="ko-KR" b="1" dirty="0">
                <a:latin typeface="+mj-ea"/>
                <a:ea typeface="+mj-ea"/>
              </a:rPr>
              <a:t>: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 err="1">
                <a:latin typeface="+mj-ea"/>
                <a:ea typeface="+mj-ea"/>
              </a:rPr>
              <a:t>catshop</a:t>
            </a:r>
            <a:r>
              <a:rPr lang="en-US" altLang="ko-KR" dirty="0">
                <a:latin typeface="+mj-ea"/>
                <a:ea typeface="+mj-ea"/>
              </a:rPr>
              <a:t>(local)</a:t>
            </a:r>
          </a:p>
          <a:p>
            <a:endParaRPr lang="en-US" altLang="ko-KR" b="1" dirty="0">
              <a:latin typeface="+mj-ea"/>
              <a:ea typeface="+mj-ea"/>
            </a:endParaRPr>
          </a:p>
          <a:p>
            <a:endParaRPr lang="en-US" altLang="ko-KR" b="1" dirty="0">
              <a:latin typeface="+mj-ea"/>
              <a:ea typeface="+mj-ea"/>
            </a:endParaRPr>
          </a:p>
          <a:p>
            <a:r>
              <a:rPr lang="ko-KR" altLang="en-US" b="1" dirty="0">
                <a:latin typeface="+mj-ea"/>
                <a:ea typeface="+mj-ea"/>
              </a:rPr>
              <a:t>□ 프로젝트 목표 </a:t>
            </a:r>
            <a:r>
              <a:rPr lang="en-US" altLang="ko-KR" b="1" dirty="0">
                <a:latin typeface="+mj-ea"/>
                <a:ea typeface="+mj-ea"/>
              </a:rPr>
              <a:t>:</a:t>
            </a:r>
            <a:r>
              <a:rPr lang="ko-KR" altLang="en-US" dirty="0">
                <a:latin typeface="+mj-ea"/>
                <a:ea typeface="+mj-ea"/>
              </a:rPr>
              <a:t> 실무 수준의 </a:t>
            </a:r>
            <a:r>
              <a:rPr lang="en-US" altLang="ko-KR" dirty="0">
                <a:latin typeface="+mj-ea"/>
                <a:ea typeface="+mj-ea"/>
              </a:rPr>
              <a:t>E2E </a:t>
            </a:r>
            <a:r>
              <a:rPr lang="ko-KR" altLang="en-US" dirty="0">
                <a:latin typeface="+mj-ea"/>
                <a:ea typeface="+mj-ea"/>
              </a:rPr>
              <a:t>자동화 테스트 구축</a:t>
            </a:r>
          </a:p>
          <a:p>
            <a:endParaRPr lang="en-US" altLang="ko-KR" b="1" dirty="0">
              <a:latin typeface="+mj-ea"/>
              <a:ea typeface="+mj-ea"/>
            </a:endParaRPr>
          </a:p>
          <a:p>
            <a:endParaRPr lang="en-US" altLang="ko-KR" b="1" dirty="0">
              <a:latin typeface="+mj-ea"/>
              <a:ea typeface="+mj-ea"/>
            </a:endParaRPr>
          </a:p>
          <a:p>
            <a:r>
              <a:rPr lang="ko-KR" altLang="en-US" b="1" dirty="0">
                <a:latin typeface="+mj-ea"/>
                <a:ea typeface="+mj-ea"/>
              </a:rPr>
              <a:t>□ 산출물 </a:t>
            </a:r>
            <a:r>
              <a:rPr lang="en-US" altLang="ko-KR" b="1" dirty="0">
                <a:latin typeface="+mj-ea"/>
                <a:ea typeface="+mj-ea"/>
              </a:rPr>
              <a:t>:</a:t>
            </a:r>
            <a:r>
              <a:rPr lang="ko-KR" altLang="en-US" dirty="0">
                <a:latin typeface="+mj-ea"/>
                <a:ea typeface="+mj-ea"/>
              </a:rPr>
              <a:t> 테스트 스위트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en-US" altLang="ko-KR" dirty="0" err="1">
                <a:latin typeface="+mj-ea"/>
                <a:ea typeface="+mj-ea"/>
              </a:rPr>
              <a:t>pytest</a:t>
            </a:r>
            <a:r>
              <a:rPr lang="en-US" altLang="ko-KR" dirty="0">
                <a:latin typeface="+mj-ea"/>
                <a:ea typeface="+mj-ea"/>
              </a:rPr>
              <a:t> + Selenium), </a:t>
            </a:r>
            <a:r>
              <a:rPr lang="ko-KR" altLang="en-US" dirty="0">
                <a:latin typeface="+mj-ea"/>
                <a:ea typeface="+mj-ea"/>
              </a:rPr>
              <a:t>테스트 리포트</a:t>
            </a:r>
          </a:p>
          <a:p>
            <a:endParaRPr lang="en-US" altLang="ko-KR" b="1" dirty="0">
              <a:latin typeface="+mj-ea"/>
              <a:ea typeface="+mj-ea"/>
            </a:endParaRPr>
          </a:p>
          <a:p>
            <a:endParaRPr lang="en-US" altLang="ko-KR" b="1" dirty="0">
              <a:latin typeface="+mj-ea"/>
              <a:ea typeface="+mj-ea"/>
            </a:endParaRPr>
          </a:p>
          <a:p>
            <a:r>
              <a:rPr lang="ko-KR" altLang="en-US" b="1" dirty="0">
                <a:latin typeface="+mj-ea"/>
                <a:ea typeface="+mj-ea"/>
              </a:rPr>
              <a:t>□ 프로젝트 기간 </a:t>
            </a:r>
            <a:r>
              <a:rPr lang="en-US" altLang="ko-KR" b="1" dirty="0">
                <a:latin typeface="+mj-ea"/>
                <a:ea typeface="+mj-ea"/>
              </a:rPr>
              <a:t>: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2</a:t>
            </a:r>
            <a:r>
              <a:rPr lang="ko-KR" altLang="en-US" dirty="0">
                <a:latin typeface="+mj-ea"/>
                <a:ea typeface="+mj-ea"/>
              </a:rPr>
              <a:t>주 팀 프로젝트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1562C942-5DE9-CCF1-D516-02CABC7086EF}"/>
              </a:ext>
            </a:extLst>
          </p:cNvPr>
          <p:cNvSpPr/>
          <p:nvPr/>
        </p:nvSpPr>
        <p:spPr>
          <a:xfrm>
            <a:off x="249382" y="1097280"/>
            <a:ext cx="8765309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437331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2. 팀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구성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및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역할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(Team Project)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789920" cy="4617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□ 팀장 </a:t>
            </a:r>
            <a:r>
              <a:rPr lang="en-US" altLang="ko-KR" b="1" dirty="0"/>
              <a:t>(Team Lead)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 </a:t>
            </a:r>
            <a:r>
              <a:rPr lang="ko-KR" altLang="en-US" dirty="0"/>
              <a:t>전체 일정 관리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  테스트 아키텍처 및 통합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 E2E </a:t>
            </a:r>
            <a:r>
              <a:rPr lang="ko-KR" altLang="en-US" dirty="0"/>
              <a:t>테스트 구축 및 운영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  최종 품질 검토</a:t>
            </a:r>
            <a:endParaRPr lang="en-US" altLang="ko-KR" dirty="0"/>
          </a:p>
          <a:p>
            <a:endParaRPr lang="ko-KR" altLang="en-US" dirty="0"/>
          </a:p>
          <a:p>
            <a:pPr>
              <a:lnSpc>
                <a:spcPct val="150000"/>
              </a:lnSpc>
            </a:pPr>
            <a:r>
              <a:rPr lang="ko-KR" altLang="en-US" b="1" dirty="0"/>
              <a:t>□ 팀원 </a:t>
            </a:r>
            <a:r>
              <a:rPr lang="en-US" altLang="ko-KR" b="1" dirty="0"/>
              <a:t>(Team Members)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   QA1:</a:t>
            </a:r>
            <a:r>
              <a:rPr lang="ko-KR" altLang="en-US" dirty="0"/>
              <a:t> 테스트 케이스 설계</a:t>
            </a:r>
            <a:r>
              <a:rPr lang="en-US" altLang="ko-KR" dirty="0"/>
              <a:t>, </a:t>
            </a:r>
            <a:r>
              <a:rPr lang="ko-KR" altLang="en-US" dirty="0"/>
              <a:t>커버리지 매핑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   QA2:</a:t>
            </a:r>
            <a:r>
              <a:rPr lang="ko-KR" altLang="en-US" dirty="0"/>
              <a:t> </a:t>
            </a:r>
            <a:r>
              <a:rPr lang="en-US" altLang="ko-KR" dirty="0"/>
              <a:t>Page Object Model(POM) </a:t>
            </a:r>
            <a:r>
              <a:rPr lang="ko-KR" altLang="en-US" dirty="0"/>
              <a:t>페이지 개발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   QA3:</a:t>
            </a:r>
            <a:r>
              <a:rPr lang="ko-KR" altLang="en-US" dirty="0"/>
              <a:t> 테스트 스크립트 구현</a:t>
            </a:r>
            <a:r>
              <a:rPr lang="en-US" altLang="ko-KR" dirty="0"/>
              <a:t>, </a:t>
            </a:r>
            <a:r>
              <a:rPr lang="ko-KR" altLang="en-US" dirty="0"/>
              <a:t>예외</a:t>
            </a:r>
            <a:r>
              <a:rPr lang="en-US" altLang="ko-KR" dirty="0"/>
              <a:t>·</a:t>
            </a:r>
            <a:r>
              <a:rPr lang="ko-KR" altLang="en-US" dirty="0"/>
              <a:t>실패 케이스 처리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   QA4:</a:t>
            </a:r>
            <a:r>
              <a:rPr lang="ko-KR" altLang="en-US" dirty="0"/>
              <a:t> 결과 분석</a:t>
            </a:r>
            <a:r>
              <a:rPr lang="en-US" altLang="ko-KR" dirty="0"/>
              <a:t>, </a:t>
            </a:r>
            <a:r>
              <a:rPr lang="ko-KR" altLang="en-US" dirty="0"/>
              <a:t>보고서 및 발표 자료 제작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E5E5C-48C6-7B1F-281B-070F8F836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51EC81-B8E6-FE22-9FCC-CC771D21B5DC}"/>
              </a:ext>
            </a:extLst>
          </p:cNvPr>
          <p:cNvSpPr txBox="1"/>
          <p:nvPr/>
        </p:nvSpPr>
        <p:spPr>
          <a:xfrm>
            <a:off x="640080" y="274320"/>
            <a:ext cx="342112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3.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테스트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범위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(In Scope)</a:t>
            </a: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D786B61F-F921-0909-0B30-933B95B69892}"/>
              </a:ext>
            </a:extLst>
          </p:cNvPr>
          <p:cNvSpPr/>
          <p:nvPr/>
        </p:nvSpPr>
        <p:spPr>
          <a:xfrm>
            <a:off x="249382" y="1097280"/>
            <a:ext cx="8765309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12DA42-FA05-E286-3EA3-644C724F4CC4}"/>
              </a:ext>
            </a:extLst>
          </p:cNvPr>
          <p:cNvSpPr txBox="1"/>
          <p:nvPr/>
        </p:nvSpPr>
        <p:spPr>
          <a:xfrm>
            <a:off x="1062182" y="1280160"/>
            <a:ext cx="737061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lphaUcPeriod"/>
            </a:pPr>
            <a:r>
              <a:rPr lang="ko-KR" altLang="en-US" b="1" dirty="0"/>
              <a:t>베이스</a:t>
            </a:r>
            <a:r>
              <a:rPr lang="en-US" altLang="ko-KR" b="1" dirty="0"/>
              <a:t>(base)</a:t>
            </a:r>
          </a:p>
          <a:p>
            <a:r>
              <a:rPr lang="ko-KR" altLang="en-US" dirty="0"/>
              <a:t>메뉴</a:t>
            </a:r>
            <a:r>
              <a:rPr lang="en-US" altLang="ko-KR" dirty="0"/>
              <a:t>(Home, Cart(0), Login, Sing Up)</a:t>
            </a:r>
          </a:p>
          <a:p>
            <a:r>
              <a:rPr lang="ko-KR" altLang="en-US" dirty="0"/>
              <a:t>사용자 </a:t>
            </a:r>
            <a:r>
              <a:rPr lang="ko-KR" altLang="en-US" dirty="0" err="1"/>
              <a:t>상태창</a:t>
            </a:r>
            <a:r>
              <a:rPr lang="en-US" altLang="ko-KR" dirty="0"/>
              <a:t>(</a:t>
            </a:r>
            <a:r>
              <a:rPr lang="ko-KR" altLang="en-US" dirty="0"/>
              <a:t>집사</a:t>
            </a:r>
            <a:r>
              <a:rPr lang="en-US" altLang="ko-KR" dirty="0"/>
              <a:t>, username)</a:t>
            </a:r>
          </a:p>
          <a:p>
            <a:r>
              <a:rPr lang="ko-KR" altLang="en-US" dirty="0"/>
              <a:t>로그아웃 버튼</a:t>
            </a:r>
            <a:endParaRPr lang="en-US" altLang="ko-KR" dirty="0"/>
          </a:p>
          <a:p>
            <a:endParaRPr lang="en-US" altLang="ko-KR" b="1" dirty="0"/>
          </a:p>
          <a:p>
            <a:pPr marL="342900" indent="-342900">
              <a:buAutoNum type="alphaUcPeriod" startAt="2"/>
            </a:pPr>
            <a:r>
              <a:rPr lang="ko-KR" altLang="en-US" b="1" dirty="0"/>
              <a:t>인덱스</a:t>
            </a:r>
            <a:r>
              <a:rPr lang="en-US" altLang="ko-KR" b="1" dirty="0"/>
              <a:t>(index)</a:t>
            </a:r>
          </a:p>
          <a:p>
            <a:r>
              <a:rPr lang="ko-KR" altLang="en-US" dirty="0"/>
              <a:t>상품</a:t>
            </a:r>
            <a:r>
              <a:rPr lang="en-US" altLang="ko-KR" dirty="0"/>
              <a:t> </a:t>
            </a:r>
            <a:r>
              <a:rPr lang="ko-KR" altLang="en-US" dirty="0"/>
              <a:t>목록</a:t>
            </a:r>
            <a:endParaRPr lang="en-US" altLang="ko-KR" dirty="0"/>
          </a:p>
          <a:p>
            <a:r>
              <a:rPr lang="ko-KR" altLang="en-US" dirty="0"/>
              <a:t>장바구니 추가</a:t>
            </a:r>
            <a:r>
              <a:rPr lang="en-US" altLang="ko-KR" dirty="0"/>
              <a:t>/</a:t>
            </a:r>
            <a:r>
              <a:rPr lang="ko-KR" altLang="en-US" dirty="0"/>
              <a:t>제거 버튼</a:t>
            </a:r>
          </a:p>
          <a:p>
            <a:endParaRPr lang="en-US" altLang="ko-KR" b="1" dirty="0"/>
          </a:p>
          <a:p>
            <a:r>
              <a:rPr lang="en-US" altLang="ko-KR" b="1" dirty="0"/>
              <a:t>C. </a:t>
            </a:r>
            <a:r>
              <a:rPr lang="ko-KR" altLang="en-US" b="1" dirty="0"/>
              <a:t>상품 상세페이지</a:t>
            </a:r>
            <a:r>
              <a:rPr lang="en-US" altLang="ko-KR" b="1" dirty="0"/>
              <a:t>(</a:t>
            </a:r>
            <a:r>
              <a:rPr lang="en-US" altLang="ko-KR" b="1" dirty="0" err="1"/>
              <a:t>product_detail</a:t>
            </a:r>
            <a:r>
              <a:rPr lang="en-US" altLang="ko-KR" b="1" dirty="0"/>
              <a:t>)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단일상품의 상세정보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장바구니 버튼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D. </a:t>
            </a:r>
            <a:r>
              <a:rPr lang="ko-KR" altLang="en-US" b="1" dirty="0"/>
              <a:t>장바구니페이지</a:t>
            </a:r>
            <a:r>
              <a:rPr lang="en-US" altLang="ko-KR" b="1" dirty="0"/>
              <a:t>(cart)</a:t>
            </a:r>
          </a:p>
          <a:p>
            <a:r>
              <a:rPr lang="ko-KR" altLang="en-US" dirty="0"/>
              <a:t> 장바구니에 담긴 상품 목록 및 합계 표시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제거</a:t>
            </a:r>
            <a:r>
              <a:rPr lang="en-US" altLang="ko-KR" dirty="0"/>
              <a:t>, </a:t>
            </a:r>
            <a:r>
              <a:rPr lang="ko-KR" altLang="en-US" dirty="0" err="1"/>
              <a:t>쇼핑계속하기</a:t>
            </a:r>
            <a:r>
              <a:rPr lang="en-US" altLang="ko-KR" dirty="0"/>
              <a:t>, </a:t>
            </a:r>
            <a:r>
              <a:rPr lang="ko-KR" altLang="en-US" dirty="0"/>
              <a:t>결제 버튼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1012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336181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3.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테스트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범위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(In Scope)</a:t>
            </a: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D21EF948-79CA-2E9E-638A-50881D7A713A}"/>
              </a:ext>
            </a:extLst>
          </p:cNvPr>
          <p:cNvSpPr/>
          <p:nvPr/>
        </p:nvSpPr>
        <p:spPr>
          <a:xfrm>
            <a:off x="249382" y="1097280"/>
            <a:ext cx="8765309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2182" y="1280160"/>
            <a:ext cx="737061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E. </a:t>
            </a:r>
            <a:r>
              <a:rPr lang="ko-KR" altLang="en-US" b="1" dirty="0"/>
              <a:t>결제</a:t>
            </a:r>
            <a:r>
              <a:rPr lang="en-US" altLang="ko-KR" b="1" dirty="0"/>
              <a:t> </a:t>
            </a:r>
            <a:r>
              <a:rPr lang="ko-KR" altLang="en-US" b="1" dirty="0"/>
              <a:t>페이지</a:t>
            </a:r>
            <a:r>
              <a:rPr lang="en-US" altLang="ko-KR" b="1" dirty="0"/>
              <a:t>(checkout)</a:t>
            </a:r>
          </a:p>
          <a:p>
            <a:r>
              <a:rPr lang="ko-KR" altLang="en-US" dirty="0"/>
              <a:t> 결제정보</a:t>
            </a:r>
            <a:r>
              <a:rPr lang="en-US" altLang="ko-KR" dirty="0"/>
              <a:t>(</a:t>
            </a:r>
            <a:r>
              <a:rPr lang="ko-KR" altLang="en-US" dirty="0"/>
              <a:t>이름</a:t>
            </a:r>
            <a:r>
              <a:rPr lang="en-US" altLang="ko-KR" dirty="0"/>
              <a:t>, </a:t>
            </a:r>
            <a:r>
              <a:rPr lang="ko-KR" altLang="en-US" dirty="0"/>
              <a:t>전화번호</a:t>
            </a:r>
            <a:r>
              <a:rPr lang="en-US" altLang="ko-KR" dirty="0"/>
              <a:t>, </a:t>
            </a:r>
            <a:r>
              <a:rPr lang="ko-KR" altLang="en-US" dirty="0"/>
              <a:t>주소</a:t>
            </a:r>
            <a:r>
              <a:rPr lang="en-US" altLang="ko-KR" dirty="0"/>
              <a:t>)</a:t>
            </a:r>
            <a:r>
              <a:rPr lang="ko-KR" altLang="en-US" dirty="0"/>
              <a:t> 입력</a:t>
            </a:r>
            <a:endParaRPr lang="en-US" altLang="ko-KR" dirty="0"/>
          </a:p>
          <a:p>
            <a:r>
              <a:rPr lang="ko-KR" altLang="en-US" dirty="0"/>
              <a:t> 결제완료</a:t>
            </a:r>
            <a:r>
              <a:rPr lang="en-US" altLang="ko-KR" dirty="0"/>
              <a:t>, </a:t>
            </a:r>
            <a:r>
              <a:rPr lang="ko-KR" altLang="en-US" dirty="0"/>
              <a:t>취소</a:t>
            </a:r>
            <a:r>
              <a:rPr lang="en-US" altLang="ko-KR" dirty="0"/>
              <a:t>, </a:t>
            </a:r>
            <a:r>
              <a:rPr lang="ko-KR" altLang="en-US" dirty="0"/>
              <a:t>장바구니로 돌아가기 버튼</a:t>
            </a:r>
            <a:endParaRPr lang="en-US" altLang="ko-KR" dirty="0"/>
          </a:p>
          <a:p>
            <a:r>
              <a:rPr lang="ko-KR" altLang="en-US" b="1" dirty="0"/>
              <a:t> </a:t>
            </a:r>
            <a:r>
              <a:rPr lang="ko-KR" altLang="en-US" dirty="0"/>
              <a:t>결제완료시 주문접수 팝업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F. </a:t>
            </a:r>
            <a:r>
              <a:rPr lang="ko-KR" altLang="en-US" b="1" dirty="0"/>
              <a:t>로그인 페이지</a:t>
            </a:r>
            <a:r>
              <a:rPr lang="en-US" altLang="ko-KR" b="1" dirty="0"/>
              <a:t>(login) </a:t>
            </a:r>
          </a:p>
          <a:p>
            <a:r>
              <a:rPr lang="ko-KR" altLang="en-US" dirty="0"/>
              <a:t> </a:t>
            </a:r>
            <a:r>
              <a:rPr lang="ko-KR" altLang="en-US" dirty="0" err="1"/>
              <a:t>유저명</a:t>
            </a:r>
            <a:r>
              <a:rPr lang="en-US" altLang="ko-KR" dirty="0"/>
              <a:t>, </a:t>
            </a:r>
            <a:r>
              <a:rPr lang="ko-KR" altLang="en-US" dirty="0"/>
              <a:t>패스워드 입력</a:t>
            </a:r>
            <a:endParaRPr lang="en-US" altLang="ko-KR" dirty="0"/>
          </a:p>
          <a:p>
            <a:r>
              <a:rPr lang="en-US" altLang="ko-KR" dirty="0"/>
              <a:t> login</a:t>
            </a:r>
            <a:r>
              <a:rPr lang="ko-KR" altLang="en-US" dirty="0"/>
              <a:t> 버튼입력</a:t>
            </a:r>
            <a:endParaRPr lang="en-US" altLang="ko-KR" dirty="0"/>
          </a:p>
          <a:p>
            <a:r>
              <a:rPr lang="en-US" altLang="ko-KR" dirty="0"/>
              <a:t> logout</a:t>
            </a:r>
          </a:p>
          <a:p>
            <a:r>
              <a:rPr lang="en-US" altLang="ko-KR" dirty="0"/>
              <a:t> register </a:t>
            </a:r>
            <a:r>
              <a:rPr lang="ko-KR" altLang="en-US" dirty="0"/>
              <a:t>버튼입력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G. </a:t>
            </a:r>
            <a:r>
              <a:rPr lang="ko-KR" altLang="en-US" b="1" dirty="0"/>
              <a:t>회원가입</a:t>
            </a:r>
            <a:r>
              <a:rPr lang="en-US" altLang="ko-KR" b="1" dirty="0"/>
              <a:t>(register)</a:t>
            </a:r>
          </a:p>
          <a:p>
            <a:r>
              <a:rPr lang="en-US" altLang="ko-KR" dirty="0"/>
              <a:t> </a:t>
            </a:r>
            <a:r>
              <a:rPr lang="ko-KR" altLang="en-US" dirty="0" err="1"/>
              <a:t>유저명</a:t>
            </a:r>
            <a:r>
              <a:rPr lang="en-US" altLang="ko-KR" dirty="0"/>
              <a:t>, </a:t>
            </a:r>
            <a:r>
              <a:rPr lang="ko-KR" altLang="en-US" dirty="0"/>
              <a:t>패스워드 입력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패스워드 재확인 입력</a:t>
            </a:r>
            <a:endParaRPr lang="en-US" altLang="ko-KR" dirty="0"/>
          </a:p>
          <a:p>
            <a:r>
              <a:rPr lang="en-US" altLang="ko-KR" dirty="0"/>
              <a:t> sign up </a:t>
            </a:r>
            <a:r>
              <a:rPr lang="ko-KR" altLang="en-US" dirty="0"/>
              <a:t>버튼</a:t>
            </a:r>
            <a:endParaRPr lang="en-US" altLang="ko-K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5DCCA428-26A9-85F8-074F-CF8CB2D254D7}"/>
              </a:ext>
            </a:extLst>
          </p:cNvPr>
          <p:cNvSpPr/>
          <p:nvPr/>
        </p:nvSpPr>
        <p:spPr>
          <a:xfrm>
            <a:off x="249382" y="1097280"/>
            <a:ext cx="8765309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86140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4.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테스트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전략</a:t>
            </a:r>
            <a:endParaRPr sz="2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7896167" cy="2955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○ 테스트 유형 </a:t>
            </a:r>
            <a:r>
              <a:rPr lang="en-US" altLang="ko-KR" b="1" dirty="0"/>
              <a:t>:</a:t>
            </a:r>
            <a:r>
              <a:rPr lang="ko-KR" altLang="en-US" b="1" dirty="0"/>
              <a:t> </a:t>
            </a:r>
            <a:r>
              <a:rPr lang="en-US" altLang="ko-KR" b="1" dirty="0"/>
              <a:t>smoke</a:t>
            </a:r>
            <a:endParaRPr lang="ko-KR" altLang="en-US" b="1" dirty="0"/>
          </a:p>
          <a:p>
            <a:pPr>
              <a:lnSpc>
                <a:spcPct val="150000"/>
              </a:lnSpc>
            </a:pPr>
            <a:r>
              <a:rPr lang="ko-KR" altLang="en-US" b="1" dirty="0"/>
              <a:t>○ 회귀 테스트</a:t>
            </a:r>
            <a:r>
              <a:rPr lang="en-US" altLang="ko-KR" b="1" dirty="0"/>
              <a:t>(Regression):</a:t>
            </a:r>
            <a:r>
              <a:rPr lang="ko-KR" altLang="en-US" dirty="0"/>
              <a:t> 전체 스위트 실행 </a:t>
            </a:r>
            <a:r>
              <a:rPr lang="en-US" altLang="ko-KR" dirty="0"/>
              <a:t>(main push)</a:t>
            </a:r>
          </a:p>
          <a:p>
            <a:pPr>
              <a:lnSpc>
                <a:spcPct val="150000"/>
              </a:lnSpc>
            </a:pPr>
            <a:r>
              <a:rPr lang="ko-KR" altLang="en-US" b="1" dirty="0"/>
              <a:t>○ 네거티브</a:t>
            </a:r>
            <a:r>
              <a:rPr lang="en-US" altLang="ko-KR" b="1" dirty="0"/>
              <a:t>(Negative):</a:t>
            </a:r>
            <a:r>
              <a:rPr lang="ko-KR" altLang="en-US" dirty="0"/>
              <a:t> 실패</a:t>
            </a:r>
            <a:r>
              <a:rPr lang="en-US" altLang="ko-KR" dirty="0"/>
              <a:t>/</a:t>
            </a:r>
            <a:r>
              <a:rPr lang="ko-KR" altLang="en-US" dirty="0"/>
              <a:t>오류 처리 검증</a:t>
            </a:r>
          </a:p>
          <a:p>
            <a:pPr>
              <a:lnSpc>
                <a:spcPct val="150000"/>
              </a:lnSpc>
            </a:pPr>
            <a:r>
              <a:rPr lang="ko-KR" altLang="en-US" b="1" dirty="0"/>
              <a:t>○ 안정성 규칙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	</a:t>
            </a:r>
            <a:r>
              <a:rPr lang="ko-KR" altLang="en-US" dirty="0"/>
              <a:t>모든 액션 전 </a:t>
            </a:r>
            <a:r>
              <a:rPr lang="en-US" altLang="ko-KR" b="1" dirty="0"/>
              <a:t>Explicit Wait</a:t>
            </a:r>
            <a:r>
              <a:rPr lang="ko-KR" altLang="en-US" dirty="0"/>
              <a:t> 적용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	</a:t>
            </a:r>
            <a:r>
              <a:rPr lang="ko-KR" altLang="en-US" dirty="0"/>
              <a:t>실패 시 자동 스크린샷 저장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	CI </a:t>
            </a:r>
            <a:r>
              <a:rPr lang="ko-KR" altLang="en-US" dirty="0"/>
              <a:t>환경에서는 </a:t>
            </a:r>
            <a:r>
              <a:rPr lang="en-US" altLang="ko-KR" dirty="0"/>
              <a:t>Selenium Manager </a:t>
            </a:r>
            <a:r>
              <a:rPr lang="ko-KR" altLang="en-US" dirty="0"/>
              <a:t>기반으로 </a:t>
            </a:r>
            <a:r>
              <a:rPr lang="en-US" altLang="ko-KR" dirty="0"/>
              <a:t>Chrome/Driver </a:t>
            </a:r>
            <a:r>
              <a:rPr lang="ko-KR" altLang="en-US" dirty="0"/>
              <a:t>동기화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240642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5. </a:t>
            </a:r>
            <a:r>
              <a:rPr sz="2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테스트</a:t>
            </a:r>
            <a:r>
              <a:rPr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2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아키텍처</a:t>
            </a:r>
            <a:endParaRPr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49382" y="1097280"/>
            <a:ext cx="8765309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7859222" cy="2118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 err="1">
                <a:latin typeface="Arial" panose="020B0604020202020204" pitchFamily="34" charset="0"/>
              </a:rPr>
              <a:t>Page</a:t>
            </a:r>
            <a:r>
              <a:rPr lang="ko-KR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 err="1">
                <a:latin typeface="Arial" panose="020B0604020202020204" pitchFamily="34" charset="0"/>
              </a:rPr>
              <a:t>Object</a:t>
            </a:r>
            <a:r>
              <a:rPr lang="ko-KR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 err="1">
                <a:latin typeface="Arial" panose="020B0604020202020204" pitchFamily="34" charset="0"/>
              </a:rPr>
              <a:t>Model</a:t>
            </a:r>
            <a:r>
              <a:rPr lang="ko-KR" altLang="ko-KR" b="1" dirty="0">
                <a:latin typeface="Arial" panose="020B0604020202020204" pitchFamily="34" charset="0"/>
              </a:rPr>
              <a:t>:</a:t>
            </a:r>
            <a:r>
              <a:rPr lang="ko-KR" altLang="ko-KR" dirty="0">
                <a:latin typeface="Arial" panose="020B0604020202020204" pitchFamily="34" charset="0"/>
              </a:rPr>
              <a:t> UI 요소와 동작을 페이지별로 분리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Service </a:t>
            </a:r>
            <a:r>
              <a:rPr lang="ko-KR" altLang="ko-KR" b="1" dirty="0" err="1">
                <a:latin typeface="Arial" panose="020B0604020202020204" pitchFamily="34" charset="0"/>
              </a:rPr>
              <a:t>Layer</a:t>
            </a:r>
            <a:r>
              <a:rPr lang="ko-KR" altLang="ko-KR" b="1" dirty="0">
                <a:latin typeface="Arial" panose="020B0604020202020204" pitchFamily="34" charset="0"/>
              </a:rPr>
              <a:t>:</a:t>
            </a:r>
            <a:r>
              <a:rPr lang="ko-KR" altLang="ko-KR" dirty="0">
                <a:latin typeface="Arial" panose="020B0604020202020204" pitchFamily="34" charset="0"/>
              </a:rPr>
              <a:t> 로그인/상품추가 등 반복 동작 공통 처리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 err="1">
                <a:latin typeface="Arial" panose="020B0604020202020204" pitchFamily="34" charset="0"/>
              </a:rPr>
              <a:t>Fixtures</a:t>
            </a:r>
            <a:r>
              <a:rPr lang="ko-KR" altLang="ko-KR" b="1" dirty="0">
                <a:latin typeface="Arial" panose="020B0604020202020204" pitchFamily="34" charset="0"/>
              </a:rPr>
              <a:t>:</a:t>
            </a:r>
            <a:r>
              <a:rPr lang="ko-KR" altLang="ko-KR" dirty="0">
                <a:latin typeface="Arial" panose="020B0604020202020204" pitchFamily="34" charset="0"/>
              </a:rPr>
              <a:t> 브라우저 및 세션 재사용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 err="1">
                <a:latin typeface="Arial" panose="020B0604020202020204" pitchFamily="34" charset="0"/>
              </a:rPr>
              <a:t>Utils</a:t>
            </a:r>
            <a:r>
              <a:rPr lang="ko-KR" altLang="ko-KR" b="1" dirty="0">
                <a:latin typeface="Arial" panose="020B0604020202020204" pitchFamily="34" charset="0"/>
              </a:rPr>
              <a:t>:</a:t>
            </a:r>
            <a:r>
              <a:rPr lang="ko-KR" altLang="ko-KR" dirty="0">
                <a:latin typeface="Arial" panose="020B0604020202020204" pitchFamily="34" charset="0"/>
              </a:rPr>
              <a:t> 공용 </a:t>
            </a:r>
            <a:r>
              <a:rPr lang="ko-KR" altLang="ko-KR" dirty="0" err="1">
                <a:latin typeface="Arial" panose="020B0604020202020204" pitchFamily="34" charset="0"/>
              </a:rPr>
              <a:t>waits</a:t>
            </a:r>
            <a:r>
              <a:rPr lang="ko-KR" altLang="ko-KR" dirty="0">
                <a:latin typeface="Arial" panose="020B0604020202020204" pitchFamily="34" charset="0"/>
              </a:rPr>
              <a:t>, </a:t>
            </a:r>
            <a:r>
              <a:rPr lang="ko-KR" altLang="ko-KR" dirty="0" err="1">
                <a:latin typeface="Arial" panose="020B0604020202020204" pitchFamily="34" charset="0"/>
              </a:rPr>
              <a:t>assertions</a:t>
            </a:r>
            <a:r>
              <a:rPr lang="ko-KR" altLang="ko-KR" dirty="0">
                <a:latin typeface="Arial" panose="020B0604020202020204" pitchFamily="34" charset="0"/>
              </a:rPr>
              <a:t>, 데이터 </a:t>
            </a:r>
            <a:r>
              <a:rPr lang="ko-KR" altLang="ko-KR" dirty="0" err="1">
                <a:latin typeface="Arial" panose="020B0604020202020204" pitchFamily="34" charset="0"/>
              </a:rPr>
              <a:t>생성기</a:t>
            </a:r>
            <a:endParaRPr lang="ko-KR" altLang="ko-KR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CI 파이프라인:</a:t>
            </a:r>
            <a:r>
              <a:rPr lang="ko-KR" altLang="ko-KR" dirty="0">
                <a:latin typeface="Arial" panose="020B0604020202020204" pitchFamily="34" charset="0"/>
              </a:rPr>
              <a:t> </a:t>
            </a:r>
            <a:r>
              <a:rPr lang="en-US" altLang="ko-KR" dirty="0" err="1">
                <a:latin typeface="Arial" panose="020B0604020202020204" pitchFamily="34" charset="0"/>
              </a:rPr>
              <a:t>pytest</a:t>
            </a:r>
            <a:r>
              <a:rPr lang="en-US" altLang="ko-KR" dirty="0">
                <a:latin typeface="Arial" panose="020B0604020202020204" pitchFamily="34" charset="0"/>
              </a:rPr>
              <a:t> + selenium</a:t>
            </a:r>
            <a:r>
              <a:rPr lang="ko-KR" altLang="ko-KR" dirty="0">
                <a:latin typeface="Arial" panose="020B0604020202020204" pitchFamily="34" charset="0"/>
              </a:rPr>
              <a:t>기반 자동 테스트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165141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UI — </a:t>
            </a:r>
            <a:r>
              <a:rPr lang="ko-KR" altLang="en-US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베이스</a:t>
            </a:r>
            <a:endParaRPr sz="2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29309" y="1097280"/>
            <a:ext cx="9014691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그림 5" descr="텍스트, 포유류, 고양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0A5A08C-330E-D71F-87B9-AF5163AAB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540" y="1190546"/>
            <a:ext cx="4416920" cy="47512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239520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UI —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로그인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Page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9309" y="1097280"/>
            <a:ext cx="9014691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그림 5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DEB1DF0-7D50-B9AE-4191-1F9F9514C4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626"/>
          <a:stretch/>
        </p:blipFill>
        <p:spPr>
          <a:xfrm>
            <a:off x="193174" y="1874982"/>
            <a:ext cx="8821517" cy="284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417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196560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UI — </a:t>
            </a:r>
            <a:r>
              <a:rPr lang="en-US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register</a:t>
            </a:r>
            <a:endParaRPr sz="2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6182" y="1097280"/>
            <a:ext cx="9033163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그림 5" descr="텍스트, 소프트웨어, 폰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831EDEA-5387-B74A-C095-A82E90C2D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7877"/>
            <a:ext cx="9144000" cy="31165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264687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UI —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장바구니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Page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135" y="1097280"/>
            <a:ext cx="8965738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그림 5" descr="텍스트, 스크린샷, 소프트웨어, 웹 페이지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C55BB73-FEC2-62F0-81DD-106F263A87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232"/>
          <a:stretch/>
        </p:blipFill>
        <p:spPr>
          <a:xfrm>
            <a:off x="238382" y="1736453"/>
            <a:ext cx="8667236" cy="338509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190308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UI — </a:t>
            </a:r>
            <a:r>
              <a:rPr lang="ko-KR" altLang="en-US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로그아웃</a:t>
            </a:r>
            <a:endParaRPr sz="2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95135" y="1097280"/>
            <a:ext cx="8965738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그림 6" descr="텍스트, 고양잇과, 포유류, 고양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46733FD-7AEF-B6FF-63D4-72D1F85E2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232" y="1237944"/>
            <a:ext cx="6887536" cy="438211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181972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UI —</a:t>
            </a:r>
            <a:r>
              <a:rPr lang="ko-KR" altLang="en-US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체크아웃</a:t>
            </a:r>
            <a:endParaRPr sz="2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3128" y="748145"/>
            <a:ext cx="8931564" cy="5938981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그림 5" descr="텍스트, 스크린샷, 번호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4482512-3D64-5E06-6BA2-04FAEE04F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758" y="1147443"/>
            <a:ext cx="7253632" cy="508710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315983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UI —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체크아웃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주문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완료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4728" y="1097280"/>
            <a:ext cx="867294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그림 6" descr="텍스트, 웹 페이지, 웹사이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2FE1236-7AEF-CB0B-5679-350DCCFCD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670" y="1200713"/>
            <a:ext cx="4717061" cy="473089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458811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6. User Flow with UI Thumbnails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948" y="894080"/>
            <a:ext cx="9070108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01566" y="2868359"/>
            <a:ext cx="13951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 err="1"/>
              <a:t>로그인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2981860" y="2868359"/>
            <a:ext cx="13951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베이스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023342" y="2743760"/>
            <a:ext cx="13951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장바구니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1803130" y="5161681"/>
            <a:ext cx="13951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 err="1"/>
              <a:t>체크아웃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4964465" y="4917063"/>
            <a:ext cx="21473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주문 완료 페이지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468880" y="0"/>
            <a:ext cx="411480" cy="0"/>
          </a:xfrm>
          <a:prstGeom prst="line">
            <a:avLst/>
          </a:prstGeom>
          <a:ln w="2540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434840" y="0"/>
            <a:ext cx="411480" cy="0"/>
          </a:xfrm>
          <a:prstGeom prst="line">
            <a:avLst/>
          </a:prstGeom>
          <a:ln w="2540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400800" y="0"/>
            <a:ext cx="411480" cy="0"/>
          </a:xfrm>
          <a:prstGeom prst="line">
            <a:avLst/>
          </a:prstGeom>
          <a:ln w="2540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366760" y="0"/>
            <a:ext cx="411480" cy="0"/>
          </a:xfrm>
          <a:prstGeom prst="line">
            <a:avLst/>
          </a:prstGeom>
          <a:ln w="2540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332720" y="0"/>
            <a:ext cx="411480" cy="0"/>
          </a:xfrm>
          <a:prstGeom prst="line">
            <a:avLst/>
          </a:prstGeom>
          <a:ln w="2540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그림 22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194D88F-7911-802E-2251-FD1076E7BD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43" r="38586" b="7718"/>
          <a:stretch/>
        </p:blipFill>
        <p:spPr>
          <a:xfrm>
            <a:off x="271138" y="1505553"/>
            <a:ext cx="1897985" cy="1329088"/>
          </a:xfrm>
          <a:prstGeom prst="rect">
            <a:avLst/>
          </a:prstGeom>
        </p:spPr>
      </p:pic>
      <p:pic>
        <p:nvPicPr>
          <p:cNvPr id="25" name="그림 24" descr="텍스트, 포유류, 고양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741C151-DE47-9EC4-3C07-EBBF3B559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4314" y="1315407"/>
            <a:ext cx="1408629" cy="1515245"/>
          </a:xfrm>
          <a:prstGeom prst="rect">
            <a:avLst/>
          </a:prstGeom>
        </p:spPr>
      </p:pic>
      <p:pic>
        <p:nvPicPr>
          <p:cNvPr id="27" name="그림 26" descr="텍스트, 스크린샷, 소프트웨어, 웹 페이지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42D0EEC-3E7F-EFBA-D357-D72C6D9DB47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1583" b="9449"/>
          <a:stretch/>
        </p:blipFill>
        <p:spPr>
          <a:xfrm>
            <a:off x="4626512" y="1366146"/>
            <a:ext cx="3653844" cy="1268109"/>
          </a:xfrm>
          <a:prstGeom prst="rect">
            <a:avLst/>
          </a:prstGeom>
        </p:spPr>
      </p:pic>
      <p:pic>
        <p:nvPicPr>
          <p:cNvPr id="29" name="그림 28" descr="텍스트, 스크린샷, 번호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69737CC-2C99-2905-E49D-EF710D42FC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0130" y="3440659"/>
            <a:ext cx="2231958" cy="1565311"/>
          </a:xfrm>
          <a:prstGeom prst="rect">
            <a:avLst/>
          </a:prstGeom>
        </p:spPr>
      </p:pic>
      <p:pic>
        <p:nvPicPr>
          <p:cNvPr id="31" name="그림 30" descr="텍스트, 웹 페이지, 웹사이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AEE793F-030B-4A2E-51B7-C383D37F1B7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32380" b="70329"/>
          <a:stretch/>
        </p:blipFill>
        <p:spPr>
          <a:xfrm>
            <a:off x="4846320" y="3495136"/>
            <a:ext cx="2265504" cy="996985"/>
          </a:xfrm>
          <a:prstGeom prst="rect">
            <a:avLst/>
          </a:prstGeom>
        </p:spPr>
      </p:pic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1153859C-E24C-9E88-A181-A93FF2EF8D12}"/>
              </a:ext>
            </a:extLst>
          </p:cNvPr>
          <p:cNvSpPr/>
          <p:nvPr/>
        </p:nvSpPr>
        <p:spPr>
          <a:xfrm>
            <a:off x="2316767" y="1790248"/>
            <a:ext cx="218049" cy="7315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B8437657-4B33-4BF9-2DAB-2F2686451D40}"/>
              </a:ext>
            </a:extLst>
          </p:cNvPr>
          <p:cNvSpPr/>
          <p:nvPr/>
        </p:nvSpPr>
        <p:spPr>
          <a:xfrm>
            <a:off x="4300703" y="1752226"/>
            <a:ext cx="218049" cy="7315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B73701C2-E9BE-E5DB-6D2F-DC4881FB4840}"/>
              </a:ext>
            </a:extLst>
          </p:cNvPr>
          <p:cNvSpPr/>
          <p:nvPr/>
        </p:nvSpPr>
        <p:spPr>
          <a:xfrm rot="5400000">
            <a:off x="5708085" y="2871931"/>
            <a:ext cx="218049" cy="7315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7D7E13A1-CC82-1B7A-FC56-358576772C70}"/>
              </a:ext>
            </a:extLst>
          </p:cNvPr>
          <p:cNvSpPr/>
          <p:nvPr/>
        </p:nvSpPr>
        <p:spPr>
          <a:xfrm rot="10800000">
            <a:off x="4033003" y="3943723"/>
            <a:ext cx="218049" cy="7315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326563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TC‑001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로그인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Success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69280"/>
            <a:ext cx="1078992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600" b="1" dirty="0">
                <a:latin typeface="Arial" panose="020B0604020202020204" pitchFamily="34" charset="0"/>
              </a:rPr>
              <a:t>목적:</a:t>
            </a:r>
            <a:r>
              <a:rPr lang="ko-KR" altLang="ko-KR" sz="1600" dirty="0">
                <a:latin typeface="Arial" panose="020B0604020202020204" pitchFamily="34" charset="0"/>
              </a:rPr>
              <a:t> 정상 계정 로그인 가능 여부 확인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600" b="1" dirty="0">
                <a:latin typeface="Arial" panose="020B0604020202020204" pitchFamily="34" charset="0"/>
              </a:rPr>
              <a:t>절차</a:t>
            </a:r>
            <a:r>
              <a:rPr lang="ko-KR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ko-KR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testuser</a:t>
            </a:r>
            <a:r>
              <a:rPr lang="ko-KR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password123</a:t>
            </a:r>
            <a:r>
              <a:rPr lang="ko-KR" altLang="ko-KR" sz="1600" dirty="0"/>
              <a:t>입력 → 로그인</a:t>
            </a:r>
            <a:endParaRPr lang="ko-KR" altLang="ko-KR" sz="36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600" b="1" dirty="0">
                <a:latin typeface="Arial" panose="020B0604020202020204" pitchFamily="34" charset="0"/>
              </a:rPr>
              <a:t>기대 결과:</a:t>
            </a:r>
            <a:r>
              <a:rPr lang="ko-KR" altLang="ko-KR" sz="1600" dirty="0">
                <a:latin typeface="Arial" panose="020B0604020202020204" pitchFamily="34" charset="0"/>
              </a:rPr>
              <a:t> 상품 목록 페이지(Products) 로딩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2CF45290-2357-07ED-8E46-2AEB56CD7101}"/>
              </a:ext>
            </a:extLst>
          </p:cNvPr>
          <p:cNvSpPr/>
          <p:nvPr/>
        </p:nvSpPr>
        <p:spPr>
          <a:xfrm>
            <a:off x="393931" y="766618"/>
            <a:ext cx="8356138" cy="4756727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그림 4" descr="텍스트, 웹 페이지, 웹사이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46A3F4C-06CA-05EB-3A96-23EDB2D03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668" y="848451"/>
            <a:ext cx="4593060" cy="45930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432682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TC‑002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로그인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Failure (Invalid)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3931" y="766618"/>
            <a:ext cx="8356138" cy="4756727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C0A337-90EF-479F-4556-860BB65F6B9D}"/>
              </a:ext>
            </a:extLst>
          </p:cNvPr>
          <p:cNvSpPr txBox="1"/>
          <p:nvPr/>
        </p:nvSpPr>
        <p:spPr>
          <a:xfrm>
            <a:off x="563418" y="5689798"/>
            <a:ext cx="62760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b="1" dirty="0">
                <a:latin typeface="Arial" panose="020B0604020202020204" pitchFamily="34" charset="0"/>
              </a:rPr>
              <a:t>목적:</a:t>
            </a:r>
            <a:r>
              <a:rPr lang="ko-KR" altLang="ko-KR" dirty="0">
                <a:latin typeface="Arial" panose="020B0604020202020204" pitchFamily="34" charset="0"/>
              </a:rPr>
              <a:t> 잘못된 계정 정보 입력 시 오류 표시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b="1" dirty="0">
                <a:latin typeface="Arial" panose="020B0604020202020204" pitchFamily="34" charset="0"/>
              </a:rPr>
              <a:t>절차:</a:t>
            </a:r>
            <a:r>
              <a:rPr lang="ko-KR" altLang="ko-KR" dirty="0">
                <a:latin typeface="Arial" panose="020B0604020202020204" pitchFamily="34" charset="0"/>
              </a:rPr>
              <a:t> 잘못된 ID/비밀번호 입력 → 로그인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b="1" dirty="0">
                <a:latin typeface="Arial" panose="020B0604020202020204" pitchFamily="34" charset="0"/>
              </a:rPr>
              <a:t>기대 결과:</a:t>
            </a:r>
            <a:r>
              <a:rPr lang="ko-KR" altLang="ko-KR" dirty="0">
                <a:latin typeface="Arial" panose="020B0604020202020204" pitchFamily="34" charset="0"/>
              </a:rPr>
              <a:t> “사용자명이 일치하지 않습니다” 오류 배너 출력</a:t>
            </a:r>
          </a:p>
          <a:p>
            <a:endParaRPr lang="ko-KR" altLang="en-US" dirty="0"/>
          </a:p>
        </p:txBody>
      </p:sp>
      <p:pic>
        <p:nvPicPr>
          <p:cNvPr id="7" name="그림 6" descr="텍스트, 스크린샷, 폰트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F03692C-036B-BC29-89CC-C56150732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849" y="1005840"/>
            <a:ext cx="7193611" cy="40741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448392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TC‑00</a:t>
            </a:r>
            <a:r>
              <a:rPr lang="en-US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3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Add/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삭제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&amp; Badge Sync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8549" y="727824"/>
            <a:ext cx="8346902" cy="4850939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그림 7" descr="텍스트, 스크린샷, 소프트웨어, 웹 페이지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82F2C25-4564-3C4A-2197-9A118A1DBB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191"/>
          <a:stretch/>
        </p:blipFill>
        <p:spPr>
          <a:xfrm>
            <a:off x="2774791" y="3736110"/>
            <a:ext cx="3256556" cy="1754104"/>
          </a:xfrm>
          <a:prstGeom prst="rect">
            <a:avLst/>
          </a:prstGeom>
        </p:spPr>
      </p:pic>
      <p:pic>
        <p:nvPicPr>
          <p:cNvPr id="5" name="그림 4" descr="텍스트, 스크린샷, 소프트웨어, 웹 페이지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7DDFCF3-75F8-4115-49B6-43A7ED4495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150" b="12091"/>
          <a:stretch/>
        </p:blipFill>
        <p:spPr>
          <a:xfrm>
            <a:off x="1213341" y="869605"/>
            <a:ext cx="6717317" cy="225228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C8D0EA-A0E5-860A-4A03-AFB6BD011602}"/>
              </a:ext>
            </a:extLst>
          </p:cNvPr>
          <p:cNvSpPr txBox="1"/>
          <p:nvPr/>
        </p:nvSpPr>
        <p:spPr>
          <a:xfrm>
            <a:off x="822960" y="5669280"/>
            <a:ext cx="107899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E1E1E"/>
                </a:solidFill>
              </a:defRPr>
            </a:pPr>
            <a:r>
              <a:rPr lang="ko-KR" altLang="en-US" dirty="0"/>
              <a:t>목적</a:t>
            </a:r>
            <a:r>
              <a:rPr lang="en-US" altLang="ko-KR" dirty="0"/>
              <a:t>: </a:t>
            </a:r>
            <a:r>
              <a:rPr lang="ko-KR" altLang="en-US" dirty="0"/>
              <a:t>장바구니 페이지에서 항목 제거 기능 검증</a:t>
            </a:r>
          </a:p>
          <a:p>
            <a:pPr>
              <a:defRPr sz="1600">
                <a:solidFill>
                  <a:srgbClr val="1E1E1E"/>
                </a:solidFill>
              </a:defRPr>
            </a:pPr>
            <a:r>
              <a:rPr lang="ko-KR" altLang="en-US" dirty="0"/>
              <a:t>절차</a:t>
            </a:r>
            <a:r>
              <a:rPr lang="en-US" altLang="ko-KR" dirty="0"/>
              <a:t>: Cart → </a:t>
            </a:r>
            <a:r>
              <a:rPr lang="ko-KR" altLang="en-US" dirty="0"/>
              <a:t>제거</a:t>
            </a:r>
            <a:r>
              <a:rPr lang="en-US" altLang="ko-KR" dirty="0"/>
              <a:t> </a:t>
            </a:r>
            <a:r>
              <a:rPr lang="ko-KR" altLang="en-US" dirty="0"/>
              <a:t>클릭</a:t>
            </a:r>
          </a:p>
          <a:p>
            <a:pPr>
              <a:defRPr sz="1600">
                <a:solidFill>
                  <a:srgbClr val="1E1E1E"/>
                </a:solidFill>
              </a:defRPr>
            </a:pPr>
            <a:r>
              <a:rPr lang="ko-KR" altLang="en-US" dirty="0"/>
              <a:t>기대 결과</a:t>
            </a:r>
            <a:r>
              <a:rPr lang="en-US" altLang="ko-KR" dirty="0"/>
              <a:t>: </a:t>
            </a:r>
            <a:r>
              <a:rPr lang="ko-KR" altLang="en-US" dirty="0"/>
              <a:t>항목 제거 및 갱신된 카트 상태 표시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395813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7. Test Results &amp; Coverage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0771" y="1189644"/>
            <a:ext cx="7906327" cy="3557847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4357171"/>
              </p:ext>
            </p:extLst>
          </p:nvPr>
        </p:nvGraphicFramePr>
        <p:xfrm>
          <a:off x="967971" y="1738284"/>
          <a:ext cx="3162531" cy="23718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7372282"/>
              </p:ext>
            </p:extLst>
          </p:nvPr>
        </p:nvGraphicFramePr>
        <p:xfrm>
          <a:off x="4413597" y="1738284"/>
          <a:ext cx="3491961" cy="23718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441659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8. </a:t>
            </a:r>
            <a:r>
              <a:rPr lang="en-US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E2E</a:t>
            </a:r>
            <a:r>
              <a:rPr lang="ko-KR" altLang="en-US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테스트</a:t>
            </a:r>
            <a:r>
              <a:rPr lang="en-US" altLang="ko-KR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(End-to-End Test)</a:t>
            </a:r>
            <a:endParaRPr sz="2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89542" y="1280160"/>
            <a:ext cx="7940502" cy="4139738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4022" y="1555404"/>
            <a:ext cx="7808160" cy="3786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○ 구성 요소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	Python 3.14 matrix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	Chrome + </a:t>
            </a:r>
            <a:r>
              <a:rPr lang="en-US" altLang="ko-KR" dirty="0" err="1"/>
              <a:t>ChromeDriver</a:t>
            </a:r>
            <a:r>
              <a:rPr lang="en-US" altLang="ko-KR" dirty="0"/>
              <a:t> </a:t>
            </a:r>
            <a:r>
              <a:rPr lang="ko-KR" altLang="en-US" dirty="0"/>
              <a:t>자동 설치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	Headless </a:t>
            </a:r>
            <a:r>
              <a:rPr lang="ko-KR" altLang="en-US" dirty="0"/>
              <a:t>모드에서 </a:t>
            </a:r>
            <a:r>
              <a:rPr lang="en-US" altLang="ko-KR" dirty="0" err="1"/>
              <a:t>pytest</a:t>
            </a:r>
            <a:r>
              <a:rPr lang="en-US" altLang="ko-KR" dirty="0"/>
              <a:t> </a:t>
            </a:r>
            <a:r>
              <a:rPr lang="ko-KR" altLang="en-US" dirty="0"/>
              <a:t>실행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	HTML </a:t>
            </a:r>
            <a:r>
              <a:rPr lang="ko-KR" altLang="en-US" dirty="0"/>
              <a:t>리포트 </a:t>
            </a:r>
            <a:r>
              <a:rPr lang="en-US" altLang="ko-KR" dirty="0"/>
              <a:t>+ </a:t>
            </a:r>
            <a:r>
              <a:rPr lang="ko-KR" altLang="en-US" dirty="0"/>
              <a:t>스크린샷 </a:t>
            </a:r>
            <a:r>
              <a:rPr lang="ko-KR" altLang="en-US" dirty="0" err="1"/>
              <a:t>아티팩트</a:t>
            </a:r>
            <a:r>
              <a:rPr lang="ko-KR" altLang="en-US" dirty="0"/>
              <a:t> 업로드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ko-KR" altLang="en-US" dirty="0"/>
          </a:p>
          <a:p>
            <a:pPr>
              <a:lnSpc>
                <a:spcPct val="150000"/>
              </a:lnSpc>
            </a:pPr>
            <a:r>
              <a:rPr lang="ko-KR" altLang="en-US" b="1" dirty="0"/>
              <a:t>○ 트리거 조건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	Pull Request : </a:t>
            </a:r>
            <a:r>
              <a:rPr lang="ko-KR" altLang="en-US" dirty="0"/>
              <a:t> </a:t>
            </a:r>
            <a:r>
              <a:rPr lang="ko-KR" altLang="en-US" dirty="0" err="1"/>
              <a:t>스모크</a:t>
            </a:r>
            <a:r>
              <a:rPr lang="ko-KR" altLang="en-US" dirty="0"/>
              <a:t> 테스트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	main </a:t>
            </a:r>
            <a:r>
              <a:rPr lang="ko-KR" altLang="en-US" b="1" dirty="0" err="1"/>
              <a:t>브랜치</a:t>
            </a:r>
            <a:r>
              <a:rPr lang="ko-KR" altLang="en-US" b="1" dirty="0"/>
              <a:t> </a:t>
            </a:r>
            <a:r>
              <a:rPr lang="en-US" altLang="ko-KR" b="1" dirty="0"/>
              <a:t>push : </a:t>
            </a:r>
            <a:r>
              <a:rPr lang="ko-KR" altLang="en-US" dirty="0"/>
              <a:t> 전체 회귀 테스트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255711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9. Issues &amp; Fixes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8585" y="1153901"/>
            <a:ext cx="8226829" cy="4130502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50F911B-7066-1DAA-D6C8-99350E6453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674411"/>
              </p:ext>
            </p:extLst>
          </p:nvPr>
        </p:nvGraphicFramePr>
        <p:xfrm>
          <a:off x="458585" y="2389473"/>
          <a:ext cx="8229600" cy="3657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2440978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97059448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904675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/>
                        <a:t>문제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/>
                        <a:t>원인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/>
                        <a:t>해결책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238672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3D035AF-8093-A8FF-BFED-847C575202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1855682"/>
              </p:ext>
            </p:extLst>
          </p:nvPr>
        </p:nvGraphicFramePr>
        <p:xfrm>
          <a:off x="455814" y="2798858"/>
          <a:ext cx="8229600" cy="3657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85487916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2755634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4804246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From .app</a:t>
                      </a:r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오타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950902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409624D-7D8F-BB84-5C2A-C6C1CBB462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7060001"/>
              </p:ext>
            </p:extLst>
          </p:nvPr>
        </p:nvGraphicFramePr>
        <p:xfrm>
          <a:off x="455814" y="3472404"/>
          <a:ext cx="8229600" cy="3657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73650741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10225639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5273685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로그인 문제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app.py</a:t>
                      </a:r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4698054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87E7C4E2-F6B2-9712-7E04-0A8BDA16D9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683949"/>
              </p:ext>
            </p:extLst>
          </p:nvPr>
        </p:nvGraphicFramePr>
        <p:xfrm>
          <a:off x="457200" y="4145950"/>
          <a:ext cx="7607618" cy="464017"/>
        </p:xfrm>
        <a:graphic>
          <a:graphicData uri="http://schemas.openxmlformats.org/drawingml/2006/table">
            <a:tbl>
              <a:tblPr/>
              <a:tblGrid>
                <a:gridCol w="2121218">
                  <a:extLst>
                    <a:ext uri="{9D8B030D-6E8A-4147-A177-3AD203B41FA5}">
                      <a16:colId xmlns:a16="http://schemas.microsoft.com/office/drawing/2014/main" val="34399137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576994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401859943"/>
                    </a:ext>
                  </a:extLst>
                </a:gridCol>
              </a:tblGrid>
              <a:tr h="4640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 err="1"/>
                        <a:t>카트수량문제</a:t>
                      </a:r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9162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461857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10.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결론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및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향후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계획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5280" y="912553"/>
            <a:ext cx="7811193" cy="4158211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8160" y="1095433"/>
            <a:ext cx="7681006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○ 성과</a:t>
            </a:r>
          </a:p>
          <a:p>
            <a:pPr>
              <a:lnSpc>
                <a:spcPct val="150000"/>
              </a:lnSpc>
            </a:pPr>
            <a:r>
              <a:rPr lang="en-US" altLang="ko-KR" dirty="0" err="1">
                <a:latin typeface="+mn-ea"/>
              </a:rPr>
              <a:t>catshop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/>
              <a:t>전 기능을 포함한 </a:t>
            </a:r>
            <a:r>
              <a:rPr lang="ko-KR" altLang="en-US" b="1" dirty="0"/>
              <a:t>완성형 </a:t>
            </a:r>
            <a:r>
              <a:rPr lang="en-US" altLang="ko-KR" b="1" dirty="0"/>
              <a:t>E2E </a:t>
            </a:r>
            <a:r>
              <a:rPr lang="ko-KR" altLang="en-US" b="1" dirty="0"/>
              <a:t>자동화</a:t>
            </a:r>
            <a:r>
              <a:rPr lang="ko-KR" altLang="en-US" dirty="0"/>
              <a:t> 구축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테스트 커버리지 시각화 및 문서화 완료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ko-KR" altLang="en-US" dirty="0"/>
          </a:p>
          <a:p>
            <a:pPr>
              <a:lnSpc>
                <a:spcPct val="150000"/>
              </a:lnSpc>
            </a:pPr>
            <a:r>
              <a:rPr lang="ko-KR" altLang="en-US" b="1" dirty="0"/>
              <a:t>○ 향후 개선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Allure </a:t>
            </a:r>
            <a:r>
              <a:rPr lang="ko-KR" altLang="en-US" dirty="0"/>
              <a:t>기반 리포트 적용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크로스 브라우저 테스트</a:t>
            </a:r>
            <a:r>
              <a:rPr lang="en-US" altLang="ko-KR" dirty="0"/>
              <a:t>(Edge, Firefox)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Nightly </a:t>
            </a:r>
            <a:r>
              <a:rPr lang="ko-KR" altLang="en-US" dirty="0"/>
              <a:t>전체 회귀 스케줄링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736</TotalTime>
  <Words>692</Words>
  <Application>Microsoft Office PowerPoint</Application>
  <PresentationFormat>화면 슬라이드 쇼(4:3)</PresentationFormat>
  <Paragraphs>137</Paragraphs>
  <Slides>23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8" baseType="lpstr">
      <vt:lpstr>HY견고딕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JY</dc:creator>
  <cp:keywords/>
  <dc:description>generated using python-pptx</dc:description>
  <cp:lastModifiedBy>Administrator</cp:lastModifiedBy>
  <cp:revision>44</cp:revision>
  <dcterms:created xsi:type="dcterms:W3CDTF">2013-01-27T09:14:16Z</dcterms:created>
  <dcterms:modified xsi:type="dcterms:W3CDTF">2025-11-29T06:18:37Z</dcterms:modified>
  <cp:category/>
</cp:coreProperties>
</file>