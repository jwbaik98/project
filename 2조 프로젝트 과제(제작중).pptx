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81" r:id="rId2"/>
    <p:sldId id="256" r:id="rId3"/>
    <p:sldId id="257" r:id="rId4"/>
    <p:sldId id="258" r:id="rId5"/>
    <p:sldId id="279" r:id="rId6"/>
    <p:sldId id="259" r:id="rId7"/>
    <p:sldId id="260" r:id="rId8"/>
    <p:sldId id="261" r:id="rId9"/>
    <p:sldId id="262" r:id="rId10"/>
    <p:sldId id="280" r:id="rId11"/>
    <p:sldId id="264" r:id="rId12"/>
    <p:sldId id="265" r:id="rId13"/>
    <p:sldId id="266" r:id="rId14"/>
    <p:sldId id="263" r:id="rId15"/>
    <p:sldId id="267" r:id="rId16"/>
    <p:sldId id="268" r:id="rId17"/>
    <p:sldId id="269" r:id="rId18"/>
    <p:sldId id="270" r:id="rId19"/>
    <p:sldId id="272" r:id="rId20"/>
    <p:sldId id="273" r:id="rId21"/>
    <p:sldId id="275" r:id="rId22"/>
    <p:sldId id="276" r:id="rId23"/>
    <p:sldId id="277" r:id="rId24"/>
    <p:sldId id="278" r:id="rId2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4F81BD"/>
    <a:srgbClr val="E6EEE3"/>
    <a:srgbClr val="95BCF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 snapToObjects="1">
      <p:cViewPr varScale="1">
        <p:scale>
          <a:sx n="68" d="100"/>
          <a:sy n="68" d="100"/>
        </p:scale>
        <p:origin x="1614" y="3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ko-KR"/>
  <c:roundedCorners val="1"/>
  <c:style val="2"/>
  <c:chart>
    <c:title>
      <c:overlay val="0"/>
    </c:title>
    <c:autoTitleDeleted val="0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Results</c:v>
                </c:pt>
              </c:strCache>
            </c:strRef>
          </c:tx>
          <c:cat>
            <c:strRef>
              <c:f>Sheet1!$A$2:$A$3</c:f>
              <c:strCache>
                <c:ptCount val="2"/>
                <c:pt idx="0">
                  <c:v>Pass</c:v>
                </c:pt>
                <c:pt idx="1">
                  <c:v>Fail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28</c:v>
                </c:pt>
                <c:pt idx="1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2E6B-4214-95B7-5E5E63C3603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</c:pieChart>
    </c:plotArea>
    <c:plotVisOnly val="1"/>
    <c:dispBlanksAs val="gap"/>
    <c:showDLblsOverMax val="1"/>
  </c:chart>
  <c:txPr>
    <a:bodyPr/>
    <a:lstStyle/>
    <a:p>
      <a:pPr>
        <a:defRPr sz="1800"/>
      </a:pPr>
      <a:endParaRPr lang="ko-KR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1"/>
  <c:style val="2"/>
  <c:chart>
    <c:title>
      <c:overlay val="0"/>
    </c:title>
    <c:autoTitleDeleted val="0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Cases</c:v>
                </c:pt>
              </c:strCache>
            </c:strRef>
          </c:tx>
          <c:invertIfNegative val="1"/>
          <c:cat>
            <c:strRef>
              <c:f>Sheet1!$A$2:$A$6</c:f>
              <c:strCache>
                <c:ptCount val="5"/>
                <c:pt idx="0">
                  <c:v>Auth</c:v>
                </c:pt>
                <c:pt idx="1">
                  <c:v>Inventory</c:v>
                </c:pt>
                <c:pt idx="2">
                  <c:v>Cart</c:v>
                </c:pt>
                <c:pt idx="3">
                  <c:v>Checkout</c:v>
                </c:pt>
                <c:pt idx="4">
                  <c:v>Menu/Footer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6</c:v>
                </c:pt>
                <c:pt idx="1">
                  <c:v>8</c:v>
                </c:pt>
                <c:pt idx="2">
                  <c:v>5</c:v>
                </c:pt>
                <c:pt idx="3">
                  <c:v>6</c:v>
                </c:pt>
                <c:pt idx="4">
                  <c:v>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10E0-47D3-9CFB-C144942E970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crossAx val="-2068027336"/>
        <c:crosses val="autoZero"/>
        <c:crossBetween val="between"/>
      </c:valAx>
    </c:plotArea>
    <c:plotVisOnly val="1"/>
    <c:dispBlanksAs val="gap"/>
    <c:showDLblsOverMax val="1"/>
  </c:chart>
  <c:txPr>
    <a:bodyPr/>
    <a:lstStyle/>
    <a:p>
      <a:pPr>
        <a:defRPr sz="1800"/>
      </a:pPr>
      <a:endParaRPr lang="ko-KR"/>
    </a:p>
  </c:txPr>
  <c:externalData r:id="rId1">
    <c:autoUpdate val="0"/>
  </c:externalData>
</c:chartSpace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11/29/2025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11/29/2025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11/29/2025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11/29/2025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11/29/2025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11/29/2025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11/29/2025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33D8DF94-25AE-BD02-89DA-5709572D8F5F}"/>
              </a:ext>
            </a:extLst>
          </p:cNvPr>
          <p:cNvSpPr/>
          <p:nvPr userDrawn="1"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chemeClr val="tx2">
              <a:lumMod val="60000"/>
              <a:lumOff val="4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11/29/2025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11/29/2025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11/29/2025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11/29/2025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11/29/2025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4.pn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직선 연결선 3">
            <a:extLst>
              <a:ext uri="{FF2B5EF4-FFF2-40B4-BE49-F238E27FC236}">
                <a16:creationId xmlns:a16="http://schemas.microsoft.com/office/drawing/2014/main" id="{CF691E6F-673E-E79A-545C-5206BEDF69CC}"/>
              </a:ext>
            </a:extLst>
          </p:cNvPr>
          <p:cNvCxnSpPr>
            <a:cxnSpLocks/>
          </p:cNvCxnSpPr>
          <p:nvPr/>
        </p:nvCxnSpPr>
        <p:spPr>
          <a:xfrm>
            <a:off x="372670" y="3893172"/>
            <a:ext cx="7927268" cy="0"/>
          </a:xfrm>
          <a:prstGeom prst="line">
            <a:avLst/>
          </a:prstGeom>
          <a:ln w="31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DBECE118-7D51-63D5-79E3-8454280254E7}"/>
              </a:ext>
            </a:extLst>
          </p:cNvPr>
          <p:cNvSpPr txBox="1"/>
          <p:nvPr/>
        </p:nvSpPr>
        <p:spPr>
          <a:xfrm>
            <a:off x="465221" y="1373833"/>
            <a:ext cx="7792518" cy="243400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5500" b="1" spc="-150" dirty="0">
                <a:solidFill>
                  <a:schemeClr val="bg1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2</a:t>
            </a:r>
            <a:r>
              <a:rPr lang="ko-KR" altLang="en-US" sz="5500" b="1" spc="-150" dirty="0">
                <a:solidFill>
                  <a:schemeClr val="bg1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조 </a:t>
            </a:r>
            <a:r>
              <a:rPr lang="en-US" altLang="ko-KR" sz="5500" b="1" spc="-150" dirty="0">
                <a:solidFill>
                  <a:schemeClr val="bg1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SW </a:t>
            </a:r>
            <a:r>
              <a:rPr lang="ko-KR" altLang="en-US" sz="5500" b="1" spc="-150" dirty="0">
                <a:solidFill>
                  <a:schemeClr val="bg1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테스팅 프로젝트</a:t>
            </a:r>
            <a:endParaRPr lang="en-US" altLang="ko-KR" sz="5500" b="1" spc="-150" dirty="0">
              <a:solidFill>
                <a:schemeClr val="bg1"/>
              </a:solidFill>
              <a:latin typeface="HY견고딕" panose="02030600000101010101" pitchFamily="18" charset="-127"/>
              <a:ea typeface="HY견고딕" panose="02030600000101010101" pitchFamily="18" charset="-127"/>
            </a:endParaRPr>
          </a:p>
          <a:p>
            <a:pPr algn="ctr">
              <a:lnSpc>
                <a:spcPct val="150000"/>
              </a:lnSpc>
            </a:pPr>
            <a:r>
              <a:rPr lang="en-US" altLang="ko-KR" sz="5500" b="1" spc="-150" dirty="0">
                <a:solidFill>
                  <a:schemeClr val="bg1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(</a:t>
            </a:r>
            <a:r>
              <a:rPr lang="en-US" altLang="ko-KR" sz="5500" b="1" spc="-150" dirty="0" err="1">
                <a:solidFill>
                  <a:schemeClr val="bg1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catshop</a:t>
            </a:r>
            <a:r>
              <a:rPr lang="en-US" altLang="ko-KR" sz="5500" b="1" spc="-150" dirty="0">
                <a:solidFill>
                  <a:schemeClr val="bg1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)</a:t>
            </a:r>
            <a:endParaRPr lang="ko-KR" altLang="en-US" sz="5500" spc="-150" dirty="0">
              <a:solidFill>
                <a:schemeClr val="bg1"/>
              </a:solidFill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D709190-4A3F-9DD5-342B-CF3C30F3DC81}"/>
              </a:ext>
            </a:extLst>
          </p:cNvPr>
          <p:cNvSpPr txBox="1"/>
          <p:nvPr/>
        </p:nvSpPr>
        <p:spPr>
          <a:xfrm>
            <a:off x="6696221" y="4224956"/>
            <a:ext cx="2419643" cy="232627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2500" b="1" dirty="0">
                <a:solidFill>
                  <a:schemeClr val="bg1"/>
                </a:solidFill>
                <a:latin typeface="+mj-ea"/>
                <a:ea typeface="+mj-ea"/>
              </a:rPr>
              <a:t>백종우</a:t>
            </a:r>
            <a:r>
              <a:rPr lang="en-US" altLang="ko-KR" sz="2500" b="1" dirty="0">
                <a:solidFill>
                  <a:schemeClr val="bg1"/>
                </a:solidFill>
                <a:latin typeface="+mj-ea"/>
                <a:ea typeface="+mj-ea"/>
              </a:rPr>
              <a:t>(</a:t>
            </a:r>
            <a:r>
              <a:rPr lang="ko-KR" altLang="en-US" sz="2500" b="1" dirty="0">
                <a:solidFill>
                  <a:schemeClr val="bg1"/>
                </a:solidFill>
                <a:latin typeface="+mj-ea"/>
                <a:ea typeface="+mj-ea"/>
              </a:rPr>
              <a:t>조장</a:t>
            </a:r>
            <a:r>
              <a:rPr lang="en-US" altLang="ko-KR" sz="2500" b="1" dirty="0">
                <a:solidFill>
                  <a:schemeClr val="bg1"/>
                </a:solidFill>
                <a:latin typeface="+mj-ea"/>
                <a:ea typeface="+mj-ea"/>
              </a:rPr>
              <a:t>)</a:t>
            </a:r>
          </a:p>
          <a:p>
            <a:pPr>
              <a:lnSpc>
                <a:spcPct val="150000"/>
              </a:lnSpc>
            </a:pPr>
            <a:r>
              <a:rPr lang="ko-KR" altLang="en-US" sz="2500" b="1" dirty="0" err="1">
                <a:solidFill>
                  <a:schemeClr val="bg1"/>
                </a:solidFill>
                <a:latin typeface="+mj-ea"/>
                <a:ea typeface="+mj-ea"/>
              </a:rPr>
              <a:t>박서아</a:t>
            </a:r>
            <a:endParaRPr lang="en-US" altLang="ko-KR" sz="2500" b="1" dirty="0">
              <a:solidFill>
                <a:schemeClr val="bg1"/>
              </a:solidFill>
              <a:latin typeface="+mj-ea"/>
              <a:ea typeface="+mj-ea"/>
            </a:endParaRPr>
          </a:p>
          <a:p>
            <a:pPr>
              <a:lnSpc>
                <a:spcPct val="150000"/>
              </a:lnSpc>
            </a:pPr>
            <a:r>
              <a:rPr lang="ko-KR" altLang="en-US" sz="2500" b="1" dirty="0">
                <a:solidFill>
                  <a:schemeClr val="bg1"/>
                </a:solidFill>
                <a:latin typeface="+mj-ea"/>
                <a:ea typeface="+mj-ea"/>
              </a:rPr>
              <a:t>안재원</a:t>
            </a:r>
            <a:endParaRPr lang="en-US" altLang="ko-KR" sz="2500" b="1" dirty="0">
              <a:solidFill>
                <a:schemeClr val="bg1"/>
              </a:solidFill>
              <a:latin typeface="+mj-ea"/>
              <a:ea typeface="+mj-ea"/>
            </a:endParaRPr>
          </a:p>
          <a:p>
            <a:pPr>
              <a:lnSpc>
                <a:spcPct val="150000"/>
              </a:lnSpc>
            </a:pPr>
            <a:r>
              <a:rPr lang="ko-KR" altLang="en-US" sz="2500" b="1" dirty="0" err="1">
                <a:solidFill>
                  <a:schemeClr val="bg1"/>
                </a:solidFill>
                <a:latin typeface="+mj-ea"/>
                <a:ea typeface="+mj-ea"/>
              </a:rPr>
              <a:t>오예림</a:t>
            </a:r>
            <a:endParaRPr lang="ko-KR" altLang="en-US" sz="2500" b="1" dirty="0">
              <a:solidFill>
                <a:schemeClr val="bg1"/>
              </a:solidFill>
              <a:latin typeface="+mj-ea"/>
              <a:ea typeface="+mj-ea"/>
            </a:endParaRPr>
          </a:p>
        </p:txBody>
      </p:sp>
    </p:spTree>
    <p:extLst>
      <p:ext uri="{BB962C8B-B14F-4D97-AF65-F5344CB8AC3E}">
        <p14:creationId xmlns:p14="http://schemas.microsoft.com/office/powerpoint/2010/main" val="8179922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ounded Rectangle 3">
            <a:extLst>
              <a:ext uri="{FF2B5EF4-FFF2-40B4-BE49-F238E27FC236}">
                <a16:creationId xmlns:a16="http://schemas.microsoft.com/office/drawing/2014/main" id="{B91B532A-E7ED-E6A6-5ED0-8606627AF0D0}"/>
              </a:ext>
            </a:extLst>
          </p:cNvPr>
          <p:cNvSpPr/>
          <p:nvPr/>
        </p:nvSpPr>
        <p:spPr>
          <a:xfrm>
            <a:off x="249382" y="1097280"/>
            <a:ext cx="8765309" cy="4754880"/>
          </a:xfrm>
          <a:prstGeom prst="roundRect">
            <a:avLst/>
          </a:prstGeom>
          <a:solidFill>
            <a:srgbClr val="FFFFFF"/>
          </a:solidFill>
          <a:ln>
            <a:solidFill>
              <a:srgbClr val="F0F0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dirty="0" err="1"/>
              <a:t>SauceDemo</a:t>
            </a:r>
            <a:r>
              <a:rPr dirty="0"/>
              <a:t> E2E Test Automation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280160"/>
            <a:ext cx="10789920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>
                <a:solidFill>
                  <a:srgbClr val="1E1E1E"/>
                </a:solidFill>
              </a:defRPr>
            </a:pPr>
            <a:r>
              <a:rPr lang="en-US" dirty="0" err="1"/>
              <a:t>P</a:t>
            </a:r>
            <a:r>
              <a:rPr dirty="0" err="1"/>
              <a:t>ytest</a:t>
            </a:r>
            <a:r>
              <a:rPr lang="en-US" dirty="0"/>
              <a:t> </a:t>
            </a:r>
            <a:r>
              <a:rPr dirty="0"/>
              <a:t>GitHub Actions</a:t>
            </a:r>
          </a:p>
          <a:p>
            <a:pPr>
              <a:defRPr sz="2000">
                <a:solidFill>
                  <a:srgbClr val="1E1E1E"/>
                </a:solidFill>
              </a:defRPr>
            </a:pPr>
            <a:r>
              <a:rPr dirty="0"/>
              <a:t>Gradient Startup Template (Clean Ver.)</a:t>
            </a:r>
          </a:p>
          <a:p>
            <a:pPr>
              <a:defRPr sz="2000">
                <a:solidFill>
                  <a:srgbClr val="1E1E1E"/>
                </a:solidFill>
              </a:defRPr>
            </a:pPr>
            <a:r>
              <a:rPr dirty="0"/>
              <a:t>Actual UI + Test Case Based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ounded Rectangle 3">
            <a:extLst>
              <a:ext uri="{FF2B5EF4-FFF2-40B4-BE49-F238E27FC236}">
                <a16:creationId xmlns:a16="http://schemas.microsoft.com/office/drawing/2014/main" id="{CC487CF8-9867-B0EE-5351-F288988E2301}"/>
              </a:ext>
            </a:extLst>
          </p:cNvPr>
          <p:cNvSpPr/>
          <p:nvPr/>
        </p:nvSpPr>
        <p:spPr>
          <a:xfrm>
            <a:off x="249382" y="1097280"/>
            <a:ext cx="8765309" cy="4754880"/>
          </a:xfrm>
          <a:prstGeom prst="roundRect">
            <a:avLst/>
          </a:prstGeom>
          <a:solidFill>
            <a:srgbClr val="FFFFFF"/>
          </a:solidFill>
          <a:ln>
            <a:solidFill>
              <a:srgbClr val="F0F0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274320"/>
            <a:ext cx="2149948" cy="4001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 dirty="0">
                <a:latin typeface="HY견고딕" panose="02030600000101010101" pitchFamily="18" charset="-127"/>
                <a:ea typeface="HY견고딕" panose="02030600000101010101" pitchFamily="18" charset="-127"/>
              </a:rPr>
              <a:t>1. </a:t>
            </a:r>
            <a:r>
              <a:rPr sz="2000" b="1" dirty="0" err="1">
                <a:latin typeface="HY견고딕" panose="02030600000101010101" pitchFamily="18" charset="-127"/>
                <a:ea typeface="HY견고딕" panose="02030600000101010101" pitchFamily="18" charset="-127"/>
              </a:rPr>
              <a:t>프로젝트</a:t>
            </a:r>
            <a:r>
              <a:rPr sz="2000" b="1" dirty="0">
                <a:latin typeface="HY견고딕" panose="02030600000101010101" pitchFamily="18" charset="-127"/>
                <a:ea typeface="HY견고딕" panose="02030600000101010101" pitchFamily="18" charset="-127"/>
              </a:rPr>
              <a:t> </a:t>
            </a:r>
            <a:r>
              <a:rPr sz="2000" b="1" dirty="0" err="1">
                <a:latin typeface="HY견고딕" panose="02030600000101010101" pitchFamily="18" charset="-127"/>
                <a:ea typeface="HY견고딕" panose="02030600000101010101" pitchFamily="18" charset="-127"/>
              </a:rPr>
              <a:t>개요</a:t>
            </a:r>
            <a:endParaRPr sz="2000" b="1" dirty="0"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822960" y="1280160"/>
            <a:ext cx="10789920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b="1" dirty="0">
                <a:latin typeface="+mj-ea"/>
                <a:ea typeface="+mj-ea"/>
              </a:rPr>
              <a:t>□ 대상 사이트</a:t>
            </a:r>
            <a:r>
              <a:rPr lang="en-US" altLang="ko-KR" b="1" dirty="0">
                <a:latin typeface="+mj-ea"/>
                <a:ea typeface="+mj-ea"/>
              </a:rPr>
              <a:t>:</a:t>
            </a:r>
            <a:r>
              <a:rPr lang="ko-KR" altLang="en-US" dirty="0">
                <a:latin typeface="+mj-ea"/>
                <a:ea typeface="+mj-ea"/>
              </a:rPr>
              <a:t> </a:t>
            </a:r>
            <a:r>
              <a:rPr lang="en-US" altLang="ko-KR" dirty="0" err="1">
                <a:latin typeface="+mj-ea"/>
                <a:ea typeface="+mj-ea"/>
              </a:rPr>
              <a:t>catshop</a:t>
            </a:r>
            <a:r>
              <a:rPr lang="en-US" altLang="ko-KR" dirty="0">
                <a:latin typeface="+mj-ea"/>
                <a:ea typeface="+mj-ea"/>
              </a:rPr>
              <a:t>(local)</a:t>
            </a:r>
          </a:p>
          <a:p>
            <a:endParaRPr lang="en-US" altLang="ko-KR" b="1" dirty="0">
              <a:latin typeface="+mj-ea"/>
              <a:ea typeface="+mj-ea"/>
            </a:endParaRPr>
          </a:p>
          <a:p>
            <a:endParaRPr lang="en-US" altLang="ko-KR" b="1" dirty="0">
              <a:latin typeface="+mj-ea"/>
              <a:ea typeface="+mj-ea"/>
            </a:endParaRPr>
          </a:p>
          <a:p>
            <a:r>
              <a:rPr lang="ko-KR" altLang="en-US" b="1" dirty="0">
                <a:latin typeface="+mj-ea"/>
                <a:ea typeface="+mj-ea"/>
              </a:rPr>
              <a:t>□ 프로젝트 목표</a:t>
            </a:r>
            <a:r>
              <a:rPr lang="en-US" altLang="ko-KR" b="1" dirty="0">
                <a:latin typeface="+mj-ea"/>
                <a:ea typeface="+mj-ea"/>
              </a:rPr>
              <a:t>:</a:t>
            </a:r>
            <a:r>
              <a:rPr lang="ko-KR" altLang="en-US" dirty="0">
                <a:latin typeface="+mj-ea"/>
                <a:ea typeface="+mj-ea"/>
              </a:rPr>
              <a:t> 실무 수준의 </a:t>
            </a:r>
            <a:r>
              <a:rPr lang="en-US" altLang="ko-KR" dirty="0">
                <a:latin typeface="+mj-ea"/>
                <a:ea typeface="+mj-ea"/>
              </a:rPr>
              <a:t>E2E </a:t>
            </a:r>
            <a:r>
              <a:rPr lang="ko-KR" altLang="en-US" dirty="0">
                <a:latin typeface="+mj-ea"/>
                <a:ea typeface="+mj-ea"/>
              </a:rPr>
              <a:t>자동화 테스트 구축</a:t>
            </a:r>
          </a:p>
          <a:p>
            <a:endParaRPr lang="en-US" altLang="ko-KR" b="1" dirty="0">
              <a:latin typeface="+mj-ea"/>
              <a:ea typeface="+mj-ea"/>
            </a:endParaRPr>
          </a:p>
          <a:p>
            <a:endParaRPr lang="en-US" altLang="ko-KR" b="1" dirty="0">
              <a:latin typeface="+mj-ea"/>
              <a:ea typeface="+mj-ea"/>
            </a:endParaRPr>
          </a:p>
          <a:p>
            <a:r>
              <a:rPr lang="ko-KR" altLang="en-US" b="1" dirty="0">
                <a:latin typeface="+mj-ea"/>
                <a:ea typeface="+mj-ea"/>
              </a:rPr>
              <a:t>□ 산출물</a:t>
            </a:r>
            <a:r>
              <a:rPr lang="en-US" altLang="ko-KR" b="1" dirty="0">
                <a:latin typeface="+mj-ea"/>
                <a:ea typeface="+mj-ea"/>
              </a:rPr>
              <a:t>:</a:t>
            </a:r>
            <a:r>
              <a:rPr lang="ko-KR" altLang="en-US" dirty="0">
                <a:latin typeface="+mj-ea"/>
                <a:ea typeface="+mj-ea"/>
              </a:rPr>
              <a:t> 테스트 스위트</a:t>
            </a:r>
            <a:r>
              <a:rPr lang="en-US" altLang="ko-KR" dirty="0">
                <a:latin typeface="+mj-ea"/>
                <a:ea typeface="+mj-ea"/>
              </a:rPr>
              <a:t>(</a:t>
            </a:r>
            <a:r>
              <a:rPr lang="en-US" altLang="ko-KR" dirty="0" err="1">
                <a:latin typeface="+mj-ea"/>
                <a:ea typeface="+mj-ea"/>
              </a:rPr>
              <a:t>pytest</a:t>
            </a:r>
            <a:r>
              <a:rPr lang="en-US" altLang="ko-KR" dirty="0">
                <a:latin typeface="+mj-ea"/>
                <a:ea typeface="+mj-ea"/>
              </a:rPr>
              <a:t> + Selenium), CI </a:t>
            </a:r>
            <a:r>
              <a:rPr lang="ko-KR" altLang="en-US" dirty="0">
                <a:latin typeface="+mj-ea"/>
                <a:ea typeface="+mj-ea"/>
              </a:rPr>
              <a:t>파이프라인</a:t>
            </a:r>
            <a:r>
              <a:rPr lang="en-US" altLang="ko-KR" dirty="0">
                <a:latin typeface="+mj-ea"/>
                <a:ea typeface="+mj-ea"/>
              </a:rPr>
              <a:t>, </a:t>
            </a:r>
            <a:r>
              <a:rPr lang="ko-KR" altLang="en-US" dirty="0">
                <a:latin typeface="+mj-ea"/>
                <a:ea typeface="+mj-ea"/>
              </a:rPr>
              <a:t>테스트 리포트</a:t>
            </a:r>
          </a:p>
          <a:p>
            <a:endParaRPr lang="en-US" altLang="ko-KR" b="1" dirty="0">
              <a:latin typeface="+mj-ea"/>
              <a:ea typeface="+mj-ea"/>
            </a:endParaRPr>
          </a:p>
          <a:p>
            <a:endParaRPr lang="en-US" altLang="ko-KR" b="1" dirty="0">
              <a:latin typeface="+mj-ea"/>
              <a:ea typeface="+mj-ea"/>
            </a:endParaRPr>
          </a:p>
          <a:p>
            <a:r>
              <a:rPr lang="ko-KR" altLang="en-US" b="1" dirty="0">
                <a:latin typeface="+mj-ea"/>
                <a:ea typeface="+mj-ea"/>
              </a:rPr>
              <a:t>□ 프로젝트 기간</a:t>
            </a:r>
            <a:r>
              <a:rPr lang="en-US" altLang="ko-KR" b="1" dirty="0">
                <a:latin typeface="+mj-ea"/>
                <a:ea typeface="+mj-ea"/>
              </a:rPr>
              <a:t>:</a:t>
            </a:r>
            <a:r>
              <a:rPr lang="ko-KR" altLang="en-US" dirty="0">
                <a:latin typeface="+mj-ea"/>
                <a:ea typeface="+mj-ea"/>
              </a:rPr>
              <a:t> </a:t>
            </a:r>
            <a:r>
              <a:rPr lang="en-US" altLang="ko-KR" dirty="0">
                <a:latin typeface="+mj-ea"/>
                <a:ea typeface="+mj-ea"/>
              </a:rPr>
              <a:t>2</a:t>
            </a:r>
            <a:r>
              <a:rPr lang="ko-KR" altLang="en-US" dirty="0">
                <a:latin typeface="+mj-ea"/>
                <a:ea typeface="+mj-ea"/>
              </a:rPr>
              <a:t>주 팀 프로젝트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ounded Rectangle 3">
            <a:extLst>
              <a:ext uri="{FF2B5EF4-FFF2-40B4-BE49-F238E27FC236}">
                <a16:creationId xmlns:a16="http://schemas.microsoft.com/office/drawing/2014/main" id="{1562C942-5DE9-CCF1-D516-02CABC7086EF}"/>
              </a:ext>
            </a:extLst>
          </p:cNvPr>
          <p:cNvSpPr/>
          <p:nvPr/>
        </p:nvSpPr>
        <p:spPr>
          <a:xfrm>
            <a:off x="249382" y="1097280"/>
            <a:ext cx="8765309" cy="4754880"/>
          </a:xfrm>
          <a:prstGeom prst="roundRect">
            <a:avLst/>
          </a:prstGeom>
          <a:solidFill>
            <a:srgbClr val="FFFFFF"/>
          </a:solidFill>
          <a:ln>
            <a:solidFill>
              <a:srgbClr val="F0F0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274320"/>
            <a:ext cx="4373313" cy="4001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 dirty="0">
                <a:latin typeface="HY견고딕" panose="02030600000101010101" pitchFamily="18" charset="-127"/>
                <a:ea typeface="HY견고딕" panose="02030600000101010101" pitchFamily="18" charset="-127"/>
              </a:rPr>
              <a:t>2. 팀 </a:t>
            </a:r>
            <a:r>
              <a:rPr sz="2000" b="1" dirty="0" err="1">
                <a:latin typeface="HY견고딕" panose="02030600000101010101" pitchFamily="18" charset="-127"/>
                <a:ea typeface="HY견고딕" panose="02030600000101010101" pitchFamily="18" charset="-127"/>
              </a:rPr>
              <a:t>구성</a:t>
            </a:r>
            <a:r>
              <a:rPr sz="2000" b="1" dirty="0">
                <a:latin typeface="HY견고딕" panose="02030600000101010101" pitchFamily="18" charset="-127"/>
                <a:ea typeface="HY견고딕" panose="02030600000101010101" pitchFamily="18" charset="-127"/>
              </a:rPr>
              <a:t> 및 </a:t>
            </a:r>
            <a:r>
              <a:rPr sz="2000" b="1" dirty="0" err="1">
                <a:latin typeface="HY견고딕" panose="02030600000101010101" pitchFamily="18" charset="-127"/>
                <a:ea typeface="HY견고딕" panose="02030600000101010101" pitchFamily="18" charset="-127"/>
              </a:rPr>
              <a:t>역할</a:t>
            </a:r>
            <a:r>
              <a:rPr sz="2000" b="1" dirty="0">
                <a:latin typeface="HY견고딕" panose="02030600000101010101" pitchFamily="18" charset="-127"/>
                <a:ea typeface="HY견고딕" panose="02030600000101010101" pitchFamily="18" charset="-127"/>
              </a:rPr>
              <a:t> (Team Project)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280160"/>
            <a:ext cx="10789920" cy="46176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b="1" dirty="0"/>
              <a:t>□ 팀장 </a:t>
            </a:r>
            <a:r>
              <a:rPr lang="en-US" altLang="ko-KR" b="1" dirty="0"/>
              <a:t>(Team Lead)</a:t>
            </a:r>
          </a:p>
          <a:p>
            <a:pPr>
              <a:lnSpc>
                <a:spcPct val="150000"/>
              </a:lnSpc>
            </a:pPr>
            <a:r>
              <a:rPr lang="en-US" altLang="ko-KR" dirty="0"/>
              <a:t>   </a:t>
            </a:r>
            <a:r>
              <a:rPr lang="ko-KR" altLang="en-US" dirty="0"/>
              <a:t>전체 일정 관리</a:t>
            </a:r>
          </a:p>
          <a:p>
            <a:pPr>
              <a:lnSpc>
                <a:spcPct val="150000"/>
              </a:lnSpc>
            </a:pPr>
            <a:r>
              <a:rPr lang="ko-KR" altLang="en-US" dirty="0"/>
              <a:t>   테스트 아키텍처 및 통합</a:t>
            </a:r>
          </a:p>
          <a:p>
            <a:pPr>
              <a:lnSpc>
                <a:spcPct val="150000"/>
              </a:lnSpc>
            </a:pPr>
            <a:r>
              <a:rPr lang="en-US" altLang="ko-KR" dirty="0"/>
              <a:t>   CI </a:t>
            </a:r>
            <a:r>
              <a:rPr lang="ko-KR" altLang="en-US" dirty="0"/>
              <a:t>파이프라인 구축 및 운영</a:t>
            </a:r>
          </a:p>
          <a:p>
            <a:pPr>
              <a:lnSpc>
                <a:spcPct val="150000"/>
              </a:lnSpc>
            </a:pPr>
            <a:r>
              <a:rPr lang="ko-KR" altLang="en-US" dirty="0"/>
              <a:t>   최종 품질 검토</a:t>
            </a:r>
            <a:endParaRPr lang="en-US" altLang="ko-KR" dirty="0"/>
          </a:p>
          <a:p>
            <a:endParaRPr lang="ko-KR" altLang="en-US" dirty="0"/>
          </a:p>
          <a:p>
            <a:pPr>
              <a:lnSpc>
                <a:spcPct val="150000"/>
              </a:lnSpc>
            </a:pPr>
            <a:r>
              <a:rPr lang="ko-KR" altLang="en-US" b="1" dirty="0"/>
              <a:t>□ 팀원 </a:t>
            </a:r>
            <a:r>
              <a:rPr lang="en-US" altLang="ko-KR" b="1" dirty="0"/>
              <a:t>(Team Members)</a:t>
            </a:r>
          </a:p>
          <a:p>
            <a:pPr>
              <a:lnSpc>
                <a:spcPct val="150000"/>
              </a:lnSpc>
            </a:pPr>
            <a:r>
              <a:rPr lang="en-US" altLang="ko-KR" b="1" dirty="0"/>
              <a:t>   QA1:</a:t>
            </a:r>
            <a:r>
              <a:rPr lang="ko-KR" altLang="en-US" dirty="0"/>
              <a:t> 테스트 케이스 설계</a:t>
            </a:r>
            <a:r>
              <a:rPr lang="en-US" altLang="ko-KR" dirty="0"/>
              <a:t>, </a:t>
            </a:r>
            <a:r>
              <a:rPr lang="ko-KR" altLang="en-US" dirty="0"/>
              <a:t>커버리지 매핑</a:t>
            </a:r>
          </a:p>
          <a:p>
            <a:pPr>
              <a:lnSpc>
                <a:spcPct val="150000"/>
              </a:lnSpc>
            </a:pPr>
            <a:r>
              <a:rPr lang="en-US" altLang="ko-KR" b="1" dirty="0"/>
              <a:t>   QA2:</a:t>
            </a:r>
            <a:r>
              <a:rPr lang="ko-KR" altLang="en-US" dirty="0"/>
              <a:t> </a:t>
            </a:r>
            <a:r>
              <a:rPr lang="en-US" altLang="ko-KR" dirty="0"/>
              <a:t>Page Object Model(POM) </a:t>
            </a:r>
            <a:r>
              <a:rPr lang="ko-KR" altLang="en-US" dirty="0"/>
              <a:t>페이지 개발</a:t>
            </a:r>
          </a:p>
          <a:p>
            <a:pPr>
              <a:lnSpc>
                <a:spcPct val="150000"/>
              </a:lnSpc>
            </a:pPr>
            <a:r>
              <a:rPr lang="en-US" altLang="ko-KR" b="1" dirty="0"/>
              <a:t>   QA3:</a:t>
            </a:r>
            <a:r>
              <a:rPr lang="ko-KR" altLang="en-US" dirty="0"/>
              <a:t> 테스트 스크립트 구현</a:t>
            </a:r>
            <a:r>
              <a:rPr lang="en-US" altLang="ko-KR" dirty="0"/>
              <a:t>, </a:t>
            </a:r>
            <a:r>
              <a:rPr lang="ko-KR" altLang="en-US" dirty="0"/>
              <a:t>예외</a:t>
            </a:r>
            <a:r>
              <a:rPr lang="en-US" altLang="ko-KR" dirty="0"/>
              <a:t>·</a:t>
            </a:r>
            <a:r>
              <a:rPr lang="ko-KR" altLang="en-US" dirty="0"/>
              <a:t>실패 케이스 처리</a:t>
            </a:r>
          </a:p>
          <a:p>
            <a:pPr>
              <a:lnSpc>
                <a:spcPct val="150000"/>
              </a:lnSpc>
            </a:pPr>
            <a:r>
              <a:rPr lang="en-US" altLang="ko-KR" b="1" dirty="0"/>
              <a:t>   QA4:</a:t>
            </a:r>
            <a:r>
              <a:rPr lang="ko-KR" altLang="en-US" dirty="0"/>
              <a:t> 결과 분석</a:t>
            </a:r>
            <a:r>
              <a:rPr lang="en-US" altLang="ko-KR" dirty="0"/>
              <a:t>, </a:t>
            </a:r>
            <a:r>
              <a:rPr lang="ko-KR" altLang="en-US" dirty="0"/>
              <a:t>보고서 및 발표 자료 제작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7E5E5C-48C6-7B1F-281B-070F8F8361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2551EC81-B8E6-FE22-9FCC-CC771D21B5DC}"/>
              </a:ext>
            </a:extLst>
          </p:cNvPr>
          <p:cNvSpPr txBox="1"/>
          <p:nvPr/>
        </p:nvSpPr>
        <p:spPr>
          <a:xfrm>
            <a:off x="640080" y="274320"/>
            <a:ext cx="3421129" cy="4001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 dirty="0">
                <a:latin typeface="HY견고딕" panose="02030600000101010101" pitchFamily="18" charset="-127"/>
                <a:ea typeface="HY견고딕" panose="02030600000101010101" pitchFamily="18" charset="-127"/>
              </a:rPr>
              <a:t>3. </a:t>
            </a:r>
            <a:r>
              <a:rPr sz="2000" b="1" dirty="0" err="1">
                <a:latin typeface="HY견고딕" panose="02030600000101010101" pitchFamily="18" charset="-127"/>
                <a:ea typeface="HY견고딕" panose="02030600000101010101" pitchFamily="18" charset="-127"/>
              </a:rPr>
              <a:t>테스트</a:t>
            </a:r>
            <a:r>
              <a:rPr sz="2000" b="1" dirty="0">
                <a:latin typeface="HY견고딕" panose="02030600000101010101" pitchFamily="18" charset="-127"/>
                <a:ea typeface="HY견고딕" panose="02030600000101010101" pitchFamily="18" charset="-127"/>
              </a:rPr>
              <a:t> </a:t>
            </a:r>
            <a:r>
              <a:rPr sz="2000" b="1" dirty="0" err="1">
                <a:latin typeface="HY견고딕" panose="02030600000101010101" pitchFamily="18" charset="-127"/>
                <a:ea typeface="HY견고딕" panose="02030600000101010101" pitchFamily="18" charset="-127"/>
              </a:rPr>
              <a:t>범위</a:t>
            </a:r>
            <a:r>
              <a:rPr sz="2000" b="1" dirty="0">
                <a:latin typeface="HY견고딕" panose="02030600000101010101" pitchFamily="18" charset="-127"/>
                <a:ea typeface="HY견고딕" panose="02030600000101010101" pitchFamily="18" charset="-127"/>
              </a:rPr>
              <a:t> (In Scope)</a:t>
            </a:r>
          </a:p>
        </p:txBody>
      </p:sp>
      <p:sp>
        <p:nvSpPr>
          <p:cNvPr id="6" name="Rounded Rectangle 3">
            <a:extLst>
              <a:ext uri="{FF2B5EF4-FFF2-40B4-BE49-F238E27FC236}">
                <a16:creationId xmlns:a16="http://schemas.microsoft.com/office/drawing/2014/main" id="{D786B61F-F921-0909-0B30-933B95B69892}"/>
              </a:ext>
            </a:extLst>
          </p:cNvPr>
          <p:cNvSpPr/>
          <p:nvPr/>
        </p:nvSpPr>
        <p:spPr>
          <a:xfrm>
            <a:off x="249382" y="1097280"/>
            <a:ext cx="8765309" cy="4754880"/>
          </a:xfrm>
          <a:prstGeom prst="roundRect">
            <a:avLst/>
          </a:prstGeom>
          <a:solidFill>
            <a:srgbClr val="FFFFFF"/>
          </a:solidFill>
          <a:ln>
            <a:solidFill>
              <a:srgbClr val="F0F0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012DA42-FA05-E286-3EA3-644C724F4CC4}"/>
              </a:ext>
            </a:extLst>
          </p:cNvPr>
          <p:cNvSpPr txBox="1"/>
          <p:nvPr/>
        </p:nvSpPr>
        <p:spPr>
          <a:xfrm>
            <a:off x="1062182" y="1280160"/>
            <a:ext cx="7370618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AutoNum type="alphaUcPeriod"/>
            </a:pPr>
            <a:r>
              <a:rPr lang="ko-KR" altLang="en-US" b="1" dirty="0"/>
              <a:t>베이스</a:t>
            </a:r>
            <a:r>
              <a:rPr lang="en-US" altLang="ko-KR" b="1" dirty="0"/>
              <a:t>(base)</a:t>
            </a:r>
          </a:p>
          <a:p>
            <a:r>
              <a:rPr lang="ko-KR" altLang="en-US" dirty="0"/>
              <a:t>메뉴</a:t>
            </a:r>
            <a:r>
              <a:rPr lang="en-US" altLang="ko-KR" dirty="0"/>
              <a:t>(Home, Cart(0), Login, Sing Up)</a:t>
            </a:r>
          </a:p>
          <a:p>
            <a:r>
              <a:rPr lang="ko-KR" altLang="en-US" dirty="0"/>
              <a:t>사용자 </a:t>
            </a:r>
            <a:r>
              <a:rPr lang="ko-KR" altLang="en-US" dirty="0" err="1"/>
              <a:t>상태창</a:t>
            </a:r>
            <a:r>
              <a:rPr lang="en-US" altLang="ko-KR" dirty="0"/>
              <a:t>(</a:t>
            </a:r>
            <a:r>
              <a:rPr lang="ko-KR" altLang="en-US" dirty="0"/>
              <a:t>집사</a:t>
            </a:r>
            <a:r>
              <a:rPr lang="en-US" altLang="ko-KR" dirty="0"/>
              <a:t>, username)</a:t>
            </a:r>
          </a:p>
          <a:p>
            <a:r>
              <a:rPr lang="ko-KR" altLang="en-US" dirty="0"/>
              <a:t>로그아웃 버튼</a:t>
            </a:r>
            <a:endParaRPr lang="en-US" altLang="ko-KR" dirty="0"/>
          </a:p>
          <a:p>
            <a:endParaRPr lang="en-US" altLang="ko-KR" b="1" dirty="0"/>
          </a:p>
          <a:p>
            <a:pPr marL="342900" indent="-342900">
              <a:buAutoNum type="alphaUcPeriod" startAt="2"/>
            </a:pPr>
            <a:r>
              <a:rPr lang="ko-KR" altLang="en-US" b="1" dirty="0"/>
              <a:t>인덱스</a:t>
            </a:r>
            <a:r>
              <a:rPr lang="en-US" altLang="ko-KR" b="1" dirty="0"/>
              <a:t>(index)</a:t>
            </a:r>
          </a:p>
          <a:p>
            <a:r>
              <a:rPr lang="ko-KR" altLang="en-US" dirty="0"/>
              <a:t>상품</a:t>
            </a:r>
            <a:r>
              <a:rPr lang="en-US" altLang="ko-KR" dirty="0"/>
              <a:t> </a:t>
            </a:r>
            <a:r>
              <a:rPr lang="ko-KR" altLang="en-US" dirty="0"/>
              <a:t>목록</a:t>
            </a:r>
            <a:endParaRPr lang="en-US" altLang="ko-KR" dirty="0"/>
          </a:p>
          <a:p>
            <a:r>
              <a:rPr lang="ko-KR" altLang="en-US" dirty="0"/>
              <a:t>장바구니 추가</a:t>
            </a:r>
            <a:r>
              <a:rPr lang="en-US" altLang="ko-KR" dirty="0"/>
              <a:t>/</a:t>
            </a:r>
            <a:r>
              <a:rPr lang="ko-KR" altLang="en-US" dirty="0"/>
              <a:t>제거 버튼</a:t>
            </a:r>
          </a:p>
          <a:p>
            <a:endParaRPr lang="en-US" altLang="ko-KR" b="1" dirty="0"/>
          </a:p>
          <a:p>
            <a:r>
              <a:rPr lang="en-US" altLang="ko-KR" b="1" dirty="0"/>
              <a:t>C. </a:t>
            </a:r>
            <a:r>
              <a:rPr lang="ko-KR" altLang="en-US" b="1" dirty="0"/>
              <a:t>상품 상세페이지</a:t>
            </a:r>
            <a:r>
              <a:rPr lang="en-US" altLang="ko-KR" b="1" dirty="0"/>
              <a:t>(</a:t>
            </a:r>
            <a:r>
              <a:rPr lang="en-US" altLang="ko-KR" b="1" dirty="0" err="1"/>
              <a:t>product_detail</a:t>
            </a:r>
            <a:r>
              <a:rPr lang="en-US" altLang="ko-KR" b="1" dirty="0"/>
              <a:t>)</a:t>
            </a:r>
          </a:p>
          <a:p>
            <a:r>
              <a:rPr lang="en-US" altLang="ko-KR" dirty="0"/>
              <a:t> </a:t>
            </a:r>
            <a:r>
              <a:rPr lang="ko-KR" altLang="en-US" dirty="0"/>
              <a:t>단일상품의 상세정보</a:t>
            </a:r>
            <a:endParaRPr lang="en-US" altLang="ko-KR" dirty="0"/>
          </a:p>
          <a:p>
            <a:r>
              <a:rPr lang="en-US" altLang="ko-KR" dirty="0"/>
              <a:t> </a:t>
            </a:r>
            <a:r>
              <a:rPr lang="ko-KR" altLang="en-US" dirty="0"/>
              <a:t>장바구니 버튼</a:t>
            </a:r>
            <a:endParaRPr lang="en-US" altLang="ko-KR" dirty="0"/>
          </a:p>
          <a:p>
            <a:endParaRPr lang="en-US" altLang="ko-KR" dirty="0"/>
          </a:p>
          <a:p>
            <a:r>
              <a:rPr lang="en-US" altLang="ko-KR" b="1" dirty="0"/>
              <a:t>D. </a:t>
            </a:r>
            <a:r>
              <a:rPr lang="ko-KR" altLang="en-US" b="1" dirty="0"/>
              <a:t>장바구니페이지</a:t>
            </a:r>
            <a:r>
              <a:rPr lang="en-US" altLang="ko-KR" b="1" dirty="0"/>
              <a:t>(cart)</a:t>
            </a:r>
          </a:p>
          <a:p>
            <a:r>
              <a:rPr lang="ko-KR" altLang="en-US" dirty="0"/>
              <a:t> 장바구니에 담긴 상품 목록 및 합계 표시</a:t>
            </a:r>
            <a:endParaRPr lang="en-US" altLang="ko-KR" dirty="0"/>
          </a:p>
          <a:p>
            <a:r>
              <a:rPr lang="en-US" altLang="ko-KR" dirty="0"/>
              <a:t> </a:t>
            </a:r>
            <a:r>
              <a:rPr lang="ko-KR" altLang="en-US" dirty="0"/>
              <a:t>제거</a:t>
            </a:r>
            <a:r>
              <a:rPr lang="en-US" altLang="ko-KR" dirty="0"/>
              <a:t>, </a:t>
            </a:r>
            <a:r>
              <a:rPr lang="ko-KR" altLang="en-US" dirty="0" err="1"/>
              <a:t>쇼핑계속하기</a:t>
            </a:r>
            <a:r>
              <a:rPr lang="en-US" altLang="ko-KR" dirty="0"/>
              <a:t>, </a:t>
            </a:r>
            <a:r>
              <a:rPr lang="ko-KR" altLang="en-US" dirty="0"/>
              <a:t>결제 버튼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17101281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640080" y="274320"/>
            <a:ext cx="3361818" cy="4001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 dirty="0">
                <a:latin typeface="HY견고딕" panose="02030600000101010101" pitchFamily="18" charset="-127"/>
                <a:ea typeface="HY견고딕" panose="02030600000101010101" pitchFamily="18" charset="-127"/>
              </a:rPr>
              <a:t>3. </a:t>
            </a:r>
            <a:r>
              <a:rPr sz="2000" b="1" dirty="0" err="1">
                <a:latin typeface="HY견고딕" panose="02030600000101010101" pitchFamily="18" charset="-127"/>
                <a:ea typeface="HY견고딕" panose="02030600000101010101" pitchFamily="18" charset="-127"/>
              </a:rPr>
              <a:t>테스트</a:t>
            </a:r>
            <a:r>
              <a:rPr sz="2000" b="1" dirty="0">
                <a:latin typeface="HY견고딕" panose="02030600000101010101" pitchFamily="18" charset="-127"/>
                <a:ea typeface="HY견고딕" panose="02030600000101010101" pitchFamily="18" charset="-127"/>
              </a:rPr>
              <a:t> </a:t>
            </a:r>
            <a:r>
              <a:rPr sz="2000" b="1" dirty="0" err="1">
                <a:latin typeface="HY견고딕" panose="02030600000101010101" pitchFamily="18" charset="-127"/>
                <a:ea typeface="HY견고딕" panose="02030600000101010101" pitchFamily="18" charset="-127"/>
              </a:rPr>
              <a:t>범위</a:t>
            </a:r>
            <a:r>
              <a:rPr sz="2000" b="1" dirty="0">
                <a:latin typeface="HY견고딕" panose="02030600000101010101" pitchFamily="18" charset="-127"/>
                <a:ea typeface="HY견고딕" panose="02030600000101010101" pitchFamily="18" charset="-127"/>
              </a:rPr>
              <a:t> (In Scope)</a:t>
            </a:r>
          </a:p>
        </p:txBody>
      </p:sp>
      <p:sp>
        <p:nvSpPr>
          <p:cNvPr id="6" name="Rounded Rectangle 3">
            <a:extLst>
              <a:ext uri="{FF2B5EF4-FFF2-40B4-BE49-F238E27FC236}">
                <a16:creationId xmlns:a16="http://schemas.microsoft.com/office/drawing/2014/main" id="{D21EF948-79CA-2E9E-638A-50881D7A713A}"/>
              </a:ext>
            </a:extLst>
          </p:cNvPr>
          <p:cNvSpPr/>
          <p:nvPr/>
        </p:nvSpPr>
        <p:spPr>
          <a:xfrm>
            <a:off x="249382" y="1097280"/>
            <a:ext cx="8765309" cy="4754880"/>
          </a:xfrm>
          <a:prstGeom prst="roundRect">
            <a:avLst/>
          </a:prstGeom>
          <a:solidFill>
            <a:srgbClr val="FFFFFF"/>
          </a:solidFill>
          <a:ln>
            <a:solidFill>
              <a:srgbClr val="F0F0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062182" y="1280160"/>
            <a:ext cx="7370618" cy="42473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1" dirty="0"/>
              <a:t>E. </a:t>
            </a:r>
            <a:r>
              <a:rPr lang="ko-KR" altLang="en-US" b="1" dirty="0"/>
              <a:t>결제</a:t>
            </a:r>
            <a:r>
              <a:rPr lang="en-US" altLang="ko-KR" b="1" dirty="0"/>
              <a:t> </a:t>
            </a:r>
            <a:r>
              <a:rPr lang="ko-KR" altLang="en-US" b="1" dirty="0"/>
              <a:t>페이지</a:t>
            </a:r>
            <a:r>
              <a:rPr lang="en-US" altLang="ko-KR" b="1" dirty="0"/>
              <a:t>(checkout)</a:t>
            </a:r>
          </a:p>
          <a:p>
            <a:r>
              <a:rPr lang="ko-KR" altLang="en-US" dirty="0"/>
              <a:t> 결제정보</a:t>
            </a:r>
            <a:r>
              <a:rPr lang="en-US" altLang="ko-KR" dirty="0"/>
              <a:t>(</a:t>
            </a:r>
            <a:r>
              <a:rPr lang="ko-KR" altLang="en-US" dirty="0"/>
              <a:t>이름</a:t>
            </a:r>
            <a:r>
              <a:rPr lang="en-US" altLang="ko-KR" dirty="0"/>
              <a:t>, </a:t>
            </a:r>
            <a:r>
              <a:rPr lang="ko-KR" altLang="en-US" dirty="0"/>
              <a:t>전화번호</a:t>
            </a:r>
            <a:r>
              <a:rPr lang="en-US" altLang="ko-KR" dirty="0"/>
              <a:t>, </a:t>
            </a:r>
            <a:r>
              <a:rPr lang="ko-KR" altLang="en-US" dirty="0"/>
              <a:t>주소</a:t>
            </a:r>
            <a:r>
              <a:rPr lang="en-US" altLang="ko-KR" dirty="0"/>
              <a:t>)</a:t>
            </a:r>
            <a:r>
              <a:rPr lang="ko-KR" altLang="en-US" dirty="0"/>
              <a:t> 입력</a:t>
            </a:r>
            <a:endParaRPr lang="en-US" altLang="ko-KR" dirty="0"/>
          </a:p>
          <a:p>
            <a:r>
              <a:rPr lang="ko-KR" altLang="en-US" dirty="0"/>
              <a:t> 결제완료</a:t>
            </a:r>
            <a:r>
              <a:rPr lang="en-US" altLang="ko-KR" dirty="0"/>
              <a:t>, </a:t>
            </a:r>
            <a:r>
              <a:rPr lang="ko-KR" altLang="en-US" dirty="0"/>
              <a:t>취소</a:t>
            </a:r>
            <a:r>
              <a:rPr lang="en-US" altLang="ko-KR" dirty="0"/>
              <a:t>, </a:t>
            </a:r>
            <a:r>
              <a:rPr lang="ko-KR" altLang="en-US" dirty="0"/>
              <a:t>장바구니로 돌아가기 버튼</a:t>
            </a:r>
            <a:endParaRPr lang="en-US" altLang="ko-KR" dirty="0"/>
          </a:p>
          <a:p>
            <a:r>
              <a:rPr lang="ko-KR" altLang="en-US" b="1" dirty="0"/>
              <a:t> </a:t>
            </a:r>
            <a:r>
              <a:rPr lang="ko-KR" altLang="en-US" dirty="0"/>
              <a:t>결제완료시 주문접수 팝업</a:t>
            </a:r>
            <a:endParaRPr lang="en-US" altLang="ko-KR" dirty="0"/>
          </a:p>
          <a:p>
            <a:endParaRPr lang="en-US" altLang="ko-KR" dirty="0"/>
          </a:p>
          <a:p>
            <a:r>
              <a:rPr lang="en-US" altLang="ko-KR" b="1" dirty="0"/>
              <a:t>F. </a:t>
            </a:r>
            <a:r>
              <a:rPr lang="ko-KR" altLang="en-US" b="1" dirty="0"/>
              <a:t>로그인 페이지</a:t>
            </a:r>
            <a:r>
              <a:rPr lang="en-US" altLang="ko-KR" b="1" dirty="0"/>
              <a:t>(login) </a:t>
            </a:r>
          </a:p>
          <a:p>
            <a:r>
              <a:rPr lang="ko-KR" altLang="en-US" dirty="0"/>
              <a:t> </a:t>
            </a:r>
            <a:r>
              <a:rPr lang="ko-KR" altLang="en-US" dirty="0" err="1"/>
              <a:t>유저명</a:t>
            </a:r>
            <a:r>
              <a:rPr lang="en-US" altLang="ko-KR" dirty="0"/>
              <a:t>, </a:t>
            </a:r>
            <a:r>
              <a:rPr lang="ko-KR" altLang="en-US" dirty="0"/>
              <a:t>패스워드 입력</a:t>
            </a:r>
            <a:endParaRPr lang="en-US" altLang="ko-KR" dirty="0"/>
          </a:p>
          <a:p>
            <a:r>
              <a:rPr lang="en-US" altLang="ko-KR" dirty="0"/>
              <a:t> login</a:t>
            </a:r>
            <a:r>
              <a:rPr lang="ko-KR" altLang="en-US" dirty="0"/>
              <a:t> 버튼입력</a:t>
            </a:r>
            <a:endParaRPr lang="en-US" altLang="ko-KR" dirty="0"/>
          </a:p>
          <a:p>
            <a:r>
              <a:rPr lang="en-US" altLang="ko-KR" dirty="0"/>
              <a:t> logout</a:t>
            </a:r>
          </a:p>
          <a:p>
            <a:r>
              <a:rPr lang="en-US" altLang="ko-KR" dirty="0"/>
              <a:t> register </a:t>
            </a:r>
            <a:r>
              <a:rPr lang="ko-KR" altLang="en-US" dirty="0"/>
              <a:t>버튼입력</a:t>
            </a:r>
            <a:endParaRPr lang="en-US" altLang="ko-KR" dirty="0"/>
          </a:p>
          <a:p>
            <a:endParaRPr lang="en-US" altLang="ko-KR" dirty="0"/>
          </a:p>
          <a:p>
            <a:r>
              <a:rPr lang="en-US" altLang="ko-KR" b="1" dirty="0"/>
              <a:t>G. </a:t>
            </a:r>
            <a:r>
              <a:rPr lang="ko-KR" altLang="en-US" b="1" dirty="0"/>
              <a:t>회원가입</a:t>
            </a:r>
            <a:r>
              <a:rPr lang="en-US" altLang="ko-KR" b="1" dirty="0"/>
              <a:t>(register)</a:t>
            </a:r>
          </a:p>
          <a:p>
            <a:r>
              <a:rPr lang="en-US" altLang="ko-KR" dirty="0"/>
              <a:t> </a:t>
            </a:r>
            <a:r>
              <a:rPr lang="ko-KR" altLang="en-US" dirty="0" err="1"/>
              <a:t>유저명</a:t>
            </a:r>
            <a:r>
              <a:rPr lang="en-US" altLang="ko-KR" dirty="0"/>
              <a:t>, </a:t>
            </a:r>
            <a:r>
              <a:rPr lang="ko-KR" altLang="en-US" dirty="0"/>
              <a:t>패스워드 입력</a:t>
            </a:r>
            <a:endParaRPr lang="en-US" altLang="ko-KR" dirty="0"/>
          </a:p>
          <a:p>
            <a:r>
              <a:rPr lang="en-US" altLang="ko-KR" dirty="0"/>
              <a:t> </a:t>
            </a:r>
            <a:r>
              <a:rPr lang="ko-KR" altLang="en-US" dirty="0"/>
              <a:t>패스워드 재확인 입력</a:t>
            </a:r>
            <a:endParaRPr lang="en-US" altLang="ko-KR" dirty="0"/>
          </a:p>
          <a:p>
            <a:r>
              <a:rPr lang="en-US" altLang="ko-KR" dirty="0"/>
              <a:t> sign up </a:t>
            </a:r>
            <a:r>
              <a:rPr lang="ko-KR" altLang="en-US" dirty="0"/>
              <a:t>버튼</a:t>
            </a:r>
            <a:endParaRPr lang="en-US" altLang="ko-KR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ounded Rectangle 3">
            <a:extLst>
              <a:ext uri="{FF2B5EF4-FFF2-40B4-BE49-F238E27FC236}">
                <a16:creationId xmlns:a16="http://schemas.microsoft.com/office/drawing/2014/main" id="{5DCCA428-26A9-85F8-074F-CF8CB2D254D7}"/>
              </a:ext>
            </a:extLst>
          </p:cNvPr>
          <p:cNvSpPr/>
          <p:nvPr/>
        </p:nvSpPr>
        <p:spPr>
          <a:xfrm>
            <a:off x="249382" y="1097280"/>
            <a:ext cx="8765309" cy="4754880"/>
          </a:xfrm>
          <a:prstGeom prst="roundRect">
            <a:avLst/>
          </a:prstGeom>
          <a:solidFill>
            <a:srgbClr val="FFFFFF"/>
          </a:solidFill>
          <a:ln>
            <a:solidFill>
              <a:srgbClr val="F0F0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274320"/>
            <a:ext cx="1861407" cy="4001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 dirty="0">
                <a:latin typeface="HY견고딕" panose="02030600000101010101" pitchFamily="18" charset="-127"/>
                <a:ea typeface="HY견고딕" panose="02030600000101010101" pitchFamily="18" charset="-127"/>
              </a:rPr>
              <a:t>4. </a:t>
            </a:r>
            <a:r>
              <a:rPr sz="2000" b="1" dirty="0" err="1">
                <a:latin typeface="HY견고딕" panose="02030600000101010101" pitchFamily="18" charset="-127"/>
                <a:ea typeface="HY견고딕" panose="02030600000101010101" pitchFamily="18" charset="-127"/>
              </a:rPr>
              <a:t>테스트</a:t>
            </a:r>
            <a:r>
              <a:rPr sz="2000" b="1" dirty="0">
                <a:latin typeface="HY견고딕" panose="02030600000101010101" pitchFamily="18" charset="-127"/>
                <a:ea typeface="HY견고딕" panose="02030600000101010101" pitchFamily="18" charset="-127"/>
              </a:rPr>
              <a:t> </a:t>
            </a:r>
            <a:r>
              <a:rPr sz="2000" b="1" dirty="0" err="1">
                <a:latin typeface="HY견고딕" panose="02030600000101010101" pitchFamily="18" charset="-127"/>
                <a:ea typeface="HY견고딕" panose="02030600000101010101" pitchFamily="18" charset="-127"/>
              </a:rPr>
              <a:t>전략</a:t>
            </a:r>
            <a:endParaRPr sz="2000" b="1" dirty="0"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822960" y="1280160"/>
            <a:ext cx="7896167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b="1" dirty="0"/>
              <a:t>테스트 유형 </a:t>
            </a:r>
            <a:r>
              <a:rPr lang="en-US" altLang="ko-KR" b="1" dirty="0"/>
              <a:t>monk</a:t>
            </a:r>
            <a:endParaRPr lang="ko-KR" altLang="en-US" b="1" dirty="0"/>
          </a:p>
          <a:p>
            <a:r>
              <a:rPr lang="ko-KR" altLang="en-US" b="1" dirty="0"/>
              <a:t>회귀 테스트</a:t>
            </a:r>
            <a:r>
              <a:rPr lang="en-US" altLang="ko-KR" b="1" dirty="0"/>
              <a:t>(Regression):</a:t>
            </a:r>
            <a:r>
              <a:rPr lang="ko-KR" altLang="en-US" dirty="0"/>
              <a:t> 전체 스위트 실행 </a:t>
            </a:r>
            <a:r>
              <a:rPr lang="en-US" altLang="ko-KR" dirty="0"/>
              <a:t>(main push / nightly)</a:t>
            </a:r>
          </a:p>
          <a:p>
            <a:r>
              <a:rPr lang="ko-KR" altLang="en-US" b="1" dirty="0"/>
              <a:t>네거티브</a:t>
            </a:r>
            <a:r>
              <a:rPr lang="en-US" altLang="ko-KR" b="1" dirty="0"/>
              <a:t>(Negative):</a:t>
            </a:r>
            <a:r>
              <a:rPr lang="ko-KR" altLang="en-US" dirty="0"/>
              <a:t> 실패</a:t>
            </a:r>
            <a:r>
              <a:rPr lang="en-US" altLang="ko-KR" dirty="0"/>
              <a:t>/</a:t>
            </a:r>
            <a:r>
              <a:rPr lang="ko-KR" altLang="en-US" dirty="0"/>
              <a:t>오류 처리 검증</a:t>
            </a:r>
          </a:p>
          <a:p>
            <a:r>
              <a:rPr lang="ko-KR" altLang="en-US" b="1" dirty="0"/>
              <a:t>안정성 규칙</a:t>
            </a:r>
          </a:p>
          <a:p>
            <a:r>
              <a:rPr lang="ko-KR" altLang="en-US" dirty="0"/>
              <a:t>모든 액션 전 </a:t>
            </a:r>
            <a:r>
              <a:rPr lang="en-US" altLang="ko-KR" b="1" dirty="0"/>
              <a:t>Explicit Wait</a:t>
            </a:r>
            <a:r>
              <a:rPr lang="ko-KR" altLang="en-US" dirty="0"/>
              <a:t> 적용</a:t>
            </a:r>
          </a:p>
          <a:p>
            <a:r>
              <a:rPr lang="ko-KR" altLang="en-US" dirty="0"/>
              <a:t>실패 시 자동 스크린샷 저장</a:t>
            </a:r>
          </a:p>
          <a:p>
            <a:r>
              <a:rPr lang="en-US" altLang="ko-KR" dirty="0"/>
              <a:t>CI </a:t>
            </a:r>
            <a:r>
              <a:rPr lang="ko-KR" altLang="en-US" dirty="0"/>
              <a:t>환경에서는 </a:t>
            </a:r>
            <a:r>
              <a:rPr lang="en-US" altLang="ko-KR" dirty="0"/>
              <a:t>Selenium Manager </a:t>
            </a:r>
            <a:r>
              <a:rPr lang="ko-KR" altLang="en-US" dirty="0"/>
              <a:t>기반으로 </a:t>
            </a:r>
            <a:r>
              <a:rPr lang="en-US" altLang="ko-KR" dirty="0"/>
              <a:t>Chrome/Driver </a:t>
            </a:r>
            <a:r>
              <a:rPr lang="ko-KR" altLang="en-US" dirty="0"/>
              <a:t>동기화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640080" y="274320"/>
            <a:ext cx="2406428" cy="4001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dirty="0">
                <a:latin typeface="HY견고딕" panose="02030600000101010101" pitchFamily="18" charset="-127"/>
                <a:ea typeface="HY견고딕" panose="02030600000101010101" pitchFamily="18" charset="-127"/>
              </a:rPr>
              <a:t>5. </a:t>
            </a:r>
            <a:r>
              <a:rPr sz="2000" dirty="0" err="1">
                <a:latin typeface="HY견고딕" panose="02030600000101010101" pitchFamily="18" charset="-127"/>
                <a:ea typeface="HY견고딕" panose="02030600000101010101" pitchFamily="18" charset="-127"/>
              </a:rPr>
              <a:t>테스트</a:t>
            </a:r>
            <a:r>
              <a:rPr sz="2000" dirty="0">
                <a:latin typeface="HY견고딕" panose="02030600000101010101" pitchFamily="18" charset="-127"/>
                <a:ea typeface="HY견고딕" panose="02030600000101010101" pitchFamily="18" charset="-127"/>
              </a:rPr>
              <a:t> </a:t>
            </a:r>
            <a:r>
              <a:rPr sz="2000" dirty="0" err="1">
                <a:latin typeface="HY견고딕" panose="02030600000101010101" pitchFamily="18" charset="-127"/>
                <a:ea typeface="HY견고딕" panose="02030600000101010101" pitchFamily="18" charset="-127"/>
              </a:rPr>
              <a:t>아키텍처</a:t>
            </a:r>
            <a:endParaRPr sz="2000" dirty="0"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  <p:sp>
        <p:nvSpPr>
          <p:cNvPr id="4" name="Rounded Rectangle 3"/>
          <p:cNvSpPr/>
          <p:nvPr/>
        </p:nvSpPr>
        <p:spPr>
          <a:xfrm>
            <a:off x="249382" y="1097280"/>
            <a:ext cx="8765309" cy="4754880"/>
          </a:xfrm>
          <a:prstGeom prst="roundRect">
            <a:avLst/>
          </a:prstGeom>
          <a:solidFill>
            <a:srgbClr val="FFFFFF"/>
          </a:solidFill>
          <a:ln>
            <a:solidFill>
              <a:srgbClr val="F0F0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22960" y="1280160"/>
            <a:ext cx="7859222" cy="234320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defTabSz="9144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ko-KR" sz="2000" b="1" dirty="0">
                <a:latin typeface="Arial" panose="020B0604020202020204" pitchFamily="34" charset="0"/>
              </a:rPr>
              <a:t> </a:t>
            </a:r>
            <a:r>
              <a:rPr lang="ko-KR" altLang="ko-KR" sz="2000" b="1" dirty="0" err="1">
                <a:latin typeface="Arial" panose="020B0604020202020204" pitchFamily="34" charset="0"/>
              </a:rPr>
              <a:t>Page</a:t>
            </a:r>
            <a:r>
              <a:rPr lang="ko-KR" altLang="ko-KR" sz="2000" b="1" dirty="0">
                <a:latin typeface="Arial" panose="020B0604020202020204" pitchFamily="34" charset="0"/>
              </a:rPr>
              <a:t> </a:t>
            </a:r>
            <a:r>
              <a:rPr lang="ko-KR" altLang="ko-KR" sz="2000" b="1" dirty="0" err="1">
                <a:latin typeface="Arial" panose="020B0604020202020204" pitchFamily="34" charset="0"/>
              </a:rPr>
              <a:t>Object</a:t>
            </a:r>
            <a:r>
              <a:rPr lang="ko-KR" altLang="ko-KR" sz="2000" b="1" dirty="0">
                <a:latin typeface="Arial" panose="020B0604020202020204" pitchFamily="34" charset="0"/>
              </a:rPr>
              <a:t> </a:t>
            </a:r>
            <a:r>
              <a:rPr lang="ko-KR" altLang="ko-KR" sz="2000" b="1" dirty="0" err="1">
                <a:latin typeface="Arial" panose="020B0604020202020204" pitchFamily="34" charset="0"/>
              </a:rPr>
              <a:t>Model</a:t>
            </a:r>
            <a:r>
              <a:rPr lang="ko-KR" altLang="ko-KR" sz="2000" b="1" dirty="0">
                <a:latin typeface="Arial" panose="020B0604020202020204" pitchFamily="34" charset="0"/>
              </a:rPr>
              <a:t>:</a:t>
            </a:r>
            <a:r>
              <a:rPr lang="ko-KR" altLang="ko-KR" sz="2000" dirty="0">
                <a:latin typeface="Arial" panose="020B0604020202020204" pitchFamily="34" charset="0"/>
              </a:rPr>
              <a:t> UI 요소와 동작을 페이지별로 분리</a:t>
            </a:r>
          </a:p>
          <a:p>
            <a:pPr lvl="0" defTabSz="9144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ko-KR" sz="2000" b="1" dirty="0">
                <a:latin typeface="Arial" panose="020B0604020202020204" pitchFamily="34" charset="0"/>
              </a:rPr>
              <a:t> </a:t>
            </a:r>
            <a:r>
              <a:rPr lang="ko-KR" altLang="ko-KR" sz="2000" b="1" dirty="0">
                <a:latin typeface="Arial" panose="020B0604020202020204" pitchFamily="34" charset="0"/>
              </a:rPr>
              <a:t>Service </a:t>
            </a:r>
            <a:r>
              <a:rPr lang="ko-KR" altLang="ko-KR" sz="2000" b="1" dirty="0" err="1">
                <a:latin typeface="Arial" panose="020B0604020202020204" pitchFamily="34" charset="0"/>
              </a:rPr>
              <a:t>Layer</a:t>
            </a:r>
            <a:r>
              <a:rPr lang="ko-KR" altLang="ko-KR" sz="2000" b="1" dirty="0">
                <a:latin typeface="Arial" panose="020B0604020202020204" pitchFamily="34" charset="0"/>
              </a:rPr>
              <a:t>:</a:t>
            </a:r>
            <a:r>
              <a:rPr lang="ko-KR" altLang="ko-KR" sz="2000" dirty="0">
                <a:latin typeface="Arial" panose="020B0604020202020204" pitchFamily="34" charset="0"/>
              </a:rPr>
              <a:t> 로그인/상품추가 등 반복 동작 공통 처리</a:t>
            </a:r>
          </a:p>
          <a:p>
            <a:pPr lvl="0" defTabSz="9144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ko-KR" sz="2000" b="1" dirty="0">
                <a:latin typeface="Arial" panose="020B0604020202020204" pitchFamily="34" charset="0"/>
              </a:rPr>
              <a:t> </a:t>
            </a:r>
            <a:r>
              <a:rPr lang="ko-KR" altLang="ko-KR" sz="2000" b="1" dirty="0" err="1">
                <a:latin typeface="Arial" panose="020B0604020202020204" pitchFamily="34" charset="0"/>
              </a:rPr>
              <a:t>Fixtures</a:t>
            </a:r>
            <a:r>
              <a:rPr lang="ko-KR" altLang="ko-KR" sz="2000" b="1" dirty="0">
                <a:latin typeface="Arial" panose="020B0604020202020204" pitchFamily="34" charset="0"/>
              </a:rPr>
              <a:t>:</a:t>
            </a:r>
            <a:r>
              <a:rPr lang="ko-KR" altLang="ko-KR" sz="2000" dirty="0">
                <a:latin typeface="Arial" panose="020B0604020202020204" pitchFamily="34" charset="0"/>
              </a:rPr>
              <a:t> 브라우저 및 세션 재사용</a:t>
            </a:r>
          </a:p>
          <a:p>
            <a:pPr lvl="0" defTabSz="9144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ko-KR" sz="2000" b="1" dirty="0">
                <a:latin typeface="Arial" panose="020B0604020202020204" pitchFamily="34" charset="0"/>
              </a:rPr>
              <a:t> </a:t>
            </a:r>
            <a:r>
              <a:rPr lang="ko-KR" altLang="ko-KR" sz="2000" b="1" dirty="0" err="1">
                <a:latin typeface="Arial" panose="020B0604020202020204" pitchFamily="34" charset="0"/>
              </a:rPr>
              <a:t>Utils</a:t>
            </a:r>
            <a:r>
              <a:rPr lang="ko-KR" altLang="ko-KR" sz="2000" b="1" dirty="0">
                <a:latin typeface="Arial" panose="020B0604020202020204" pitchFamily="34" charset="0"/>
              </a:rPr>
              <a:t>:</a:t>
            </a:r>
            <a:r>
              <a:rPr lang="ko-KR" altLang="ko-KR" sz="2000" dirty="0">
                <a:latin typeface="Arial" panose="020B0604020202020204" pitchFamily="34" charset="0"/>
              </a:rPr>
              <a:t> 공용 </a:t>
            </a:r>
            <a:r>
              <a:rPr lang="ko-KR" altLang="ko-KR" sz="2000" dirty="0" err="1">
                <a:latin typeface="Arial" panose="020B0604020202020204" pitchFamily="34" charset="0"/>
              </a:rPr>
              <a:t>waits</a:t>
            </a:r>
            <a:r>
              <a:rPr lang="ko-KR" altLang="ko-KR" sz="2000" dirty="0">
                <a:latin typeface="Arial" panose="020B0604020202020204" pitchFamily="34" charset="0"/>
              </a:rPr>
              <a:t>, </a:t>
            </a:r>
            <a:r>
              <a:rPr lang="ko-KR" altLang="ko-KR" sz="2000" dirty="0" err="1">
                <a:latin typeface="Arial" panose="020B0604020202020204" pitchFamily="34" charset="0"/>
              </a:rPr>
              <a:t>assertions</a:t>
            </a:r>
            <a:r>
              <a:rPr lang="ko-KR" altLang="ko-KR" sz="2000" dirty="0">
                <a:latin typeface="Arial" panose="020B0604020202020204" pitchFamily="34" charset="0"/>
              </a:rPr>
              <a:t>, 데이터 </a:t>
            </a:r>
            <a:r>
              <a:rPr lang="ko-KR" altLang="ko-KR" sz="2000" dirty="0" err="1">
                <a:latin typeface="Arial" panose="020B0604020202020204" pitchFamily="34" charset="0"/>
              </a:rPr>
              <a:t>생성기</a:t>
            </a:r>
            <a:endParaRPr lang="ko-KR" altLang="ko-KR" sz="2000" dirty="0">
              <a:latin typeface="Arial" panose="020B0604020202020204" pitchFamily="34" charset="0"/>
            </a:endParaRPr>
          </a:p>
          <a:p>
            <a:pPr lvl="0" defTabSz="9144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ko-KR" sz="2000" b="1" dirty="0">
                <a:latin typeface="Arial" panose="020B0604020202020204" pitchFamily="34" charset="0"/>
              </a:rPr>
              <a:t> </a:t>
            </a:r>
            <a:r>
              <a:rPr lang="ko-KR" altLang="ko-KR" sz="2000" b="1" dirty="0">
                <a:latin typeface="Arial" panose="020B0604020202020204" pitchFamily="34" charset="0"/>
              </a:rPr>
              <a:t>CI 파이프라인:</a:t>
            </a:r>
            <a:r>
              <a:rPr lang="ko-KR" altLang="ko-KR" sz="2000" dirty="0">
                <a:latin typeface="Arial" panose="020B0604020202020204" pitchFamily="34" charset="0"/>
              </a:rPr>
              <a:t> GitHub </a:t>
            </a:r>
            <a:r>
              <a:rPr lang="ko-KR" altLang="ko-KR" sz="2000" dirty="0" err="1">
                <a:latin typeface="Arial" panose="020B0604020202020204" pitchFamily="34" charset="0"/>
              </a:rPr>
              <a:t>Actions</a:t>
            </a:r>
            <a:r>
              <a:rPr lang="ko-KR" altLang="ko-KR" sz="2000" dirty="0">
                <a:latin typeface="Arial" panose="020B0604020202020204" pitchFamily="34" charset="0"/>
              </a:rPr>
              <a:t> 기반 자동 테스트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640080" y="274320"/>
            <a:ext cx="1651414" cy="4001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 dirty="0">
                <a:latin typeface="HY견고딕" panose="02030600000101010101" pitchFamily="18" charset="-127"/>
                <a:ea typeface="HY견고딕" panose="02030600000101010101" pitchFamily="18" charset="-127"/>
              </a:rPr>
              <a:t>UI — </a:t>
            </a:r>
            <a:r>
              <a:rPr lang="ko-KR" altLang="en-US" sz="2000" b="1" dirty="0">
                <a:latin typeface="HY견고딕" panose="02030600000101010101" pitchFamily="18" charset="-127"/>
                <a:ea typeface="HY견고딕" panose="02030600000101010101" pitchFamily="18" charset="-127"/>
              </a:rPr>
              <a:t>베이스</a:t>
            </a:r>
            <a:endParaRPr sz="2000" b="1" dirty="0"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  <p:sp>
        <p:nvSpPr>
          <p:cNvPr id="4" name="Rounded Rectangle 3"/>
          <p:cNvSpPr/>
          <p:nvPr/>
        </p:nvSpPr>
        <p:spPr>
          <a:xfrm>
            <a:off x="129309" y="1097280"/>
            <a:ext cx="9014691" cy="4937760"/>
          </a:xfrm>
          <a:prstGeom prst="roundRect">
            <a:avLst/>
          </a:prstGeom>
          <a:solidFill>
            <a:srgbClr val="FFFFFF"/>
          </a:solidFill>
          <a:ln>
            <a:solidFill>
              <a:srgbClr val="F0F0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그림 5" descr="텍스트, 포유류, 고양이이(가) 표시된 사진&#10;&#10;AI가 생성한 콘텐츠는 부정확할 수 있습니다.">
            <a:extLst>
              <a:ext uri="{FF2B5EF4-FFF2-40B4-BE49-F238E27FC236}">
                <a16:creationId xmlns:a16="http://schemas.microsoft.com/office/drawing/2014/main" id="{E0A5A08C-330E-D71F-87B9-AF5163AAB68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3540" y="1190546"/>
            <a:ext cx="4416920" cy="4751228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640080" y="274320"/>
            <a:ext cx="1910523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dirty="0"/>
              <a:t>UI — </a:t>
            </a:r>
            <a:r>
              <a:rPr b="1" dirty="0" err="1"/>
              <a:t>로그인</a:t>
            </a:r>
            <a:r>
              <a:rPr b="1" dirty="0"/>
              <a:t> Page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29309" y="1097280"/>
            <a:ext cx="9014691" cy="4937760"/>
          </a:xfrm>
          <a:prstGeom prst="roundRect">
            <a:avLst/>
          </a:prstGeom>
          <a:solidFill>
            <a:srgbClr val="FFFFFF"/>
          </a:solidFill>
          <a:ln>
            <a:solidFill>
              <a:srgbClr val="F0F0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그림 5" descr="텍스트, 스크린샷, 폰트이(가) 표시된 사진&#10;&#10;AI가 생성한 콘텐츠는 부정확할 수 있습니다.">
            <a:extLst>
              <a:ext uri="{FF2B5EF4-FFF2-40B4-BE49-F238E27FC236}">
                <a16:creationId xmlns:a16="http://schemas.microsoft.com/office/drawing/2014/main" id="{FDEB1DF0-7D50-B9AE-4191-1F9F9514C44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12626"/>
          <a:stretch/>
        </p:blipFill>
        <p:spPr>
          <a:xfrm>
            <a:off x="193174" y="1874982"/>
            <a:ext cx="8821517" cy="28401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7641768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640080" y="274320"/>
            <a:ext cx="1433469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dirty="0"/>
              <a:t>UI — </a:t>
            </a:r>
            <a:r>
              <a:rPr lang="en-US" b="1" dirty="0"/>
              <a:t>register</a:t>
            </a:r>
            <a:endParaRPr b="1" dirty="0"/>
          </a:p>
        </p:txBody>
      </p:sp>
      <p:sp>
        <p:nvSpPr>
          <p:cNvPr id="4" name="Rounded Rectangle 3"/>
          <p:cNvSpPr/>
          <p:nvPr/>
        </p:nvSpPr>
        <p:spPr>
          <a:xfrm>
            <a:off x="46182" y="1097280"/>
            <a:ext cx="9033163" cy="4937760"/>
          </a:xfrm>
          <a:prstGeom prst="roundRect">
            <a:avLst/>
          </a:prstGeom>
          <a:solidFill>
            <a:srgbClr val="FFFFFF"/>
          </a:solidFill>
          <a:ln>
            <a:solidFill>
              <a:srgbClr val="F0F0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그림 5" descr="텍스트, 소프트웨어, 폰트, 번호이(가) 표시된 사진&#10;&#10;AI가 생성한 콘텐츠는 부정확할 수 있습니다.">
            <a:extLst>
              <a:ext uri="{FF2B5EF4-FFF2-40B4-BE49-F238E27FC236}">
                <a16:creationId xmlns:a16="http://schemas.microsoft.com/office/drawing/2014/main" id="{D831EDEA-5387-B74A-C095-A82E90C2DE7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007877"/>
            <a:ext cx="9144000" cy="3116565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640080" y="274320"/>
            <a:ext cx="2141355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dirty="0"/>
              <a:t>UI — </a:t>
            </a:r>
            <a:r>
              <a:rPr b="1" dirty="0" err="1"/>
              <a:t>장바구니</a:t>
            </a:r>
            <a:r>
              <a:rPr b="1" dirty="0"/>
              <a:t> Page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5135" y="1097280"/>
            <a:ext cx="8965738" cy="4937760"/>
          </a:xfrm>
          <a:prstGeom prst="roundRect">
            <a:avLst/>
          </a:prstGeom>
          <a:solidFill>
            <a:srgbClr val="FFFFFF"/>
          </a:solidFill>
          <a:ln>
            <a:solidFill>
              <a:srgbClr val="F0F0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그림 5" descr="텍스트, 스크린샷, 소프트웨어, 웹 페이지이(가) 표시된 사진&#10;&#10;AI가 생성한 콘텐츠는 부정확할 수 있습니다.">
            <a:extLst>
              <a:ext uri="{FF2B5EF4-FFF2-40B4-BE49-F238E27FC236}">
                <a16:creationId xmlns:a16="http://schemas.microsoft.com/office/drawing/2014/main" id="{2C55BB73-FEC2-62F0-81DD-106F263A873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13232"/>
          <a:stretch/>
        </p:blipFill>
        <p:spPr>
          <a:xfrm>
            <a:off x="238382" y="1736453"/>
            <a:ext cx="8667236" cy="3385093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640080" y="274320"/>
            <a:ext cx="1627369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dirty="0"/>
              <a:t>UI — </a:t>
            </a:r>
            <a:r>
              <a:rPr lang="ko-KR" altLang="en-US" b="1" dirty="0"/>
              <a:t>로그아웃</a:t>
            </a:r>
            <a:endParaRPr b="1" dirty="0"/>
          </a:p>
        </p:txBody>
      </p:sp>
      <p:sp>
        <p:nvSpPr>
          <p:cNvPr id="4" name="Rounded Rectangle 3"/>
          <p:cNvSpPr/>
          <p:nvPr/>
        </p:nvSpPr>
        <p:spPr>
          <a:xfrm>
            <a:off x="95135" y="1097280"/>
            <a:ext cx="8965738" cy="4937760"/>
          </a:xfrm>
          <a:prstGeom prst="roundRect">
            <a:avLst/>
          </a:prstGeom>
          <a:solidFill>
            <a:srgbClr val="FFFFFF"/>
          </a:solidFill>
          <a:ln>
            <a:solidFill>
              <a:srgbClr val="F0F0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" name="그림 6" descr="텍스트, 고양잇과, 포유류, 고양이이(가) 표시된 사진&#10;&#10;AI가 생성한 콘텐츠는 부정확할 수 있습니다.">
            <a:extLst>
              <a:ext uri="{FF2B5EF4-FFF2-40B4-BE49-F238E27FC236}">
                <a16:creationId xmlns:a16="http://schemas.microsoft.com/office/drawing/2014/main" id="{B46733FD-7AEF-B6FF-63D4-72D1F85E2C4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8232" y="1237944"/>
            <a:ext cx="6887536" cy="4382112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640080" y="274320"/>
            <a:ext cx="2021259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dirty="0"/>
              <a:t>UI —</a:t>
            </a:r>
            <a:r>
              <a:rPr lang="ko-KR" altLang="en-US" b="1" dirty="0"/>
              <a:t>체크아웃</a:t>
            </a:r>
            <a:r>
              <a:rPr b="1" dirty="0"/>
              <a:t>Page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3128" y="748145"/>
            <a:ext cx="8931564" cy="5938981"/>
          </a:xfrm>
          <a:prstGeom prst="roundRect">
            <a:avLst/>
          </a:prstGeom>
          <a:solidFill>
            <a:srgbClr val="FFFFFF"/>
          </a:solidFill>
          <a:ln>
            <a:solidFill>
              <a:srgbClr val="F0F0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그림 5" descr="텍스트, 스크린샷, 번호, 폰트이(가) 표시된 사진&#10;&#10;AI가 생성한 콘텐츠는 부정확할 수 있습니다.">
            <a:extLst>
              <a:ext uri="{FF2B5EF4-FFF2-40B4-BE49-F238E27FC236}">
                <a16:creationId xmlns:a16="http://schemas.microsoft.com/office/drawing/2014/main" id="{24482512-3D64-5E06-6BA2-04FAEE04F00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8758" y="1147443"/>
            <a:ext cx="7253632" cy="5087101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640080" y="274320"/>
            <a:ext cx="3915880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dirty="0"/>
              <a:t>UI — </a:t>
            </a:r>
            <a:r>
              <a:rPr b="1" dirty="0" err="1"/>
              <a:t>체크아웃</a:t>
            </a:r>
            <a:r>
              <a:rPr b="1" dirty="0"/>
              <a:t> </a:t>
            </a:r>
            <a:r>
              <a:rPr b="1" dirty="0" err="1"/>
              <a:t>주문</a:t>
            </a:r>
            <a:r>
              <a:rPr b="1" dirty="0"/>
              <a:t> </a:t>
            </a:r>
            <a:r>
              <a:rPr b="1" dirty="0" err="1"/>
              <a:t>완료</a:t>
            </a:r>
            <a:r>
              <a:rPr b="1" dirty="0"/>
              <a:t> </a:t>
            </a:r>
            <a:r>
              <a:rPr b="1" dirty="0" err="1"/>
              <a:t>페이지</a:t>
            </a:r>
            <a:r>
              <a:rPr b="1" dirty="0"/>
              <a:t> Page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84728" y="1097280"/>
            <a:ext cx="8672946" cy="4937760"/>
          </a:xfrm>
          <a:prstGeom prst="roundRect">
            <a:avLst/>
          </a:prstGeom>
          <a:solidFill>
            <a:srgbClr val="FFFFFF"/>
          </a:solidFill>
          <a:ln>
            <a:solidFill>
              <a:srgbClr val="F0F0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" name="그림 6" descr="텍스트, 웹 페이지, 웹사이트, 스크린샷이(가) 표시된 사진&#10;&#10;AI가 생성한 콘텐츠는 부정확할 수 있습니다.">
            <a:extLst>
              <a:ext uri="{FF2B5EF4-FFF2-40B4-BE49-F238E27FC236}">
                <a16:creationId xmlns:a16="http://schemas.microsoft.com/office/drawing/2014/main" id="{12FE1236-7AEF-CB0B-5679-350DCCFCDE3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62670" y="1200713"/>
            <a:ext cx="4717061" cy="4730894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64008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6. User Flow with UI Thumbnails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6948" y="894080"/>
            <a:ext cx="9070108" cy="4937760"/>
          </a:xfrm>
          <a:prstGeom prst="roundRect">
            <a:avLst/>
          </a:prstGeom>
          <a:solidFill>
            <a:srgbClr val="FFFFFF"/>
          </a:solidFill>
          <a:ln>
            <a:solidFill>
              <a:srgbClr val="F0F0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26290" y="2834640"/>
            <a:ext cx="139515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로그인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61622" y="2834640"/>
            <a:ext cx="139515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베이스</a:t>
            </a:r>
            <a:endParaRPr dirty="0"/>
          </a:p>
        </p:txBody>
      </p:sp>
      <p:sp>
        <p:nvSpPr>
          <p:cNvPr id="10" name="TextBox 9"/>
          <p:cNvSpPr txBox="1"/>
          <p:nvPr/>
        </p:nvSpPr>
        <p:spPr>
          <a:xfrm>
            <a:off x="3181465" y="2834640"/>
            <a:ext cx="139515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장바구니</a:t>
            </a:r>
            <a:endParaRPr dirty="0"/>
          </a:p>
        </p:txBody>
      </p:sp>
      <p:sp>
        <p:nvSpPr>
          <p:cNvPr id="14" name="TextBox 13"/>
          <p:cNvSpPr txBox="1"/>
          <p:nvPr/>
        </p:nvSpPr>
        <p:spPr>
          <a:xfrm>
            <a:off x="6457767" y="2834640"/>
            <a:ext cx="139515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체크아웃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74923" y="2833255"/>
            <a:ext cx="139515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주문 완료 페이지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2468880" y="0"/>
            <a:ext cx="411480" cy="0"/>
          </a:xfrm>
          <a:prstGeom prst="line">
            <a:avLst/>
          </a:prstGeom>
          <a:ln w="25400">
            <a:solidFill>
              <a:srgbClr val="3C3C3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4434840" y="0"/>
            <a:ext cx="411480" cy="0"/>
          </a:xfrm>
          <a:prstGeom prst="line">
            <a:avLst/>
          </a:prstGeom>
          <a:ln w="25400">
            <a:solidFill>
              <a:srgbClr val="3C3C3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6400800" y="0"/>
            <a:ext cx="411480" cy="0"/>
          </a:xfrm>
          <a:prstGeom prst="line">
            <a:avLst/>
          </a:prstGeom>
          <a:ln w="25400">
            <a:solidFill>
              <a:srgbClr val="3C3C3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8366760" y="0"/>
            <a:ext cx="411480" cy="0"/>
          </a:xfrm>
          <a:prstGeom prst="line">
            <a:avLst/>
          </a:prstGeom>
          <a:ln w="25400">
            <a:solidFill>
              <a:srgbClr val="3C3C3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10332720" y="0"/>
            <a:ext cx="411480" cy="0"/>
          </a:xfrm>
          <a:prstGeom prst="line">
            <a:avLst/>
          </a:prstGeom>
          <a:ln w="25400">
            <a:solidFill>
              <a:srgbClr val="3C3C3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3" name="그림 22" descr="텍스트, 스크린샷, 폰트이(가) 표시된 사진&#10;&#10;AI가 생성한 콘텐츠는 부정확할 수 있습니다.">
            <a:extLst>
              <a:ext uri="{FF2B5EF4-FFF2-40B4-BE49-F238E27FC236}">
                <a16:creationId xmlns:a16="http://schemas.microsoft.com/office/drawing/2014/main" id="{9194D88F-7911-802E-2251-FD1076E7BD1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4343" r="38586" b="7718"/>
          <a:stretch/>
        </p:blipFill>
        <p:spPr>
          <a:xfrm>
            <a:off x="115515" y="1702525"/>
            <a:ext cx="1616701" cy="1132115"/>
          </a:xfrm>
          <a:prstGeom prst="rect">
            <a:avLst/>
          </a:prstGeom>
        </p:spPr>
      </p:pic>
      <p:pic>
        <p:nvPicPr>
          <p:cNvPr id="25" name="그림 24" descr="텍스트, 포유류, 고양이이(가) 표시된 사진&#10;&#10;AI가 생성한 콘텐츠는 부정확할 수 있습니다.">
            <a:extLst>
              <a:ext uri="{FF2B5EF4-FFF2-40B4-BE49-F238E27FC236}">
                <a16:creationId xmlns:a16="http://schemas.microsoft.com/office/drawing/2014/main" id="{2741C151-DE47-9EC4-3C07-EBBF3B559D1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90865" y="1589677"/>
            <a:ext cx="1199868" cy="1290683"/>
          </a:xfrm>
          <a:prstGeom prst="rect">
            <a:avLst/>
          </a:prstGeom>
        </p:spPr>
      </p:pic>
      <p:pic>
        <p:nvPicPr>
          <p:cNvPr id="27" name="그림 26" descr="텍스트, 스크린샷, 소프트웨어, 웹 페이지이(가) 표시된 사진&#10;&#10;AI가 생성한 콘텐츠는 부정확할 수 있습니다.">
            <a:extLst>
              <a:ext uri="{FF2B5EF4-FFF2-40B4-BE49-F238E27FC236}">
                <a16:creationId xmlns:a16="http://schemas.microsoft.com/office/drawing/2014/main" id="{842D0EEC-3E7F-EFBA-D357-D72C6D9DB47D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r="11583" b="9449"/>
          <a:stretch/>
        </p:blipFill>
        <p:spPr>
          <a:xfrm>
            <a:off x="3056775" y="1690945"/>
            <a:ext cx="3112339" cy="1080173"/>
          </a:xfrm>
          <a:prstGeom prst="rect">
            <a:avLst/>
          </a:prstGeom>
        </p:spPr>
      </p:pic>
      <p:pic>
        <p:nvPicPr>
          <p:cNvPr id="29" name="그림 28" descr="텍스트, 스크린샷, 번호, 폰트이(가) 표시된 사진&#10;&#10;AI가 생성한 콘텐츠는 부정확할 수 있습니다.">
            <a:extLst>
              <a:ext uri="{FF2B5EF4-FFF2-40B4-BE49-F238E27FC236}">
                <a16:creationId xmlns:a16="http://schemas.microsoft.com/office/drawing/2014/main" id="{969737CC-2C99-2905-E49D-EF710D42FC9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37264" y="1671786"/>
            <a:ext cx="1637659" cy="1148519"/>
          </a:xfrm>
          <a:prstGeom prst="rect">
            <a:avLst/>
          </a:prstGeom>
        </p:spPr>
      </p:pic>
      <p:pic>
        <p:nvPicPr>
          <p:cNvPr id="31" name="그림 30" descr="텍스트, 웹 페이지, 웹사이트, 스크린샷이(가) 표시된 사진&#10;&#10;AI가 생성한 콘텐츠는 부정확할 수 있습니다.">
            <a:extLst>
              <a:ext uri="{FF2B5EF4-FFF2-40B4-BE49-F238E27FC236}">
                <a16:creationId xmlns:a16="http://schemas.microsoft.com/office/drawing/2014/main" id="{CAEE793F-030B-4A2E-51B7-C383D37F1B75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r="32380" b="70329"/>
          <a:stretch/>
        </p:blipFill>
        <p:spPr>
          <a:xfrm>
            <a:off x="7940965" y="2129444"/>
            <a:ext cx="1662273" cy="73152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64008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TC‑001 로그인 Success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669280"/>
            <a:ext cx="10789920" cy="8617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ko-KR" altLang="ko-KR" sz="1600" b="1" dirty="0">
                <a:latin typeface="Arial" panose="020B0604020202020204" pitchFamily="34" charset="0"/>
              </a:rPr>
              <a:t>목적:</a:t>
            </a:r>
            <a:r>
              <a:rPr lang="ko-KR" altLang="ko-KR" sz="1600" dirty="0">
                <a:latin typeface="Arial" panose="020B0604020202020204" pitchFamily="34" charset="0"/>
              </a:rPr>
              <a:t> 정상 계정 로그인 가능 여부 확인</a:t>
            </a:r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ko-KR" altLang="ko-KR" sz="1600" b="1" dirty="0">
                <a:latin typeface="Arial" panose="020B0604020202020204" pitchFamily="34" charset="0"/>
              </a:rPr>
              <a:t>절차</a:t>
            </a:r>
            <a:r>
              <a:rPr lang="ko-KR" altLang="ko-KR" sz="1600" b="1" dirty="0"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  <a:r>
              <a:rPr lang="ko-KR" altLang="ko-KR" sz="16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ko-KR" sz="1600" dirty="0" err="1">
                <a:latin typeface="Arial" panose="020B0604020202020204" pitchFamily="34" charset="0"/>
                <a:cs typeface="Arial" panose="020B0604020202020204" pitchFamily="34" charset="0"/>
              </a:rPr>
              <a:t>testuser</a:t>
            </a:r>
            <a:r>
              <a:rPr lang="ko-KR" altLang="ko-KR" sz="1600" dirty="0">
                <a:latin typeface="Arial" panose="020B0604020202020204" pitchFamily="34" charset="0"/>
                <a:cs typeface="Arial" panose="020B0604020202020204" pitchFamily="34" charset="0"/>
              </a:rPr>
              <a:t>/ </a:t>
            </a:r>
            <a:r>
              <a:rPr lang="en-US" altLang="ko-KR" sz="1600" dirty="0">
                <a:latin typeface="Arial" panose="020B0604020202020204" pitchFamily="34" charset="0"/>
                <a:cs typeface="Arial" panose="020B0604020202020204" pitchFamily="34" charset="0"/>
              </a:rPr>
              <a:t>password123</a:t>
            </a:r>
            <a:r>
              <a:rPr lang="ko-KR" altLang="ko-KR" sz="1600" dirty="0"/>
              <a:t>입력 → 로그인</a:t>
            </a:r>
            <a:endParaRPr lang="ko-KR" altLang="ko-KR" sz="3600" dirty="0">
              <a:latin typeface="Arial" panose="020B0604020202020204" pitchFamily="34" charset="0"/>
            </a:endParaRPr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ko-KR" altLang="ko-KR" sz="1600" b="1" dirty="0">
                <a:latin typeface="Arial" panose="020B0604020202020204" pitchFamily="34" charset="0"/>
              </a:rPr>
              <a:t>기대 결과:</a:t>
            </a:r>
            <a:r>
              <a:rPr lang="ko-KR" altLang="ko-KR" sz="1600" dirty="0">
                <a:latin typeface="Arial" panose="020B0604020202020204" pitchFamily="34" charset="0"/>
              </a:rPr>
              <a:t> 상품 목록 페이지(Products) 로딩</a:t>
            </a:r>
          </a:p>
        </p:txBody>
      </p:sp>
      <p:sp>
        <p:nvSpPr>
          <p:cNvPr id="7" name="Rounded Rectangle 3">
            <a:extLst>
              <a:ext uri="{FF2B5EF4-FFF2-40B4-BE49-F238E27FC236}">
                <a16:creationId xmlns:a16="http://schemas.microsoft.com/office/drawing/2014/main" id="{2CF45290-2357-07ED-8E46-2AEB56CD7101}"/>
              </a:ext>
            </a:extLst>
          </p:cNvPr>
          <p:cNvSpPr/>
          <p:nvPr/>
        </p:nvSpPr>
        <p:spPr>
          <a:xfrm>
            <a:off x="393931" y="766618"/>
            <a:ext cx="8356138" cy="4756727"/>
          </a:xfrm>
          <a:prstGeom prst="roundRect">
            <a:avLst/>
          </a:prstGeom>
          <a:solidFill>
            <a:srgbClr val="FFFFFF"/>
          </a:solidFill>
          <a:ln>
            <a:solidFill>
              <a:srgbClr val="F0F0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그림 4" descr="텍스트, 웹 페이지, 웹사이트, 스크린샷이(가) 표시된 사진&#10;&#10;AI가 생성한 콘텐츠는 부정확할 수 있습니다.">
            <a:extLst>
              <a:ext uri="{FF2B5EF4-FFF2-40B4-BE49-F238E27FC236}">
                <a16:creationId xmlns:a16="http://schemas.microsoft.com/office/drawing/2014/main" id="{C46A3F4C-06CA-05EB-3A96-23EDB2D039A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95668" y="848451"/>
            <a:ext cx="4593060" cy="459306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64008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TC‑002 로그인 Failure (Invalid)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93931" y="766618"/>
            <a:ext cx="8356138" cy="4756727"/>
          </a:xfrm>
          <a:prstGeom prst="roundRect">
            <a:avLst/>
          </a:prstGeom>
          <a:solidFill>
            <a:srgbClr val="FFFFFF"/>
          </a:solidFill>
          <a:ln>
            <a:solidFill>
              <a:srgbClr val="F0F0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6C0A337-90EF-479F-4556-860BB65F6B9D}"/>
              </a:ext>
            </a:extLst>
          </p:cNvPr>
          <p:cNvSpPr txBox="1"/>
          <p:nvPr/>
        </p:nvSpPr>
        <p:spPr>
          <a:xfrm>
            <a:off x="563418" y="5689798"/>
            <a:ext cx="6276077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ko-KR" altLang="ko-KR" b="1" dirty="0">
                <a:latin typeface="Arial" panose="020B0604020202020204" pitchFamily="34" charset="0"/>
              </a:rPr>
              <a:t>목적:</a:t>
            </a:r>
            <a:r>
              <a:rPr lang="ko-KR" altLang="ko-KR" dirty="0">
                <a:latin typeface="Arial" panose="020B0604020202020204" pitchFamily="34" charset="0"/>
              </a:rPr>
              <a:t> 잘못된 계정 정보 입력 시 오류 표시</a:t>
            </a:r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ko-KR" altLang="ko-KR" b="1" dirty="0">
                <a:latin typeface="Arial" panose="020B0604020202020204" pitchFamily="34" charset="0"/>
              </a:rPr>
              <a:t>절차:</a:t>
            </a:r>
            <a:r>
              <a:rPr lang="ko-KR" altLang="ko-KR" dirty="0">
                <a:latin typeface="Arial" panose="020B0604020202020204" pitchFamily="34" charset="0"/>
              </a:rPr>
              <a:t> 잘못된 ID/비밀번호 입력 → 로그인</a:t>
            </a:r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ko-KR" altLang="ko-KR" b="1" dirty="0">
                <a:latin typeface="Arial" panose="020B0604020202020204" pitchFamily="34" charset="0"/>
              </a:rPr>
              <a:t>기대 결과:</a:t>
            </a:r>
            <a:r>
              <a:rPr lang="ko-KR" altLang="ko-KR" dirty="0">
                <a:latin typeface="Arial" panose="020B0604020202020204" pitchFamily="34" charset="0"/>
              </a:rPr>
              <a:t> “사용자명이 일치하지 않습니다” 오류 배너 출력</a:t>
            </a:r>
          </a:p>
          <a:p>
            <a:endParaRPr lang="ko-KR" altLang="en-US" dirty="0"/>
          </a:p>
        </p:txBody>
      </p:sp>
      <p:pic>
        <p:nvPicPr>
          <p:cNvPr id="7" name="그림 6" descr="텍스트, 스크린샷, 폰트, 소프트웨어이(가) 표시된 사진&#10;&#10;AI가 생성한 콘텐츠는 부정확할 수 있습니다.">
            <a:extLst>
              <a:ext uri="{FF2B5EF4-FFF2-40B4-BE49-F238E27FC236}">
                <a16:creationId xmlns:a16="http://schemas.microsoft.com/office/drawing/2014/main" id="{2F03692C-036B-BC29-89CC-C5615073258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8849" y="1005840"/>
            <a:ext cx="7193611" cy="407416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64008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TC‑004 Add/삭제 &amp; Badge Sync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98549" y="727824"/>
            <a:ext cx="8346902" cy="4850939"/>
          </a:xfrm>
          <a:prstGeom prst="roundRect">
            <a:avLst/>
          </a:prstGeom>
          <a:solidFill>
            <a:srgbClr val="FFFFFF"/>
          </a:solidFill>
          <a:ln>
            <a:solidFill>
              <a:srgbClr val="F0F0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22960" y="5669280"/>
            <a:ext cx="1078992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>
                <a:solidFill>
                  <a:srgbClr val="1E1E1E"/>
                </a:solidFill>
              </a:defRPr>
            </a:pPr>
            <a:r>
              <a:rPr lang="ko-KR" altLang="en-US" dirty="0"/>
              <a:t>목적</a:t>
            </a:r>
            <a:r>
              <a:rPr lang="en-US" altLang="ko-KR" dirty="0"/>
              <a:t>: </a:t>
            </a:r>
            <a:r>
              <a:rPr lang="ko-KR" altLang="en-US" dirty="0"/>
              <a:t>장바구니 배지 숫자 동기화 확인</a:t>
            </a:r>
          </a:p>
          <a:p>
            <a:pPr>
              <a:defRPr sz="1600">
                <a:solidFill>
                  <a:srgbClr val="1E1E1E"/>
                </a:solidFill>
              </a:defRPr>
            </a:pPr>
            <a:r>
              <a:rPr lang="ko-KR" altLang="en-US" dirty="0"/>
              <a:t>절차</a:t>
            </a:r>
            <a:r>
              <a:rPr lang="en-US" altLang="ko-KR" dirty="0"/>
              <a:t>: 2</a:t>
            </a:r>
            <a:r>
              <a:rPr lang="ko-KR" altLang="en-US" dirty="0"/>
              <a:t>개 항목 추가 → </a:t>
            </a:r>
            <a:r>
              <a:rPr lang="en-US" altLang="ko-KR" dirty="0"/>
              <a:t>1</a:t>
            </a:r>
            <a:r>
              <a:rPr lang="ko-KR" altLang="en-US" dirty="0"/>
              <a:t>개 삭제</a:t>
            </a:r>
          </a:p>
          <a:p>
            <a:pPr>
              <a:defRPr sz="1600">
                <a:solidFill>
                  <a:srgbClr val="1E1E1E"/>
                </a:solidFill>
              </a:defRPr>
            </a:pPr>
            <a:r>
              <a:rPr lang="ko-KR" altLang="en-US" dirty="0"/>
              <a:t>기대 결과</a:t>
            </a:r>
            <a:r>
              <a:rPr lang="en-US" altLang="ko-KR" dirty="0"/>
              <a:t>: </a:t>
            </a:r>
            <a:r>
              <a:rPr lang="ko-KR" altLang="en-US" dirty="0"/>
              <a:t>배지 숫자가 </a:t>
            </a:r>
            <a:r>
              <a:rPr lang="en-US" altLang="ko-KR" dirty="0"/>
              <a:t>2 → 1</a:t>
            </a:r>
            <a:r>
              <a:rPr lang="ko-KR" altLang="en-US" dirty="0"/>
              <a:t>로 정확히 반영</a:t>
            </a:r>
            <a:endParaRPr dirty="0"/>
          </a:p>
        </p:txBody>
      </p:sp>
      <p:pic>
        <p:nvPicPr>
          <p:cNvPr id="8" name="그림 7" descr="텍스트, 스크린샷, 소프트웨어, 웹 페이지이(가) 표시된 사진&#10;&#10;AI가 생성한 콘텐츠는 부정확할 수 있습니다.">
            <a:extLst>
              <a:ext uri="{FF2B5EF4-FFF2-40B4-BE49-F238E27FC236}">
                <a16:creationId xmlns:a16="http://schemas.microsoft.com/office/drawing/2014/main" id="{E82F2C25-4564-3C4A-2197-9A118A1DBBE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6191"/>
          <a:stretch/>
        </p:blipFill>
        <p:spPr>
          <a:xfrm>
            <a:off x="2774791" y="3736110"/>
            <a:ext cx="3256556" cy="1754104"/>
          </a:xfrm>
          <a:prstGeom prst="rect">
            <a:avLst/>
          </a:prstGeom>
        </p:spPr>
      </p:pic>
      <p:pic>
        <p:nvPicPr>
          <p:cNvPr id="5" name="그림 4" descr="텍스트, 스크린샷, 소프트웨어, 웹 페이지이(가) 표시된 사진&#10;&#10;AI가 생성한 콘텐츠는 부정확할 수 있습니다.">
            <a:extLst>
              <a:ext uri="{FF2B5EF4-FFF2-40B4-BE49-F238E27FC236}">
                <a16:creationId xmlns:a16="http://schemas.microsoft.com/office/drawing/2014/main" id="{F7DDFCF3-75F8-4115-49B6-43A7ED44952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11150" b="12091"/>
          <a:stretch/>
        </p:blipFill>
        <p:spPr>
          <a:xfrm>
            <a:off x="1213341" y="869605"/>
            <a:ext cx="6717317" cy="2252286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64008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TC‑005 장바구니 Page Operations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17279" y="1208116"/>
            <a:ext cx="8522084" cy="3834938"/>
          </a:xfrm>
          <a:prstGeom prst="roundRect">
            <a:avLst/>
          </a:prstGeom>
          <a:solidFill>
            <a:srgbClr val="FFFFFF"/>
          </a:solidFill>
          <a:ln>
            <a:solidFill>
              <a:srgbClr val="F0F0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22960" y="5669280"/>
            <a:ext cx="1078992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>
                <a:solidFill>
                  <a:srgbClr val="1E1E1E"/>
                </a:solidFill>
              </a:defRPr>
            </a:pPr>
            <a:r>
              <a:rPr lang="ko-KR" altLang="en-US" dirty="0"/>
              <a:t>목적</a:t>
            </a:r>
            <a:r>
              <a:rPr lang="en-US" altLang="ko-KR" dirty="0"/>
              <a:t>: </a:t>
            </a:r>
            <a:r>
              <a:rPr lang="ko-KR" altLang="en-US" dirty="0"/>
              <a:t>장바구니 페이지에서 항목 제거 기능 검증</a:t>
            </a:r>
          </a:p>
          <a:p>
            <a:pPr>
              <a:defRPr sz="1600">
                <a:solidFill>
                  <a:srgbClr val="1E1E1E"/>
                </a:solidFill>
              </a:defRPr>
            </a:pPr>
            <a:r>
              <a:rPr lang="ko-KR" altLang="en-US" dirty="0"/>
              <a:t>절차</a:t>
            </a:r>
            <a:r>
              <a:rPr lang="en-US" altLang="ko-KR" dirty="0"/>
              <a:t>: Cart → Remove </a:t>
            </a:r>
            <a:r>
              <a:rPr lang="ko-KR" altLang="en-US" dirty="0"/>
              <a:t>클릭</a:t>
            </a:r>
          </a:p>
          <a:p>
            <a:pPr>
              <a:defRPr sz="1600">
                <a:solidFill>
                  <a:srgbClr val="1E1E1E"/>
                </a:solidFill>
              </a:defRPr>
            </a:pPr>
            <a:r>
              <a:rPr lang="ko-KR" altLang="en-US" dirty="0"/>
              <a:t>기대 결과</a:t>
            </a:r>
            <a:r>
              <a:rPr lang="en-US" altLang="ko-KR" dirty="0"/>
              <a:t>: </a:t>
            </a:r>
            <a:r>
              <a:rPr lang="ko-KR" altLang="en-US" dirty="0"/>
              <a:t>항목 제거 및 갱신된 카트 상태 표시</a:t>
            </a:r>
            <a:endParaRPr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64008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7. Test Results &amp; Coverage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10771" y="1189644"/>
            <a:ext cx="7906327" cy="3557847"/>
          </a:xfrm>
          <a:prstGeom prst="roundRect">
            <a:avLst/>
          </a:prstGeom>
          <a:solidFill>
            <a:srgbClr val="FFFFFF"/>
          </a:solidFill>
          <a:ln>
            <a:solidFill>
              <a:srgbClr val="F0F0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5" name="Chart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94357171"/>
              </p:ext>
            </p:extLst>
          </p:nvPr>
        </p:nvGraphicFramePr>
        <p:xfrm>
          <a:off x="967971" y="1738284"/>
          <a:ext cx="3162531" cy="237189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6" name="Chart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67372282"/>
              </p:ext>
            </p:extLst>
          </p:nvPr>
        </p:nvGraphicFramePr>
        <p:xfrm>
          <a:off x="4413597" y="1738284"/>
          <a:ext cx="3491961" cy="237189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64008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8. CI Pipeline (GitHub Actions)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89542" y="1280160"/>
            <a:ext cx="7940502" cy="4139738"/>
          </a:xfrm>
          <a:prstGeom prst="roundRect">
            <a:avLst/>
          </a:prstGeom>
          <a:solidFill>
            <a:srgbClr val="FFFFFF"/>
          </a:solidFill>
          <a:ln>
            <a:solidFill>
              <a:srgbClr val="F0F0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74022" y="1555404"/>
            <a:ext cx="7808160" cy="25853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b="1" dirty="0"/>
              <a:t>구성 요소</a:t>
            </a:r>
          </a:p>
          <a:p>
            <a:r>
              <a:rPr lang="en-US" altLang="ko-KR" dirty="0"/>
              <a:t>Python 3.10–3.12 matrix</a:t>
            </a:r>
          </a:p>
          <a:p>
            <a:r>
              <a:rPr lang="en-US" altLang="ko-KR" dirty="0"/>
              <a:t>Chrome + </a:t>
            </a:r>
            <a:r>
              <a:rPr lang="en-US" altLang="ko-KR" dirty="0" err="1"/>
              <a:t>ChromeDriver</a:t>
            </a:r>
            <a:r>
              <a:rPr lang="en-US" altLang="ko-KR" dirty="0"/>
              <a:t> </a:t>
            </a:r>
            <a:r>
              <a:rPr lang="ko-KR" altLang="en-US" dirty="0"/>
              <a:t>자동 설치</a:t>
            </a:r>
          </a:p>
          <a:p>
            <a:r>
              <a:rPr lang="en-US" altLang="ko-KR" dirty="0"/>
              <a:t>Headless </a:t>
            </a:r>
            <a:r>
              <a:rPr lang="ko-KR" altLang="en-US" dirty="0"/>
              <a:t>모드에서 </a:t>
            </a:r>
            <a:r>
              <a:rPr lang="en-US" altLang="ko-KR" dirty="0" err="1"/>
              <a:t>pytest</a:t>
            </a:r>
            <a:r>
              <a:rPr lang="en-US" altLang="ko-KR" dirty="0"/>
              <a:t> </a:t>
            </a:r>
            <a:r>
              <a:rPr lang="ko-KR" altLang="en-US" dirty="0"/>
              <a:t>실행</a:t>
            </a:r>
          </a:p>
          <a:p>
            <a:r>
              <a:rPr lang="en-US" altLang="ko-KR" dirty="0"/>
              <a:t>HTML </a:t>
            </a:r>
            <a:r>
              <a:rPr lang="ko-KR" altLang="en-US" dirty="0"/>
              <a:t>리포트 </a:t>
            </a:r>
            <a:r>
              <a:rPr lang="en-US" altLang="ko-KR" dirty="0"/>
              <a:t>+ </a:t>
            </a:r>
            <a:r>
              <a:rPr lang="ko-KR" altLang="en-US" dirty="0"/>
              <a:t>스크린샷 </a:t>
            </a:r>
            <a:r>
              <a:rPr lang="ko-KR" altLang="en-US" dirty="0" err="1"/>
              <a:t>아티팩트</a:t>
            </a:r>
            <a:r>
              <a:rPr lang="ko-KR" altLang="en-US" dirty="0"/>
              <a:t> 업로드</a:t>
            </a:r>
            <a:endParaRPr lang="en-US" altLang="ko-KR" dirty="0"/>
          </a:p>
          <a:p>
            <a:endParaRPr lang="ko-KR" altLang="en-US" dirty="0"/>
          </a:p>
          <a:p>
            <a:r>
              <a:rPr lang="ko-KR" altLang="en-US" b="1" dirty="0"/>
              <a:t>트리거 조건</a:t>
            </a:r>
          </a:p>
          <a:p>
            <a:r>
              <a:rPr lang="en-US" altLang="ko-KR" b="1" dirty="0"/>
              <a:t>Pull Request:</a:t>
            </a:r>
            <a:r>
              <a:rPr lang="ko-KR" altLang="en-US" dirty="0"/>
              <a:t> </a:t>
            </a:r>
            <a:r>
              <a:rPr lang="ko-KR" altLang="en-US" dirty="0" err="1"/>
              <a:t>스모크</a:t>
            </a:r>
            <a:r>
              <a:rPr lang="ko-KR" altLang="en-US" dirty="0"/>
              <a:t> 테스트</a:t>
            </a:r>
          </a:p>
          <a:p>
            <a:r>
              <a:rPr lang="en-US" altLang="ko-KR" b="1" dirty="0"/>
              <a:t>main </a:t>
            </a:r>
            <a:r>
              <a:rPr lang="ko-KR" altLang="en-US" b="1" dirty="0" err="1"/>
              <a:t>브랜치</a:t>
            </a:r>
            <a:r>
              <a:rPr lang="ko-KR" altLang="en-US" b="1" dirty="0"/>
              <a:t> </a:t>
            </a:r>
            <a:r>
              <a:rPr lang="en-US" altLang="ko-KR" b="1" dirty="0"/>
              <a:t>push:</a:t>
            </a:r>
            <a:r>
              <a:rPr lang="ko-KR" altLang="en-US" dirty="0"/>
              <a:t> 전체 회귀 테스트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64008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9. Issues &amp; Fixes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8585" y="1153901"/>
            <a:ext cx="8226829" cy="4130502"/>
          </a:xfrm>
          <a:prstGeom prst="roundRect">
            <a:avLst/>
          </a:prstGeom>
          <a:solidFill>
            <a:srgbClr val="FFFFFF"/>
          </a:solidFill>
          <a:ln>
            <a:solidFill>
              <a:srgbClr val="F0F0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graphicFrame>
        <p:nvGraphicFramePr>
          <p:cNvPr id="6" name="표 5">
            <a:extLst>
              <a:ext uri="{FF2B5EF4-FFF2-40B4-BE49-F238E27FC236}">
                <a16:creationId xmlns:a16="http://schemas.microsoft.com/office/drawing/2014/main" id="{D50F911B-7066-1DAA-D6C8-99350E64533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36643732"/>
              </p:ext>
            </p:extLst>
          </p:nvPr>
        </p:nvGraphicFramePr>
        <p:xfrm>
          <a:off x="458585" y="2389473"/>
          <a:ext cx="8229600" cy="365760"/>
        </p:xfrm>
        <a:graphic>
          <a:graphicData uri="http://schemas.openxmlformats.org/drawingml/2006/table">
            <a:tbl>
              <a:tblPr/>
              <a:tblGrid>
                <a:gridCol w="2743200">
                  <a:extLst>
                    <a:ext uri="{9D8B030D-6E8A-4147-A177-3AD203B41FA5}">
                      <a16:colId xmlns:a16="http://schemas.microsoft.com/office/drawing/2014/main" val="2024409783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1970594486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429046752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dirty="0"/>
                        <a:t>문제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dirty="0"/>
                        <a:t>원인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dirty="0"/>
                        <a:t>해결책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47238672"/>
                  </a:ext>
                </a:extLst>
              </a:tr>
            </a:tbl>
          </a:graphicData>
        </a:graphic>
      </p:graphicFrame>
      <p:graphicFrame>
        <p:nvGraphicFramePr>
          <p:cNvPr id="7" name="표 6">
            <a:extLst>
              <a:ext uri="{FF2B5EF4-FFF2-40B4-BE49-F238E27FC236}">
                <a16:creationId xmlns:a16="http://schemas.microsoft.com/office/drawing/2014/main" id="{C3D035AF-8093-A8FF-BFED-847C575202B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65999213"/>
              </p:ext>
            </p:extLst>
          </p:nvPr>
        </p:nvGraphicFramePr>
        <p:xfrm>
          <a:off x="455814" y="2798858"/>
          <a:ext cx="8229600" cy="640080"/>
        </p:xfrm>
        <a:graphic>
          <a:graphicData uri="http://schemas.openxmlformats.org/drawingml/2006/table">
            <a:tbl>
              <a:tblPr/>
              <a:tblGrid>
                <a:gridCol w="2743200">
                  <a:extLst>
                    <a:ext uri="{9D8B030D-6E8A-4147-A177-3AD203B41FA5}">
                      <a16:colId xmlns:a16="http://schemas.microsoft.com/office/drawing/2014/main" val="2854879169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327556342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48042465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 err="1"/>
                        <a:t>ChromeDriver</a:t>
                      </a:r>
                      <a:r>
                        <a:rPr lang="en-US" dirty="0"/>
                        <a:t> </a:t>
                      </a:r>
                      <a:r>
                        <a:rPr lang="ko-KR" altLang="en-US" dirty="0"/>
                        <a:t>버전 불일치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ko-KR" dirty="0"/>
                        <a:t>OS/</a:t>
                      </a:r>
                      <a:r>
                        <a:rPr lang="ko-KR" altLang="en-US" dirty="0"/>
                        <a:t>브라우저 업데이트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setup-chrome + Selenium Manager </a:t>
                      </a:r>
                      <a:r>
                        <a:rPr lang="ko-KR" altLang="en-US" dirty="0"/>
                        <a:t>사용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91950902"/>
                  </a:ext>
                </a:extLst>
              </a:tr>
            </a:tbl>
          </a:graphicData>
        </a:graphic>
      </p:graphicFrame>
      <p:graphicFrame>
        <p:nvGraphicFramePr>
          <p:cNvPr id="8" name="표 7">
            <a:extLst>
              <a:ext uri="{FF2B5EF4-FFF2-40B4-BE49-F238E27FC236}">
                <a16:creationId xmlns:a16="http://schemas.microsoft.com/office/drawing/2014/main" id="{5409624D-7D8F-BB84-5C2A-C6C1CBB462E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75652026"/>
              </p:ext>
            </p:extLst>
          </p:nvPr>
        </p:nvGraphicFramePr>
        <p:xfrm>
          <a:off x="455814" y="3472404"/>
          <a:ext cx="8229600" cy="640080"/>
        </p:xfrm>
        <a:graphic>
          <a:graphicData uri="http://schemas.openxmlformats.org/drawingml/2006/table">
            <a:tbl>
              <a:tblPr/>
              <a:tblGrid>
                <a:gridCol w="2743200">
                  <a:extLst>
                    <a:ext uri="{9D8B030D-6E8A-4147-A177-3AD203B41FA5}">
                      <a16:colId xmlns:a16="http://schemas.microsoft.com/office/drawing/2014/main" val="1736507412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1102256398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1527368588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Headless </a:t>
                      </a:r>
                      <a:r>
                        <a:rPr lang="ko-KR" altLang="en-US" dirty="0"/>
                        <a:t>모드 불안정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/>
                        <a:t>리소스</a:t>
                      </a:r>
                      <a:r>
                        <a:rPr lang="en-US" altLang="ko-KR"/>
                        <a:t>/</a:t>
                      </a:r>
                      <a:r>
                        <a:rPr lang="ko-KR" altLang="en-US"/>
                        <a:t>윈도우 크기 설정 문제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window-size </a:t>
                      </a:r>
                      <a:r>
                        <a:rPr lang="ko-KR" altLang="en-US" dirty="0"/>
                        <a:t>강제 지정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64698054"/>
                  </a:ext>
                </a:extLst>
              </a:tr>
            </a:tbl>
          </a:graphicData>
        </a:graphic>
      </p:graphicFrame>
      <p:graphicFrame>
        <p:nvGraphicFramePr>
          <p:cNvPr id="9" name="표 8">
            <a:extLst>
              <a:ext uri="{FF2B5EF4-FFF2-40B4-BE49-F238E27FC236}">
                <a16:creationId xmlns:a16="http://schemas.microsoft.com/office/drawing/2014/main" id="{87E7C4E2-F6B2-9712-7E04-0A8BDA16D9E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82252103"/>
              </p:ext>
            </p:extLst>
          </p:nvPr>
        </p:nvGraphicFramePr>
        <p:xfrm>
          <a:off x="457200" y="4145950"/>
          <a:ext cx="8229600" cy="464017"/>
        </p:xfrm>
        <a:graphic>
          <a:graphicData uri="http://schemas.openxmlformats.org/drawingml/2006/table">
            <a:tbl>
              <a:tblPr/>
              <a:tblGrid>
                <a:gridCol w="2743200">
                  <a:extLst>
                    <a:ext uri="{9D8B030D-6E8A-4147-A177-3AD203B41FA5}">
                      <a16:colId xmlns:a16="http://schemas.microsoft.com/office/drawing/2014/main" val="343991375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15769940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401859943"/>
                    </a:ext>
                  </a:extLst>
                </a:gridCol>
              </a:tblGrid>
              <a:tr h="46401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ko-KR" dirty="0"/>
                        <a:t>SNS </a:t>
                      </a:r>
                      <a:r>
                        <a:rPr lang="ko-KR" altLang="en-US" dirty="0"/>
                        <a:t>링크 응답 지연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dirty="0"/>
                        <a:t>외부 도메인 로딩 시간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URL contains </a:t>
                      </a:r>
                      <a:r>
                        <a:rPr lang="ko-KR" altLang="en-US" dirty="0"/>
                        <a:t>방식 검증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0891629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64008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10. 결론 및 향후 계획 &amp; Next Steps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35280" y="912553"/>
            <a:ext cx="7811193" cy="4158211"/>
          </a:xfrm>
          <a:prstGeom prst="roundRect">
            <a:avLst/>
          </a:prstGeom>
          <a:solidFill>
            <a:srgbClr val="FFFFFF"/>
          </a:solidFill>
          <a:ln>
            <a:solidFill>
              <a:srgbClr val="F0F0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18160" y="1095433"/>
            <a:ext cx="7681006" cy="28931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b="1" dirty="0"/>
              <a:t>성과</a:t>
            </a:r>
          </a:p>
          <a:p>
            <a:r>
              <a:rPr lang="en-US" altLang="ko-KR" dirty="0" err="1"/>
              <a:t>catshop</a:t>
            </a:r>
            <a:r>
              <a:rPr lang="en-US" altLang="ko-KR" dirty="0"/>
              <a:t> </a:t>
            </a:r>
            <a:r>
              <a:rPr lang="ko-KR" altLang="en-US" dirty="0"/>
              <a:t>전 기능을 포함한 </a:t>
            </a:r>
            <a:r>
              <a:rPr lang="ko-KR" altLang="en-US" b="1" dirty="0"/>
              <a:t>완성형 </a:t>
            </a:r>
            <a:r>
              <a:rPr lang="en-US" altLang="ko-KR" b="1" dirty="0"/>
              <a:t>E2E </a:t>
            </a:r>
            <a:r>
              <a:rPr lang="ko-KR" altLang="en-US" b="1" dirty="0"/>
              <a:t>자동화</a:t>
            </a:r>
            <a:r>
              <a:rPr lang="ko-KR" altLang="en-US" dirty="0"/>
              <a:t> 구축</a:t>
            </a:r>
          </a:p>
          <a:p>
            <a:r>
              <a:rPr lang="en-US" altLang="ko-KR" dirty="0"/>
              <a:t>GitHub Actions </a:t>
            </a:r>
            <a:r>
              <a:rPr lang="ko-KR" altLang="en-US" dirty="0"/>
              <a:t>기반 </a:t>
            </a:r>
            <a:r>
              <a:rPr lang="en-US" altLang="ko-KR" b="1" dirty="0"/>
              <a:t>CI </a:t>
            </a:r>
            <a:r>
              <a:rPr lang="ko-KR" altLang="en-US" b="1" dirty="0"/>
              <a:t>품질 게이트 운영 가능</a:t>
            </a:r>
            <a:endParaRPr lang="ko-KR" altLang="en-US" dirty="0"/>
          </a:p>
          <a:p>
            <a:r>
              <a:rPr lang="ko-KR" altLang="en-US" dirty="0"/>
              <a:t>테스트 커버리지 시각화 및 문서화 완료</a:t>
            </a:r>
            <a:endParaRPr lang="en-US" altLang="ko-KR" dirty="0"/>
          </a:p>
          <a:p>
            <a:endParaRPr lang="ko-KR" altLang="en-US" dirty="0"/>
          </a:p>
          <a:p>
            <a:r>
              <a:rPr lang="ko-KR" altLang="en-US" b="1" dirty="0"/>
              <a:t>향후 개선</a:t>
            </a:r>
          </a:p>
          <a:p>
            <a:r>
              <a:rPr lang="en-US" altLang="ko-KR" dirty="0"/>
              <a:t>Allure </a:t>
            </a:r>
            <a:r>
              <a:rPr lang="ko-KR" altLang="en-US" dirty="0"/>
              <a:t>기반 리포트 적용</a:t>
            </a:r>
          </a:p>
          <a:p>
            <a:r>
              <a:rPr lang="ko-KR" altLang="en-US" dirty="0"/>
              <a:t>크로스 브라우저 테스트</a:t>
            </a:r>
            <a:r>
              <a:rPr lang="en-US" altLang="ko-KR" dirty="0"/>
              <a:t>(Edge, Firefox)</a:t>
            </a:r>
          </a:p>
          <a:p>
            <a:r>
              <a:rPr lang="en-US" altLang="ko-KR" dirty="0"/>
              <a:t>Nightly </a:t>
            </a:r>
            <a:r>
              <a:rPr lang="ko-KR" altLang="en-US" dirty="0"/>
              <a:t>전체 회귀 스케줄링</a:t>
            </a:r>
          </a:p>
          <a:p>
            <a:pPr>
              <a:defRPr sz="2000">
                <a:solidFill>
                  <a:srgbClr val="1E1E1E"/>
                </a:solidFill>
              </a:defRPr>
            </a:pPr>
            <a:endParaRPr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548</TotalTime>
  <Words>747</Words>
  <Application>Microsoft Office PowerPoint</Application>
  <PresentationFormat>화면 슬라이드 쇼(4:3)</PresentationFormat>
  <Paragraphs>145</Paragraphs>
  <Slides>24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24</vt:i4>
      </vt:variant>
    </vt:vector>
  </HeadingPairs>
  <TitlesOfParts>
    <vt:vector size="28" baseType="lpstr">
      <vt:lpstr>HY견고딕</vt:lpstr>
      <vt:lpstr>Arial</vt:lpstr>
      <vt:lpstr>Calibri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JY</dc:creator>
  <cp:keywords/>
  <dc:description>generated using python-pptx</dc:description>
  <cp:lastModifiedBy>Administrator</cp:lastModifiedBy>
  <cp:revision>17</cp:revision>
  <dcterms:created xsi:type="dcterms:W3CDTF">2013-01-27T09:14:16Z</dcterms:created>
  <dcterms:modified xsi:type="dcterms:W3CDTF">2025-11-29T03:04:22Z</dcterms:modified>
  <cp:category/>
</cp:coreProperties>
</file>