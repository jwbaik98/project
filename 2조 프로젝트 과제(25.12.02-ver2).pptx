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1" r:id="rId2"/>
    <p:sldId id="256" r:id="rId3"/>
    <p:sldId id="257" r:id="rId4"/>
    <p:sldId id="258" r:id="rId5"/>
    <p:sldId id="279" r:id="rId6"/>
    <p:sldId id="259" r:id="rId7"/>
    <p:sldId id="260" r:id="rId8"/>
    <p:sldId id="261" r:id="rId9"/>
    <p:sldId id="262" r:id="rId10"/>
    <p:sldId id="280" r:id="rId11"/>
    <p:sldId id="264" r:id="rId12"/>
    <p:sldId id="265" r:id="rId13"/>
    <p:sldId id="266" r:id="rId14"/>
    <p:sldId id="263" r:id="rId15"/>
    <p:sldId id="267" r:id="rId16"/>
    <p:sldId id="268" r:id="rId17"/>
    <p:sldId id="269" r:id="rId18"/>
    <p:sldId id="270" r:id="rId19"/>
    <p:sldId id="272" r:id="rId20"/>
    <p:sldId id="275" r:id="rId21"/>
    <p:sldId id="276" r:id="rId22"/>
    <p:sldId id="277" r:id="rId23"/>
    <p:sldId id="282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6EEE3"/>
    <a:srgbClr val="95B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29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6B-4214-95B7-5E5E63C36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index</c:v>
                </c:pt>
                <c:pt idx="2">
                  <c:v>register</c:v>
                </c:pt>
                <c:pt idx="3">
                  <c:v>login</c:v>
                </c:pt>
                <c:pt idx="4">
                  <c:v>cart</c:v>
                </c:pt>
                <c:pt idx="5">
                  <c:v>product</c:v>
                </c:pt>
                <c:pt idx="6">
                  <c:v>checkout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4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E0-47D3-9CFB-C144942E9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5B7A1-F27C-4F97-A3C4-EF92E3293E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0F4BF-B131-4CA0-A505-78F72BC46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39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0F4BF-B131-4CA0-A505-78F72BC4623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967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0F4BF-B131-4CA0-A505-78F72BC4623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663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0F4BF-B131-4CA0-A505-78F72BC4623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630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8DF94-25AE-BD02-89DA-5709572D8F5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F691E6F-673E-E79A-545C-5206BEDF69CC}"/>
              </a:ext>
            </a:extLst>
          </p:cNvPr>
          <p:cNvCxnSpPr>
            <a:cxnSpLocks/>
          </p:cNvCxnSpPr>
          <p:nvPr/>
        </p:nvCxnSpPr>
        <p:spPr>
          <a:xfrm>
            <a:off x="372670" y="3893172"/>
            <a:ext cx="7927268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ECE118-7D51-63D5-79E3-8454280254E7}"/>
              </a:ext>
            </a:extLst>
          </p:cNvPr>
          <p:cNvSpPr txBox="1"/>
          <p:nvPr/>
        </p:nvSpPr>
        <p:spPr>
          <a:xfrm>
            <a:off x="465221" y="1373833"/>
            <a:ext cx="7792518" cy="243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 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SW 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테스팅 프로젝트</a:t>
            </a:r>
            <a:endParaRPr lang="en-US" altLang="ko-KR" sz="5500" b="1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en-US" altLang="ko-KR" sz="5500" b="1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55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09190-4A3F-9DD5-342B-CF3C30F3DC81}"/>
              </a:ext>
            </a:extLst>
          </p:cNvPr>
          <p:cNvSpPr txBox="1"/>
          <p:nvPr/>
        </p:nvSpPr>
        <p:spPr>
          <a:xfrm>
            <a:off x="6696221" y="4224956"/>
            <a:ext cx="2419643" cy="2326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백종우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조장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박서아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안재원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오예린</a:t>
            </a:r>
            <a:endParaRPr lang="ko-KR" altLang="en-US" sz="25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179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91B532A-E7ED-E6A6-5ED0-8606627AF0D0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238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E2E Test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lang="en-US" dirty="0" err="1"/>
              <a:t>P</a:t>
            </a:r>
            <a:r>
              <a:rPr dirty="0" err="1"/>
              <a:t>ytest</a:t>
            </a:r>
            <a:r>
              <a:rPr lang="en-US" dirty="0"/>
              <a:t> + selenium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Gradient Startup Template (Clean Ver.)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Actual UI + Test Case 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C487CF8-9867-B0EE-5351-F288988E2301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1499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□ 대상 사이트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catshop</a:t>
            </a:r>
            <a:r>
              <a:rPr lang="en-US" altLang="ko-KR" dirty="0">
                <a:latin typeface="+mj-ea"/>
                <a:ea typeface="+mj-ea"/>
              </a:rPr>
              <a:t>(local)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목표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실무 수준의 </a:t>
            </a:r>
            <a:r>
              <a:rPr lang="en-US" altLang="ko-KR" dirty="0">
                <a:latin typeface="+mj-ea"/>
                <a:ea typeface="+mj-ea"/>
              </a:rPr>
              <a:t>E2E </a:t>
            </a:r>
            <a:r>
              <a:rPr lang="ko-KR" altLang="en-US" dirty="0">
                <a:latin typeface="+mj-ea"/>
                <a:ea typeface="+mj-ea"/>
              </a:rPr>
              <a:t>자동화 테스트 구축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산출물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테스트 스위트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pytest</a:t>
            </a:r>
            <a:r>
              <a:rPr lang="en-US" altLang="ko-KR" dirty="0">
                <a:latin typeface="+mj-ea"/>
                <a:ea typeface="+mj-ea"/>
              </a:rPr>
              <a:t> + Selenium), </a:t>
            </a:r>
            <a:r>
              <a:rPr lang="ko-KR" altLang="en-US" dirty="0">
                <a:latin typeface="+mj-ea"/>
                <a:ea typeface="+mj-ea"/>
              </a:rPr>
              <a:t>테스트 리포트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기간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주 팀 프로젝트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562C942-5DE9-CCF1-D516-02CABC7086EF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373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2. 팀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구성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역할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(Team Project)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4063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□ 팀장 </a:t>
            </a:r>
            <a:r>
              <a:rPr lang="en-US" altLang="ko-KR" b="1" dirty="0"/>
              <a:t>(Team Lead)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전체 일정 관리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E2E </a:t>
            </a:r>
            <a:r>
              <a:rPr lang="ko-KR" altLang="en-US" dirty="0"/>
              <a:t>테스트 구축 및 운영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최종 품질 검토</a:t>
            </a:r>
            <a:endParaRPr lang="en-US" altLang="ko-KR" dirty="0"/>
          </a:p>
          <a:p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□ 팀원 </a:t>
            </a:r>
            <a:r>
              <a:rPr lang="en-US" altLang="ko-KR" b="1" dirty="0"/>
              <a:t>(Team Members)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QA1:</a:t>
            </a:r>
            <a:r>
              <a:rPr lang="ko-KR" altLang="en-US" dirty="0"/>
              <a:t> 테스트 케이스 설계</a:t>
            </a:r>
            <a:r>
              <a:rPr lang="en-US" altLang="ko-KR" dirty="0"/>
              <a:t>, </a:t>
            </a:r>
            <a:r>
              <a:rPr lang="ko-KR" altLang="en-US" dirty="0"/>
              <a:t>커버리지 매핑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QA2: </a:t>
            </a:r>
            <a:r>
              <a:rPr lang="ko-KR" altLang="en-US" dirty="0"/>
              <a:t>테스트 아키텍처 및 통합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  QA3:</a:t>
            </a:r>
            <a:r>
              <a:rPr lang="ko-KR" altLang="en-US" dirty="0"/>
              <a:t> 테스트 스크립트 구현</a:t>
            </a:r>
            <a:r>
              <a:rPr lang="en-US" altLang="ko-KR" dirty="0"/>
              <a:t>, </a:t>
            </a:r>
            <a:r>
              <a:rPr lang="ko-KR" altLang="en-US" dirty="0"/>
              <a:t>예외</a:t>
            </a:r>
            <a:r>
              <a:rPr lang="en-US" altLang="ko-KR" dirty="0"/>
              <a:t>·</a:t>
            </a:r>
            <a:r>
              <a:rPr lang="ko-KR" altLang="en-US" dirty="0"/>
              <a:t>실패 케이스 처리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QA4:</a:t>
            </a:r>
            <a:r>
              <a:rPr lang="ko-KR" altLang="en-US" dirty="0"/>
              <a:t> 결과 분석</a:t>
            </a:r>
            <a:r>
              <a:rPr lang="en-US" altLang="ko-KR" dirty="0"/>
              <a:t>, </a:t>
            </a:r>
            <a:r>
              <a:rPr lang="ko-KR" altLang="en-US" dirty="0"/>
              <a:t>보고서 및 발표 자료 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5E5C-48C6-7B1F-281B-070F8F83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1EC81-B8E6-FE22-9FCC-CC771D21B5DC}"/>
              </a:ext>
            </a:extLst>
          </p:cNvPr>
          <p:cNvSpPr txBox="1"/>
          <p:nvPr/>
        </p:nvSpPr>
        <p:spPr>
          <a:xfrm>
            <a:off x="640080" y="274320"/>
            <a:ext cx="34211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786B61F-F921-0909-0B30-933B95B69892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2DA42-FA05-E286-3EA3-644C724F4CC4}"/>
              </a:ext>
            </a:extLst>
          </p:cNvPr>
          <p:cNvSpPr txBox="1"/>
          <p:nvPr/>
        </p:nvSpPr>
        <p:spPr>
          <a:xfrm>
            <a:off x="1062182" y="1280160"/>
            <a:ext cx="73706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eriod"/>
            </a:pPr>
            <a:r>
              <a:rPr lang="ko-KR" altLang="en-US" b="1" dirty="0"/>
              <a:t>베이스</a:t>
            </a:r>
            <a:r>
              <a:rPr lang="en-US" altLang="ko-KR" b="1" dirty="0"/>
              <a:t>(base)</a:t>
            </a:r>
          </a:p>
          <a:p>
            <a:r>
              <a:rPr lang="ko-KR" altLang="en-US" dirty="0"/>
              <a:t>메뉴</a:t>
            </a:r>
            <a:r>
              <a:rPr lang="en-US" altLang="ko-KR" dirty="0"/>
              <a:t>(Home, Cart(0), Login, Sing Up)</a:t>
            </a:r>
          </a:p>
          <a:p>
            <a:r>
              <a:rPr lang="ko-KR" altLang="en-US" dirty="0"/>
              <a:t>사용자 </a:t>
            </a:r>
            <a:r>
              <a:rPr lang="ko-KR" altLang="en-US" dirty="0" err="1"/>
              <a:t>상태창</a:t>
            </a:r>
            <a:r>
              <a:rPr lang="en-US" altLang="ko-KR" dirty="0"/>
              <a:t>(</a:t>
            </a:r>
            <a:r>
              <a:rPr lang="ko-KR" altLang="en-US" dirty="0"/>
              <a:t>집사</a:t>
            </a:r>
            <a:r>
              <a:rPr lang="en-US" altLang="ko-KR" dirty="0"/>
              <a:t>, username)</a:t>
            </a:r>
          </a:p>
          <a:p>
            <a:r>
              <a:rPr lang="ko-KR" altLang="en-US" dirty="0"/>
              <a:t>로그아웃 버튼</a:t>
            </a:r>
            <a:endParaRPr lang="en-US" altLang="ko-KR" dirty="0"/>
          </a:p>
          <a:p>
            <a:endParaRPr lang="en-US" altLang="ko-KR" b="1" dirty="0"/>
          </a:p>
          <a:p>
            <a:pPr marL="342900" indent="-342900">
              <a:buAutoNum type="alphaUcPeriod" startAt="2"/>
            </a:pPr>
            <a:r>
              <a:rPr lang="ko-KR" altLang="en-US" b="1" dirty="0"/>
              <a:t>인덱스</a:t>
            </a:r>
            <a:r>
              <a:rPr lang="en-US" altLang="ko-KR" b="1" dirty="0"/>
              <a:t>(index)</a:t>
            </a:r>
          </a:p>
          <a:p>
            <a:r>
              <a:rPr lang="ko-KR" altLang="en-US" dirty="0"/>
              <a:t>상품</a:t>
            </a:r>
            <a:r>
              <a:rPr lang="en-US" altLang="ko-KR" dirty="0"/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ko-KR" altLang="en-US" dirty="0"/>
              <a:t>장바구니 추가</a:t>
            </a:r>
            <a:r>
              <a:rPr lang="en-US" altLang="ko-KR" dirty="0"/>
              <a:t>/</a:t>
            </a:r>
            <a:r>
              <a:rPr lang="ko-KR" altLang="en-US" dirty="0"/>
              <a:t>제거 버튼</a:t>
            </a:r>
          </a:p>
          <a:p>
            <a:endParaRPr lang="en-US" altLang="ko-KR" b="1" dirty="0"/>
          </a:p>
          <a:p>
            <a:r>
              <a:rPr lang="en-US" altLang="ko-KR" b="1" dirty="0"/>
              <a:t>C. </a:t>
            </a:r>
            <a:r>
              <a:rPr lang="ko-KR" altLang="en-US" b="1" dirty="0"/>
              <a:t>상품 상세페이지</a:t>
            </a:r>
            <a:r>
              <a:rPr lang="en-US" altLang="ko-KR" b="1" dirty="0"/>
              <a:t>(</a:t>
            </a:r>
            <a:r>
              <a:rPr lang="en-US" altLang="ko-KR" b="1" dirty="0" err="1"/>
              <a:t>product_detail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단일상품의 상세정보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장바구니 버튼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D. </a:t>
            </a:r>
            <a:r>
              <a:rPr lang="ko-KR" altLang="en-US" b="1" dirty="0"/>
              <a:t>장바구니페이지</a:t>
            </a:r>
            <a:r>
              <a:rPr lang="en-US" altLang="ko-KR" b="1" dirty="0"/>
              <a:t>(cart)</a:t>
            </a:r>
          </a:p>
          <a:p>
            <a:r>
              <a:rPr lang="ko-KR" altLang="en-US" dirty="0"/>
              <a:t> 장바구니에 담긴 상품 목록 및 합계 표시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제거</a:t>
            </a:r>
            <a:r>
              <a:rPr lang="en-US" altLang="ko-KR" dirty="0"/>
              <a:t>, </a:t>
            </a:r>
            <a:r>
              <a:rPr lang="ko-KR" altLang="en-US" dirty="0" err="1"/>
              <a:t>쇼핑계속하기</a:t>
            </a:r>
            <a:r>
              <a:rPr lang="en-US" altLang="ko-KR" dirty="0"/>
              <a:t>, </a:t>
            </a:r>
            <a:r>
              <a:rPr lang="ko-KR" altLang="en-US" dirty="0"/>
              <a:t>결제 버튼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01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3618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21EF948-79CA-2E9E-638A-50881D7A713A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2182" y="1280160"/>
            <a:ext cx="73706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E. </a:t>
            </a:r>
            <a:r>
              <a:rPr lang="ko-KR" altLang="en-US" b="1" dirty="0"/>
              <a:t>결제</a:t>
            </a:r>
            <a:r>
              <a:rPr lang="en-US" altLang="ko-KR" b="1" dirty="0"/>
              <a:t> </a:t>
            </a:r>
            <a:r>
              <a:rPr lang="ko-KR" altLang="en-US" b="1" dirty="0"/>
              <a:t>페이지</a:t>
            </a:r>
            <a:r>
              <a:rPr lang="en-US" altLang="ko-KR" b="1" dirty="0"/>
              <a:t>(checkout)</a:t>
            </a:r>
          </a:p>
          <a:p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  <a:r>
              <a:rPr lang="ko-KR" altLang="en-US" dirty="0"/>
              <a:t> 입력</a:t>
            </a:r>
            <a:endParaRPr lang="en-US" altLang="ko-KR" dirty="0"/>
          </a:p>
          <a:p>
            <a:r>
              <a:rPr lang="ko-KR" altLang="en-US" dirty="0"/>
              <a:t> 결제완료</a:t>
            </a:r>
            <a:r>
              <a:rPr lang="en-US" altLang="ko-KR" dirty="0"/>
              <a:t>, </a:t>
            </a:r>
            <a:r>
              <a:rPr lang="ko-KR" altLang="en-US" dirty="0"/>
              <a:t>취소</a:t>
            </a:r>
            <a:r>
              <a:rPr lang="en-US" altLang="ko-KR" dirty="0"/>
              <a:t>, </a:t>
            </a:r>
            <a:r>
              <a:rPr lang="ko-KR" altLang="en-US" dirty="0"/>
              <a:t>장바구니로 돌아가기 버튼</a:t>
            </a:r>
            <a:endParaRPr lang="en-US" altLang="ko-KR" dirty="0"/>
          </a:p>
          <a:p>
            <a:r>
              <a:rPr lang="ko-KR" altLang="en-US" b="1" dirty="0"/>
              <a:t> </a:t>
            </a:r>
            <a:r>
              <a:rPr lang="ko-KR" altLang="en-US" dirty="0"/>
              <a:t>결제완료시 주문접수 팝업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F. </a:t>
            </a:r>
            <a:r>
              <a:rPr lang="ko-KR" altLang="en-US" b="1" dirty="0"/>
              <a:t>로그인 페이지</a:t>
            </a:r>
            <a:r>
              <a:rPr lang="en-US" altLang="ko-KR" b="1" dirty="0"/>
              <a:t>(login) 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login</a:t>
            </a:r>
            <a:r>
              <a:rPr lang="ko-KR" altLang="en-US" dirty="0"/>
              <a:t> 버튼입력</a:t>
            </a:r>
            <a:endParaRPr lang="en-US" altLang="ko-KR" dirty="0"/>
          </a:p>
          <a:p>
            <a:r>
              <a:rPr lang="en-US" altLang="ko-KR" dirty="0"/>
              <a:t> logout</a:t>
            </a:r>
          </a:p>
          <a:p>
            <a:r>
              <a:rPr lang="en-US" altLang="ko-KR" dirty="0"/>
              <a:t> register </a:t>
            </a:r>
            <a:r>
              <a:rPr lang="ko-KR" altLang="en-US" dirty="0"/>
              <a:t>버튼입력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G. </a:t>
            </a:r>
            <a:r>
              <a:rPr lang="ko-KR" altLang="en-US" b="1" dirty="0"/>
              <a:t>회원가입</a:t>
            </a:r>
            <a:r>
              <a:rPr lang="en-US" altLang="ko-KR" b="1" dirty="0"/>
              <a:t>(register)</a:t>
            </a:r>
          </a:p>
          <a:p>
            <a:r>
              <a:rPr lang="en-US" altLang="ko-KR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패스워드 재확인 입력</a:t>
            </a:r>
            <a:endParaRPr lang="en-US" altLang="ko-KR" dirty="0"/>
          </a:p>
          <a:p>
            <a:r>
              <a:rPr lang="en-US" altLang="ko-KR" dirty="0"/>
              <a:t> sign up </a:t>
            </a:r>
            <a:r>
              <a:rPr lang="ko-KR" altLang="en-US" dirty="0"/>
              <a:t>버튼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DCCA428-26A9-85F8-074F-CF8CB2D254D7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8614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전략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96167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테스트 유형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smoke</a:t>
            </a:r>
            <a:endParaRPr lang="ko-KR" altLang="en-US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회귀 테스트</a:t>
            </a:r>
            <a:r>
              <a:rPr lang="en-US" altLang="ko-KR" b="1" dirty="0"/>
              <a:t>(Regression) :</a:t>
            </a:r>
            <a:r>
              <a:rPr lang="ko-KR" altLang="en-US" dirty="0"/>
              <a:t> 전체 스위트 실행 </a:t>
            </a:r>
            <a:r>
              <a:rPr lang="en-US" altLang="ko-KR" dirty="0"/>
              <a:t>(main push)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네거티브</a:t>
            </a:r>
            <a:r>
              <a:rPr lang="en-US" altLang="ko-KR" b="1" dirty="0"/>
              <a:t>(Negative) :</a:t>
            </a:r>
            <a:r>
              <a:rPr lang="ko-KR" altLang="en-US" dirty="0"/>
              <a:t> 실패</a:t>
            </a:r>
            <a:r>
              <a:rPr lang="en-US" altLang="ko-KR" dirty="0"/>
              <a:t>/</a:t>
            </a:r>
            <a:r>
              <a:rPr lang="ko-KR" altLang="en-US" dirty="0"/>
              <a:t>오류 처리 검증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안정성 규칙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모든 액션 전 </a:t>
            </a:r>
            <a:r>
              <a:rPr lang="en-US" altLang="ko-KR" b="1" dirty="0"/>
              <a:t>Explicit Wait</a:t>
            </a:r>
            <a:r>
              <a:rPr lang="ko-KR" altLang="en-US" dirty="0"/>
              <a:t> 적용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실패 시 자동 스크린샷 저장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CI </a:t>
            </a:r>
            <a:r>
              <a:rPr lang="ko-KR" altLang="en-US" dirty="0"/>
              <a:t>환경에서는 </a:t>
            </a:r>
            <a:r>
              <a:rPr lang="en-US" altLang="ko-KR" dirty="0"/>
              <a:t>Selenium Manager </a:t>
            </a:r>
            <a:r>
              <a:rPr lang="ko-KR" altLang="en-US" dirty="0"/>
              <a:t>기반으로 </a:t>
            </a:r>
            <a:r>
              <a:rPr lang="en-US" altLang="ko-KR" dirty="0"/>
              <a:t>Chrome/Driver </a:t>
            </a:r>
            <a:r>
              <a:rPr lang="ko-KR" altLang="en-US" dirty="0"/>
              <a:t>동기화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064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아키텍처</a:t>
            </a:r>
            <a:endParaRPr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59222" cy="1702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Service </a:t>
            </a:r>
            <a:r>
              <a:rPr lang="ko-KR" altLang="ko-KR" b="1" dirty="0" err="1">
                <a:latin typeface="Arial" panose="020B0604020202020204" pitchFamily="34" charset="0"/>
              </a:rPr>
              <a:t>Layer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로그인/상품추가 등 반복 동작 공통 처리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Fixtures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브라우저 및 세션 재사용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Utils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dirty="0">
                <a:latin typeface="Arial" panose="020B0604020202020204" pitchFamily="34" charset="0"/>
              </a:rPr>
              <a:t>공용 </a:t>
            </a:r>
            <a:r>
              <a:rPr lang="ko-KR" altLang="ko-KR" dirty="0" err="1">
                <a:latin typeface="Arial" panose="020B0604020202020204" pitchFamily="34" charset="0"/>
              </a:rPr>
              <a:t>waits</a:t>
            </a:r>
            <a:r>
              <a:rPr lang="ko-KR" altLang="ko-KR" dirty="0">
                <a:latin typeface="Arial" panose="020B0604020202020204" pitchFamily="34" charset="0"/>
              </a:rPr>
              <a:t>, </a:t>
            </a:r>
            <a:r>
              <a:rPr lang="ko-KR" altLang="ko-KR" dirty="0" err="1">
                <a:latin typeface="Arial" panose="020B0604020202020204" pitchFamily="34" charset="0"/>
              </a:rPr>
              <a:t>assertions</a:t>
            </a:r>
            <a:r>
              <a:rPr lang="ko-KR" altLang="ko-KR" dirty="0">
                <a:latin typeface="Arial" panose="020B0604020202020204" pitchFamily="34" charset="0"/>
              </a:rPr>
              <a:t>, 데이터 </a:t>
            </a:r>
            <a:r>
              <a:rPr lang="ko-KR" altLang="ko-KR" dirty="0" err="1">
                <a:latin typeface="Arial" panose="020B0604020202020204" pitchFamily="34" charset="0"/>
              </a:rPr>
              <a:t>생성기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CI 파이프라인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</a:rPr>
              <a:t>pytest</a:t>
            </a:r>
            <a:r>
              <a:rPr lang="en-US" altLang="ko-KR" dirty="0">
                <a:latin typeface="Arial" panose="020B0604020202020204" pitchFamily="34" charset="0"/>
              </a:rPr>
              <a:t> + selenium</a:t>
            </a:r>
            <a:r>
              <a:rPr lang="ko-KR" altLang="ko-KR" dirty="0">
                <a:latin typeface="Arial" panose="020B0604020202020204" pitchFamily="34" charset="0"/>
              </a:rPr>
              <a:t>기반 자동 테스트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6514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베이스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0A5A08C-330E-D71F-87B9-AF5163AA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40" y="1190546"/>
            <a:ext cx="4416920" cy="475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2381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집사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EB1DF0-7D50-B9AE-4191-1F9F9514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26"/>
          <a:stretch/>
        </p:blipFill>
        <p:spPr>
          <a:xfrm>
            <a:off x="193174" y="1874982"/>
            <a:ext cx="8821517" cy="284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8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집사 회원가입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82" y="1097280"/>
            <a:ext cx="9033163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소프트웨어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31EDEA-5387-B74A-C095-A82E90C2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877"/>
            <a:ext cx="9144000" cy="3116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장바구니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55BB73-FEC2-62F0-81DD-106F263A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32"/>
          <a:stretch/>
        </p:blipFill>
        <p:spPr>
          <a:xfrm>
            <a:off x="238382" y="1736453"/>
            <a:ext cx="8667236" cy="33850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로그아웃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고양잇과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46733FD-7AEF-B6FF-63D4-72D1F85E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32" y="1237944"/>
            <a:ext cx="6887536" cy="43821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8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결제 정보 입력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128" y="748145"/>
            <a:ext cx="8931564" cy="5938981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482512-3D64-5E06-6BA2-04FAEE04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58" y="1147443"/>
            <a:ext cx="7253632" cy="50871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9915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결제 및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주문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완료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28" y="1097280"/>
            <a:ext cx="867294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FE1236-7AEF-CB0B-5679-350DCCFC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70" y="1200713"/>
            <a:ext cx="4717061" cy="47308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5881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6. User Flow with UI Thumbnails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948" y="894080"/>
            <a:ext cx="907010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1566" y="2868359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로그인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981860" y="2868359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베이스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023342" y="2743760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장바구니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803130" y="5161681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체크아웃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964465" y="4917063"/>
            <a:ext cx="2147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주문 완료 페이지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84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6676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94D88F-7911-802E-2251-FD1076E7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43" r="38586" b="7718"/>
          <a:stretch/>
        </p:blipFill>
        <p:spPr>
          <a:xfrm>
            <a:off x="271138" y="1505553"/>
            <a:ext cx="1897985" cy="1329088"/>
          </a:xfrm>
          <a:prstGeom prst="rect">
            <a:avLst/>
          </a:prstGeom>
        </p:spPr>
      </p:pic>
      <p:pic>
        <p:nvPicPr>
          <p:cNvPr id="25" name="그림 24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41C151-DE47-9EC4-3C07-EBBF3B55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314" y="1315407"/>
            <a:ext cx="1408629" cy="1515245"/>
          </a:xfrm>
          <a:prstGeom prst="rect">
            <a:avLst/>
          </a:prstGeom>
        </p:spPr>
      </p:pic>
      <p:pic>
        <p:nvPicPr>
          <p:cNvPr id="27" name="그림 26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2D0EEC-3E7F-EFBA-D357-D72C6D9DB4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83" b="9449"/>
          <a:stretch/>
        </p:blipFill>
        <p:spPr>
          <a:xfrm>
            <a:off x="4626512" y="1366146"/>
            <a:ext cx="3653844" cy="1268109"/>
          </a:xfrm>
          <a:prstGeom prst="rect">
            <a:avLst/>
          </a:prstGeom>
        </p:spPr>
      </p:pic>
      <p:pic>
        <p:nvPicPr>
          <p:cNvPr id="29" name="그림 28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9737CC-2C99-2905-E49D-EF710D42F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130" y="3440659"/>
            <a:ext cx="2231958" cy="1565311"/>
          </a:xfrm>
          <a:prstGeom prst="rect">
            <a:avLst/>
          </a:prstGeom>
        </p:spPr>
      </p:pic>
      <p:pic>
        <p:nvPicPr>
          <p:cNvPr id="31" name="그림 30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EE793F-030B-4A2E-51B7-C383D37F1B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380" b="70329"/>
          <a:stretch/>
        </p:blipFill>
        <p:spPr>
          <a:xfrm>
            <a:off x="4846320" y="3495136"/>
            <a:ext cx="2265504" cy="996985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153859C-E24C-9E88-A181-A93FF2EF8D12}"/>
              </a:ext>
            </a:extLst>
          </p:cNvPr>
          <p:cNvSpPr/>
          <p:nvPr/>
        </p:nvSpPr>
        <p:spPr>
          <a:xfrm>
            <a:off x="2316767" y="1790248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B8437657-4B33-4BF9-2DAB-2F2686451D40}"/>
              </a:ext>
            </a:extLst>
          </p:cNvPr>
          <p:cNvSpPr/>
          <p:nvPr/>
        </p:nvSpPr>
        <p:spPr>
          <a:xfrm>
            <a:off x="4300703" y="1752226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73701C2-E9BE-E5DB-6D2F-DC4881FB4840}"/>
              </a:ext>
            </a:extLst>
          </p:cNvPr>
          <p:cNvSpPr/>
          <p:nvPr/>
        </p:nvSpPr>
        <p:spPr>
          <a:xfrm rot="5400000">
            <a:off x="5708085" y="2871931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D7E13A1-CC82-1B7A-FC56-358576772C70}"/>
              </a:ext>
            </a:extLst>
          </p:cNvPr>
          <p:cNvSpPr/>
          <p:nvPr/>
        </p:nvSpPr>
        <p:spPr>
          <a:xfrm rot="10800000">
            <a:off x="4033003" y="3943723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2656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TC‑001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목적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정상 계정 로그인 가능 여부 확인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절차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password123</a:t>
            </a:r>
            <a:r>
              <a:rPr lang="ko-KR" altLang="ko-KR" dirty="0"/>
              <a:t>입력 → 로그인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기대 결과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상품 목록 페이지(Products) 로딩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CF45290-2357-07ED-8E46-2AEB56CD7101}"/>
              </a:ext>
            </a:extLst>
          </p:cNvPr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그림 4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6A3F4C-06CA-05EB-3A96-23EDB2D03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68" y="848451"/>
            <a:ext cx="4593060" cy="45930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3268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TC‑002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Failure (Invalid)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F03692C-036B-BC29-89CC-C5615073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49" y="1005840"/>
            <a:ext cx="7193611" cy="4074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F63EF2-82D8-D528-33D1-4D76DD2999E3}"/>
              </a:ext>
            </a:extLst>
          </p:cNvPr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목적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잘못된 계정 정보 입력 시 오류 표시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절차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잘못된 ID/비밀번호 입력 → 로그인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기대 결과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“사용자명이 일치하지 않습니다” 오류 배너 출력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839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Add/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삭제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Badge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8549" y="727824"/>
            <a:ext cx="8346902" cy="4850939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그림 7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2F2C25-4564-3C4A-2197-9A118A1DB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91"/>
          <a:stretch/>
        </p:blipFill>
        <p:spPr>
          <a:xfrm>
            <a:off x="2774791" y="3736110"/>
            <a:ext cx="3256556" cy="1754104"/>
          </a:xfrm>
          <a:prstGeom prst="rect">
            <a:avLst/>
          </a:prstGeom>
        </p:spPr>
      </p:pic>
      <p:pic>
        <p:nvPicPr>
          <p:cNvPr id="5" name="그림 4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DDFCF3-75F8-4115-49B6-43A7ED44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50" b="12091"/>
          <a:stretch/>
        </p:blipFill>
        <p:spPr>
          <a:xfrm>
            <a:off x="1213341" y="869605"/>
            <a:ext cx="6717317" cy="2252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CE0F79-B8DD-2713-5232-E78E2E5E2FD3}"/>
              </a:ext>
            </a:extLst>
          </p:cNvPr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</a:rPr>
              <a:t>목적 </a:t>
            </a:r>
            <a:r>
              <a:rPr lang="en-US" altLang="ko-KR" b="1" dirty="0">
                <a:latin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</a:rPr>
              <a:t>장바구니 페이지에서 항목 제거 기능 검증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</a:rPr>
              <a:t>절차 </a:t>
            </a:r>
            <a:r>
              <a:rPr lang="en-US" altLang="ko-KR" b="1" dirty="0">
                <a:latin typeface="Arial" panose="020B0604020202020204" pitchFamily="34" charset="0"/>
              </a:rPr>
              <a:t>: </a:t>
            </a:r>
            <a:r>
              <a:rPr lang="en-US" altLang="ko-KR" dirty="0">
                <a:latin typeface="Arial" panose="020B0604020202020204" pitchFamily="34" charset="0"/>
              </a:rPr>
              <a:t>Cart → </a:t>
            </a:r>
            <a:r>
              <a:rPr lang="ko-KR" altLang="en-US" dirty="0">
                <a:latin typeface="Arial" panose="020B0604020202020204" pitchFamily="34" charset="0"/>
              </a:rPr>
              <a:t>제거 클릭</a:t>
            </a:r>
            <a:endParaRPr lang="ko-KR" altLang="ko-KR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기대 결과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항목 제거 및 갱신된 카트 상태 표시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9581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7. Test Results &amp;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0771" y="1189644"/>
            <a:ext cx="7906327" cy="355784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696296"/>
              </p:ext>
            </p:extLst>
          </p:nvPr>
        </p:nvGraphicFramePr>
        <p:xfrm>
          <a:off x="560007" y="1738284"/>
          <a:ext cx="3162531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07623"/>
              </p:ext>
            </p:extLst>
          </p:nvPr>
        </p:nvGraphicFramePr>
        <p:xfrm>
          <a:off x="3638551" y="1738284"/>
          <a:ext cx="4537478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165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8. 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E2E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(End-to-End Test)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9542" y="1280160"/>
            <a:ext cx="7940502" cy="4139738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4022" y="1555404"/>
            <a:ext cx="7808160" cy="378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구성 요소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Python 3.14 matrix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Chrome + </a:t>
            </a:r>
            <a:r>
              <a:rPr lang="en-US" altLang="ko-KR" dirty="0" err="1"/>
              <a:t>ChromeDriver</a:t>
            </a:r>
            <a:r>
              <a:rPr lang="en-US" altLang="ko-KR" dirty="0"/>
              <a:t> </a:t>
            </a:r>
            <a:r>
              <a:rPr lang="ko-KR" altLang="en-US" dirty="0"/>
              <a:t>자동 설치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Headless </a:t>
            </a:r>
            <a:r>
              <a:rPr lang="ko-KR" altLang="en-US" dirty="0"/>
              <a:t>모드에서 </a:t>
            </a:r>
            <a:r>
              <a:rPr lang="en-US" altLang="ko-KR" dirty="0" err="1"/>
              <a:t>pytest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HTML </a:t>
            </a:r>
            <a:r>
              <a:rPr lang="ko-KR" altLang="en-US" dirty="0"/>
              <a:t>리포트 </a:t>
            </a:r>
            <a:r>
              <a:rPr lang="en-US" altLang="ko-KR" dirty="0"/>
              <a:t>+ </a:t>
            </a:r>
            <a:r>
              <a:rPr lang="ko-KR" altLang="en-US" dirty="0"/>
              <a:t>스크린샷 </a:t>
            </a:r>
            <a:r>
              <a:rPr lang="ko-KR" altLang="en-US" dirty="0" err="1"/>
              <a:t>아티팩트</a:t>
            </a:r>
            <a:r>
              <a:rPr lang="ko-KR" altLang="en-US" dirty="0"/>
              <a:t>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트리거 조건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Pull Request : </a:t>
            </a:r>
            <a:r>
              <a:rPr lang="ko-KR" altLang="en-US" dirty="0"/>
              <a:t> </a:t>
            </a:r>
            <a:r>
              <a:rPr lang="ko-KR" altLang="en-US" dirty="0" err="1"/>
              <a:t>스모크</a:t>
            </a:r>
            <a:r>
              <a:rPr lang="ko-KR" altLang="en-US" dirty="0"/>
              <a:t> 테스트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main </a:t>
            </a:r>
            <a:r>
              <a:rPr lang="ko-KR" altLang="en-US" b="1" dirty="0" err="1"/>
              <a:t>브랜치</a:t>
            </a:r>
            <a:r>
              <a:rPr lang="ko-KR" altLang="en-US" b="1" dirty="0"/>
              <a:t> </a:t>
            </a:r>
            <a:r>
              <a:rPr lang="en-US" altLang="ko-KR" b="1" dirty="0"/>
              <a:t>push : </a:t>
            </a:r>
            <a:r>
              <a:rPr lang="ko-KR" altLang="en-US" dirty="0"/>
              <a:t> 전체 회귀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557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9. Issues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665F39-9BC3-30AF-507E-DF2A327A8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08040"/>
              </p:ext>
            </p:extLst>
          </p:nvPr>
        </p:nvGraphicFramePr>
        <p:xfrm>
          <a:off x="815925" y="1441121"/>
          <a:ext cx="7512147" cy="3556061"/>
        </p:xfrm>
        <a:graphic>
          <a:graphicData uri="http://schemas.openxmlformats.org/drawingml/2006/table">
            <a:tbl>
              <a:tblPr/>
              <a:tblGrid>
                <a:gridCol w="2504049">
                  <a:extLst>
                    <a:ext uri="{9D8B030D-6E8A-4147-A177-3AD203B41FA5}">
                      <a16:colId xmlns:a16="http://schemas.microsoft.com/office/drawing/2014/main" val="1451833938"/>
                    </a:ext>
                  </a:extLst>
                </a:gridCol>
                <a:gridCol w="2504049">
                  <a:extLst>
                    <a:ext uri="{9D8B030D-6E8A-4147-A177-3AD203B41FA5}">
                      <a16:colId xmlns:a16="http://schemas.microsoft.com/office/drawing/2014/main" val="3192138511"/>
                    </a:ext>
                  </a:extLst>
                </a:gridCol>
                <a:gridCol w="2504049">
                  <a:extLst>
                    <a:ext uri="{9D8B030D-6E8A-4147-A177-3AD203B41FA5}">
                      <a16:colId xmlns:a16="http://schemas.microsoft.com/office/drawing/2014/main" val="420442795"/>
                    </a:ext>
                  </a:extLst>
                </a:gridCol>
              </a:tblGrid>
              <a:tr h="45182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문제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원인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해결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699891"/>
                  </a:ext>
                </a:extLst>
              </a:tr>
              <a:tr h="65983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단계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로직이 없거나 실패하여 카트 기능 사용 불가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명확한 로그인 로직을 추가하고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Logout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버튼 확인으로 로그인 성공을 보장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159764"/>
                  </a:ext>
                </a:extLst>
              </a:tr>
              <a:tr h="83609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장바구니 추가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제거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**Selenium add_button.click()**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사용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의존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**browser.execute_script()**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 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JavaScript fetch API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직접 호출하여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cart/toggle/1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엔드포인트에 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POST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요청 전송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214179"/>
                  </a:ext>
                </a:extLst>
              </a:tr>
              <a:tr h="65983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개선 효과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실패 및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불안정성으로 인한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TimeoutException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빈번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상호작용을 우회하여 백엔드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호출을 직접 테스트함으로써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E2E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테스트의 안정성을 극대화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977384"/>
                  </a:ext>
                </a:extLst>
              </a:tr>
              <a:tr h="83609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검증 방식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Cart (1)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텍스트가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XPATH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명확히 포함된 링크를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wait.until()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 대기하도록 수정하여 검증의 정확성을 높임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4015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557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9. Issues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4223D-9275-DB03-65DB-86C1D9BF7F39}"/>
              </a:ext>
            </a:extLst>
          </p:cNvPr>
          <p:cNvSpPr txBox="1"/>
          <p:nvPr/>
        </p:nvSpPr>
        <p:spPr>
          <a:xfrm>
            <a:off x="762355" y="1385500"/>
            <a:ext cx="705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Arial Unicode MS"/>
              </a:rPr>
              <a:t>Test_index.py</a:t>
            </a:r>
            <a:r>
              <a:rPr lang="ko-KR" altLang="en-US" sz="1200" dirty="0">
                <a:latin typeface="Arial Unicode MS"/>
              </a:rPr>
              <a:t>에서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get_product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함수를 찾을 수 없는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NameError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가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발생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ko-KR" sz="1200" dirty="0"/>
              <a:t>App.py </a:t>
            </a:r>
            <a:r>
              <a:rPr lang="ko-KR" altLang="en-US" sz="1200" dirty="0"/>
              <a:t>전체</a:t>
            </a:r>
            <a:r>
              <a:rPr lang="en-US" altLang="ko-KR" sz="1200" dirty="0"/>
              <a:t> </a:t>
            </a:r>
            <a:r>
              <a:rPr lang="ko-KR" altLang="en-US" sz="1200" dirty="0"/>
              <a:t>코드와 함께</a:t>
            </a:r>
            <a:r>
              <a:rPr lang="en-US" altLang="ko-KR" sz="1200" dirty="0"/>
              <a:t>, </a:t>
            </a:r>
            <a:r>
              <a:rPr lang="ko-KR" altLang="en-US" sz="1200" dirty="0"/>
              <a:t>테스트 파일 상단에 </a:t>
            </a:r>
            <a:r>
              <a:rPr lang="ko-KR" altLang="en-US" sz="1200" dirty="0">
                <a:latin typeface="Arial" panose="020B0604020202020204" pitchFamily="34" charset="0"/>
              </a:rPr>
              <a:t>필요한 함수들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USERS,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get_product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등)을 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명시적으로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Import하여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모든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NameError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문제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해결</a:t>
            </a:r>
            <a:endParaRPr lang="ko-KR" altLang="en-US" sz="1200" dirty="0"/>
          </a:p>
        </p:txBody>
      </p:sp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D9182618-5F91-EF7D-B571-FCECA790A6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7088405"/>
              </p:ext>
            </p:extLst>
          </p:nvPr>
        </p:nvGraphicFramePr>
        <p:xfrm>
          <a:off x="640080" y="1839129"/>
          <a:ext cx="7870874" cy="3126766"/>
        </p:xfrm>
        <a:graphic>
          <a:graphicData uri="http://schemas.openxmlformats.org/drawingml/2006/table">
            <a:tbl>
              <a:tblPr/>
              <a:tblGrid>
                <a:gridCol w="1715878">
                  <a:extLst>
                    <a:ext uri="{9D8B030D-6E8A-4147-A177-3AD203B41FA5}">
                      <a16:colId xmlns:a16="http://schemas.microsoft.com/office/drawing/2014/main" val="1430633378"/>
                    </a:ext>
                  </a:extLst>
                </a:gridCol>
                <a:gridCol w="3510846">
                  <a:extLst>
                    <a:ext uri="{9D8B030D-6E8A-4147-A177-3AD203B41FA5}">
                      <a16:colId xmlns:a16="http://schemas.microsoft.com/office/drawing/2014/main" val="2834473205"/>
                    </a:ext>
                  </a:extLst>
                </a:gridCol>
                <a:gridCol w="2644150">
                  <a:extLst>
                    <a:ext uri="{9D8B030D-6E8A-4147-A177-3AD203B41FA5}">
                      <a16:colId xmlns:a16="http://schemas.microsoft.com/office/drawing/2014/main" val="1336564105"/>
                    </a:ext>
                  </a:extLst>
                </a:gridCol>
              </a:tblGrid>
              <a:tr h="925267"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파일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역할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문제점 해결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59332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test_base.py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레이아웃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네비게이션 링크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상태에 따른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플래시 메시지 렌더링 등 공통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UI/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레이아웃 검증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Flask-client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활용한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UI/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인증 상태 테스트가 체계적으로 정리됨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735580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test_login.py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회원가입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로그아웃의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Flask-client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통한 단위 테스트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리디렉션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세션 변경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오류 메시지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인증 로직의 백엔드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/API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레벨 안정성을 완벽하게 검증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511730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test_product.py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상품 상세 페이지 접근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카트 </a:t>
                      </a:r>
                      <a:r>
                        <a:rPr lang="ko-KR" altLang="en-US" sz="1200" b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토글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의 인증 게이트웨이 역할 및 세션 조작 테스트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test_index.py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혼재되어 있던 상품 상세 및 카트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테스트를 분리하여 명확화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46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216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dirty="0"/>
              <a:t>전 기능을 포함한 </a:t>
            </a:r>
            <a:r>
              <a:rPr lang="ko-KR" altLang="en-US" b="1" dirty="0"/>
              <a:t>완성형 </a:t>
            </a:r>
            <a:r>
              <a:rPr lang="en-US" altLang="ko-KR" b="1" dirty="0"/>
              <a:t>E2E </a:t>
            </a:r>
            <a:r>
              <a:rPr lang="ko-KR" altLang="en-US" b="1" dirty="0"/>
              <a:t>자동화</a:t>
            </a:r>
            <a:r>
              <a:rPr lang="ko-KR" altLang="en-US" dirty="0"/>
              <a:t> 구축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테스트 커버리지 시각화 및 문서화 완료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향후 개선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Allure </a:t>
            </a:r>
            <a:r>
              <a:rPr lang="ko-KR" altLang="en-US" dirty="0"/>
              <a:t>기반 리포트 적용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크로스 브라우저 테스트</a:t>
            </a:r>
            <a:r>
              <a:rPr lang="en-US" altLang="ko-KR" dirty="0"/>
              <a:t>(Edge, Firefox)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Nightly </a:t>
            </a:r>
            <a:r>
              <a:rPr lang="ko-KR" altLang="en-US" dirty="0"/>
              <a:t>전체 회귀 스케줄링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4FB5A-F454-8820-EA21-FC29D096C02B}"/>
              </a:ext>
            </a:extLst>
          </p:cNvPr>
          <p:cNvSpPr txBox="1"/>
          <p:nvPr/>
        </p:nvSpPr>
        <p:spPr>
          <a:xfrm>
            <a:off x="640080" y="1558460"/>
            <a:ext cx="768100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성과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catshop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전 기능을 포함한 </a:t>
            </a:r>
            <a:r>
              <a:rPr lang="ko-KR" altLang="en-US" b="1" dirty="0"/>
              <a:t>완성형 </a:t>
            </a:r>
            <a:r>
              <a:rPr lang="en-US" altLang="ko-KR" b="1" dirty="0"/>
              <a:t>E2E </a:t>
            </a:r>
            <a:r>
              <a:rPr lang="ko-KR" altLang="en-US" b="1" dirty="0"/>
              <a:t>자동화</a:t>
            </a:r>
            <a:r>
              <a:rPr lang="ko-KR" altLang="en-US" dirty="0"/>
              <a:t> 구축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테스트 커버리지 시각화 및 문서화 완료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향후 개선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Allure </a:t>
            </a:r>
            <a:r>
              <a:rPr lang="ko-KR" altLang="en-US" dirty="0"/>
              <a:t>기반 리포트 적용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크로스 브라우저 테스트</a:t>
            </a:r>
            <a:r>
              <a:rPr lang="en-US" altLang="ko-KR" dirty="0"/>
              <a:t>(Edge, Firefox)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Nightly </a:t>
            </a:r>
            <a:r>
              <a:rPr lang="ko-KR" altLang="en-US" dirty="0"/>
              <a:t>전체 회귀 스케줄링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3D829-D492-7C3A-CAF2-E66F659769E2}"/>
              </a:ext>
            </a:extLst>
          </p:cNvPr>
          <p:cNvSpPr txBox="1"/>
          <p:nvPr/>
        </p:nvSpPr>
        <p:spPr>
          <a:xfrm>
            <a:off x="640080" y="274320"/>
            <a:ext cx="46185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10.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결론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향후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계획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1703495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994</Words>
  <Application>Microsoft Office PowerPoint</Application>
  <PresentationFormat>화면 슬라이드 쇼(4:3)</PresentationFormat>
  <Paragraphs>170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Arial Unicode MS</vt:lpstr>
      <vt:lpstr>Google Sans Text</vt:lpstr>
      <vt:lpstr>HY견고딕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JY</dc:creator>
  <cp:keywords/>
  <dc:description>generated using python-pptx</dc:description>
  <cp:lastModifiedBy>Administrator</cp:lastModifiedBy>
  <cp:revision>57</cp:revision>
  <dcterms:created xsi:type="dcterms:W3CDTF">2013-01-27T09:14:16Z</dcterms:created>
  <dcterms:modified xsi:type="dcterms:W3CDTF">2025-12-02T00:32:55Z</dcterms:modified>
  <cp:category/>
</cp:coreProperties>
</file>